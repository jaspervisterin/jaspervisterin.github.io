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73" r:id="rId3"/>
    <p:sldId id="258" r:id="rId4"/>
    <p:sldId id="271" r:id="rId5"/>
    <p:sldId id="264" r:id="rId6"/>
    <p:sldId id="265" r:id="rId7"/>
    <p:sldId id="266" r:id="rId8"/>
    <p:sldId id="267" r:id="rId9"/>
    <p:sldId id="268" r:id="rId10"/>
    <p:sldId id="272" r:id="rId11"/>
    <p:sldId id="275" r:id="rId12"/>
    <p:sldId id="274" r:id="rId13"/>
    <p:sldId id="260" r:id="rId14"/>
    <p:sldId id="263" r:id="rId15"/>
    <p:sldId id="277" r:id="rId16"/>
    <p:sldId id="262" r:id="rId17"/>
    <p:sldId id="270" r:id="rId18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ECC7C-3906-43D9-8D07-8F9A7093C7ED}" type="datetimeFigureOut">
              <a:rPr lang="nl-BE" smtClean="0"/>
              <a:t>25/10/2026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57CF50-24C0-49AA-A4E4-B5A225279A2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1248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23A2B-3A7C-4F06-8B68-513F80AFACE2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32286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D474DD-9203-1CB3-BC2D-EBDC94739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179B496-DD2C-0D11-AF60-E48045F5C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A10C0B8-9AD1-1035-3207-A1822C4F2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B2CBA-0A89-46AB-8E21-49F1F68AC90A}" type="datetime1">
              <a:rPr lang="nl-BE" smtClean="0"/>
              <a:t>25/10/2026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F11A889-BDD1-0730-2DFA-7ED757894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D3E3DAC-E071-3E74-D65C-B56237B04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086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1019AD-0725-311E-520F-221BAB598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AEAA245-3340-4F49-3848-D4DBE10F5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73D96FD-FBA2-8B41-288A-9BE866C9B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E8FA-0F38-435F-8072-054E0F6762D2}" type="datetime1">
              <a:rPr lang="nl-BE" smtClean="0"/>
              <a:t>25/10/2026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D755B58-6801-DBEB-BBAB-2A400F5CF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7C303E7-AE4F-74E2-41E7-43A4B8D87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28490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8FF6AC-3F6F-70B1-F877-7AFF54019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F227582-B033-D431-1992-C6A5C12E2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2CFA2BC-93A5-28A9-ABCD-D16BD0D78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360EB-836A-4199-B8E7-74AEA3FE6C23}" type="datetime1">
              <a:rPr lang="nl-BE" smtClean="0"/>
              <a:t>25/10/2026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9C4D8FC-27E0-977D-9D85-625D0926B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3656A47-32F0-5955-CC78-7B5FE2ADB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90100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A06D6F-2813-4090-8DA0-6B3EB57F9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4B10288-0786-AFDA-8CDD-297EE7D8B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7E03B1A-A38A-DBE9-EE34-F92FB6583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968078D-45E4-C97F-6C0E-7D5DFC843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4919-6F95-4D9C-99E4-A3C3B00DCBBD}" type="datetime1">
              <a:rPr lang="nl-BE" smtClean="0"/>
              <a:t>25/10/2026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B5D78D9-D036-0C8D-E8FD-BCCEC2AAA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107B15C-CC4E-3390-8EB1-184C0805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223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702582-69AB-4175-9FB1-1B0F52E9C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6F17039-5E6A-C753-87C1-54EB84F68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53D087D-2E86-EA58-9F35-ACCBDC13A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EB4E9CB-7B26-AD38-27B8-F9CD7D973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7D4A364-1C1A-AE70-160F-AD04CCA638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E08DE2E3-E5AC-C9EC-AEF3-398649356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86667-86B1-4236-8E9A-FC3993B0DF42}" type="datetime1">
              <a:rPr lang="nl-BE" smtClean="0"/>
              <a:t>25/10/2026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D608ECD-B51C-0D2A-F793-2A409F040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BD616DD-1218-BC58-8180-CB229AE42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71323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3A30BD-E9A0-C4AA-2883-071DCF80F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1DDAF68-820A-839B-6A84-EFDB00109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9D50-BFE0-4DDF-8319-283299E05F04}" type="datetime1">
              <a:rPr lang="nl-BE" smtClean="0"/>
              <a:t>25/10/2026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820A37C-3009-D39C-40B0-27D184E7B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BF289D7-40C7-A6C2-23A4-9BA0EAC2A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3249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268B481B-A39E-C599-A6F2-5E0C17F98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5C4AF-A17E-421D-AAE5-F0383A5593C3}" type="datetime1">
              <a:rPr lang="nl-BE" smtClean="0"/>
              <a:t>25/10/2026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C406F44-AE76-086D-C7DF-7BD4ED875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5A47B77-32B4-3798-6C6A-F793E7F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97061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07F20C-DBFB-E0C2-F7A0-0A5C1E422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B403944-2B0F-67E6-423F-16D4C7EC5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F7C477-7A77-5538-2F4A-A8ED1AA59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5452A1E-BC28-38FD-6B60-2E740F805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C14C-0E42-4EC9-A243-7B2933855A92}" type="datetime1">
              <a:rPr lang="nl-BE" smtClean="0"/>
              <a:t>25/10/2026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008DC15-BB7D-FA1B-C16E-96526DE96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EE086BE-5146-85EE-A775-2F16C627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21526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F1B5DC-9173-1115-24B1-5CF6BA47A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8B64178E-B8A1-4538-1DA6-5999D3F607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6149D5E-353D-3157-7682-224419DB9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9F94DF8-DDFE-6C6A-CFFC-2E6C6282A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704F3-FF9C-450D-A8D4-98ACC51CC608}" type="datetime1">
              <a:rPr lang="nl-BE" smtClean="0"/>
              <a:t>25/10/2026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EF1AEB7-237C-8231-154C-7EF2815B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DC354F6-2682-E323-7C0C-D6357B5E9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22131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6C2C44-9C06-1C7C-18C1-4DE82E5F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8BDED12-AD52-3E7C-5BD9-705C5208A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DAA6BFA-4042-E952-B581-D833E2C69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7E443-2F51-4DB6-A064-8E76524D7483}" type="datetime1">
              <a:rPr lang="nl-BE" smtClean="0"/>
              <a:t>25/10/2026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D0C39F3-037E-F9C8-8024-AF4E4F821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4881B61-2035-D979-F194-78C7BB5E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20336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3A336EF4-B7F4-F209-A7C4-C7D52817DD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AD7CEBA-9FA2-944A-580E-AE452ADC3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C724CC1-0E04-431E-349B-4C700E628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F86B-6E37-4C5D-BAAE-66B56A498905}" type="datetime1">
              <a:rPr lang="nl-BE" smtClean="0"/>
              <a:t>25/10/2026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0F28E00-7243-26CD-76A5-6CA09BF2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4DD0E3-71AB-E498-A47B-5A8E9DB5C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52149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6514D747-3C7D-9C13-98B4-996BFD476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678141D-15E1-6B0B-9581-11791BD46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4AC7AFD-CA9B-A866-A24A-294ECDB58E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597BE-36B0-459D-A286-AD550D19BBF9}" type="datetime1">
              <a:rPr lang="nl-BE" smtClean="0"/>
              <a:t>25/10/2026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E32792D-35F3-F95F-2AE1-6F2DA5D592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nl-BE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09F45DD-97F5-0FB6-6419-19FD0CD9E2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30727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6EDDA-160F-ACC8-BAA8-BE329F21F3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Analyse I, </a:t>
            </a:r>
            <a:r>
              <a:rPr lang="en-GB" dirty="0" err="1"/>
              <a:t>Oefenzitting</a:t>
            </a:r>
            <a:r>
              <a:rPr lang="en-GB" dirty="0"/>
              <a:t> 4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AC92F39-0B86-45D7-CF47-7DB5F5D0CB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Jasper.Visterin@kuleuven.be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46A5CB5-E28C-DC78-0EA1-9CD1984C7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2146910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1DF1DB-E6E1-0482-CFAD-7C4E90CD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Slides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17E221D-D3DA-1A4A-5423-7774D9E0F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jaspervisterin.github.io/teaching/analysis-2026</a:t>
            </a:r>
          </a:p>
          <a:p>
            <a:r>
              <a:rPr lang="nl-BE" dirty="0"/>
              <a:t>Jasper Visterin </a:t>
            </a:r>
            <a:r>
              <a:rPr lang="nl-BE" dirty="0">
                <a:sym typeface="Wingdings" panose="05000000000000000000" pitchFamily="2" charset="2"/>
              </a:rPr>
              <a:t> teaching </a:t>
            </a:r>
            <a:r>
              <a:rPr lang="nl-BE">
                <a:sym typeface="Wingdings" panose="05000000000000000000" pitchFamily="2" charset="2"/>
              </a:rPr>
              <a:t> analysis 2026</a:t>
            </a:r>
            <a:endParaRPr lang="nl-BE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0768966-CB01-59D3-CBF8-AFA31D7D6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1779395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27FA77-52F3-EF14-D4E9-80ABCE54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Afgeleide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B7775765-AD10-41BD-F2CC-D6E89BDCA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962" y="1690688"/>
            <a:ext cx="6089064" cy="4262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EE0A1734-79EA-5788-F8CB-27EC43AD4048}"/>
                  </a:ext>
                </a:extLst>
              </p:cNvPr>
              <p:cNvSpPr txBox="1"/>
              <p:nvPr/>
            </p:nvSpPr>
            <p:spPr>
              <a:xfrm>
                <a:off x="8876127" y="2811293"/>
                <a:ext cx="9378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nl-BE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BE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nl-BE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nl-BE" b="1" dirty="0"/>
              </a:p>
            </p:txBody>
          </p:sp>
        </mc:Choice>
        <mc:Fallback xmlns="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EE0A1734-79EA-5788-F8CB-27EC43AD4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6127" y="2811293"/>
                <a:ext cx="937821" cy="276999"/>
              </a:xfrm>
              <a:prstGeom prst="rect">
                <a:avLst/>
              </a:prstGeom>
              <a:blipFill>
                <a:blip r:embed="rId3"/>
                <a:stretch>
                  <a:fillRect l="-6494" t="-2174" b="-32609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Rechte verbindingslijn met pijl 5">
            <a:extLst>
              <a:ext uri="{FF2B5EF4-FFF2-40B4-BE49-F238E27FC236}">
                <a16:creationId xmlns:a16="http://schemas.microsoft.com/office/drawing/2014/main" id="{E3CEDD25-E85A-A3DF-879B-2A6683E2BEF5}"/>
              </a:ext>
            </a:extLst>
          </p:cNvPr>
          <p:cNvCxnSpPr>
            <a:cxnSpLocks/>
          </p:cNvCxnSpPr>
          <p:nvPr/>
        </p:nvCxnSpPr>
        <p:spPr>
          <a:xfrm flipV="1">
            <a:off x="2645923" y="1297021"/>
            <a:ext cx="0" cy="4647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1C5D5F47-8F89-5F28-4ABA-A11FFA0E23FB}"/>
              </a:ext>
            </a:extLst>
          </p:cNvPr>
          <p:cNvCxnSpPr>
            <a:cxnSpLocks/>
          </p:cNvCxnSpPr>
          <p:nvPr/>
        </p:nvCxnSpPr>
        <p:spPr>
          <a:xfrm>
            <a:off x="2078476" y="4118545"/>
            <a:ext cx="73768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5CC190F6-2971-A44F-5D1F-CF2AAF44FDA2}"/>
              </a:ext>
            </a:extLst>
          </p:cNvPr>
          <p:cNvCxnSpPr>
            <a:cxnSpLocks/>
          </p:cNvCxnSpPr>
          <p:nvPr/>
        </p:nvCxnSpPr>
        <p:spPr>
          <a:xfrm>
            <a:off x="4714672" y="2898843"/>
            <a:ext cx="0" cy="121970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CB8E4F15-C2B7-0785-59EC-5C130D6A0496}"/>
                  </a:ext>
                </a:extLst>
              </p:cNvPr>
              <p:cNvSpPr txBox="1"/>
              <p:nvPr/>
            </p:nvSpPr>
            <p:spPr>
              <a:xfrm>
                <a:off x="4646579" y="4069402"/>
                <a:ext cx="1803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CB8E4F15-C2B7-0785-59EC-5C130D6A0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579" y="4069402"/>
                <a:ext cx="180370" cy="276999"/>
              </a:xfrm>
              <a:prstGeom prst="rect">
                <a:avLst/>
              </a:prstGeom>
              <a:blipFill>
                <a:blip r:embed="rId4"/>
                <a:stretch>
                  <a:fillRect l="-20000" r="-1666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kstvak 13">
                <a:extLst>
                  <a:ext uri="{FF2B5EF4-FFF2-40B4-BE49-F238E27FC236}">
                    <a16:creationId xmlns:a16="http://schemas.microsoft.com/office/drawing/2014/main" id="{CCC525B6-DBEC-A9ED-E003-8D110BC05092}"/>
                  </a:ext>
                </a:extLst>
              </p:cNvPr>
              <p:cNvSpPr txBox="1"/>
              <p:nvPr/>
            </p:nvSpPr>
            <p:spPr>
              <a:xfrm>
                <a:off x="9285249" y="4118545"/>
                <a:ext cx="1769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14" name="Tekstvak 13">
                <a:extLst>
                  <a:ext uri="{FF2B5EF4-FFF2-40B4-BE49-F238E27FC236}">
                    <a16:creationId xmlns:a16="http://schemas.microsoft.com/office/drawing/2014/main" id="{CCC525B6-DBEC-A9ED-E003-8D110BC05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249" y="4118545"/>
                <a:ext cx="176907" cy="276999"/>
              </a:xfrm>
              <a:prstGeom prst="rect">
                <a:avLst/>
              </a:prstGeom>
              <a:blipFill>
                <a:blip r:embed="rId5"/>
                <a:stretch>
                  <a:fillRect l="-20690" r="-1724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kstvak 14">
                <a:extLst>
                  <a:ext uri="{FF2B5EF4-FFF2-40B4-BE49-F238E27FC236}">
                    <a16:creationId xmlns:a16="http://schemas.microsoft.com/office/drawing/2014/main" id="{1D438FB4-BBBF-43D1-8A3B-13F0F2DE7D65}"/>
                  </a:ext>
                </a:extLst>
              </p:cNvPr>
              <p:cNvSpPr txBox="1"/>
              <p:nvPr/>
            </p:nvSpPr>
            <p:spPr>
              <a:xfrm>
                <a:off x="2267978" y="1297021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15" name="Tekstvak 14">
                <a:extLst>
                  <a:ext uri="{FF2B5EF4-FFF2-40B4-BE49-F238E27FC236}">
                    <a16:creationId xmlns:a16="http://schemas.microsoft.com/office/drawing/2014/main" id="{1D438FB4-BBBF-43D1-8A3B-13F0F2DE7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978" y="1297021"/>
                <a:ext cx="180306" cy="276999"/>
              </a:xfrm>
              <a:prstGeom prst="rect">
                <a:avLst/>
              </a:prstGeom>
              <a:blipFill>
                <a:blip r:embed="rId6"/>
                <a:stretch>
                  <a:fillRect l="-33333" r="-30000" b="-2666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kstvak 15">
                <a:extLst>
                  <a:ext uri="{FF2B5EF4-FFF2-40B4-BE49-F238E27FC236}">
                    <a16:creationId xmlns:a16="http://schemas.microsoft.com/office/drawing/2014/main" id="{7B510752-5513-BB90-C378-D20517529857}"/>
                  </a:ext>
                </a:extLst>
              </p:cNvPr>
              <p:cNvSpPr txBox="1"/>
              <p:nvPr/>
            </p:nvSpPr>
            <p:spPr>
              <a:xfrm>
                <a:off x="4854185" y="2285572"/>
                <a:ext cx="24836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nl-BE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BE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d>
                        <m:dPr>
                          <m:ctrlP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nl-BE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BE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</m:oMath>
                  </m:oMathPara>
                </a14:m>
                <a:endParaRPr lang="nl-BE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kstvak 15">
                <a:extLst>
                  <a:ext uri="{FF2B5EF4-FFF2-40B4-BE49-F238E27FC236}">
                    <a16:creationId xmlns:a16="http://schemas.microsoft.com/office/drawing/2014/main" id="{7B510752-5513-BB90-C378-D20517529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185" y="2285572"/>
                <a:ext cx="2483629" cy="276999"/>
              </a:xfrm>
              <a:prstGeom prst="rect">
                <a:avLst/>
              </a:prstGeom>
              <a:blipFill>
                <a:blip r:embed="rId7"/>
                <a:stretch>
                  <a:fillRect l="-2451" t="-2222" b="-35556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Rechte verbindingslijn 17">
            <a:extLst>
              <a:ext uri="{FF2B5EF4-FFF2-40B4-BE49-F238E27FC236}">
                <a16:creationId xmlns:a16="http://schemas.microsoft.com/office/drawing/2014/main" id="{6C1901BC-801C-85AA-05C0-E58A5D99C724}"/>
              </a:ext>
            </a:extLst>
          </p:cNvPr>
          <p:cNvCxnSpPr/>
          <p:nvPr/>
        </p:nvCxnSpPr>
        <p:spPr>
          <a:xfrm>
            <a:off x="797446" y="2833062"/>
            <a:ext cx="5486400" cy="383269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kstvak 18">
                <a:extLst>
                  <a:ext uri="{FF2B5EF4-FFF2-40B4-BE49-F238E27FC236}">
                    <a16:creationId xmlns:a16="http://schemas.microsoft.com/office/drawing/2014/main" id="{89D7CFEB-0EAB-6B64-FC97-79250581575A}"/>
                  </a:ext>
                </a:extLst>
              </p:cNvPr>
              <p:cNvSpPr txBox="1"/>
              <p:nvPr/>
            </p:nvSpPr>
            <p:spPr>
              <a:xfrm>
                <a:off x="3007008" y="6002471"/>
                <a:ext cx="2321405" cy="449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nl-BE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BE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B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nl-B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nl-B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nl-BE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BE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𝒅𝒇</m:t>
                      </m:r>
                      <m:sSub>
                        <m:sSubPr>
                          <m:ctrlPr>
                            <a:rPr lang="nl-BE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nl-BE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nl-B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lang="nl-B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nl-BE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9" name="Tekstvak 18">
                <a:extLst>
                  <a:ext uri="{FF2B5EF4-FFF2-40B4-BE49-F238E27FC236}">
                    <a16:creationId xmlns:a16="http://schemas.microsoft.com/office/drawing/2014/main" id="{89D7CFEB-0EAB-6B64-FC97-792505815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008" y="6002471"/>
                <a:ext cx="2321405" cy="449931"/>
              </a:xfrm>
              <a:prstGeom prst="rect">
                <a:avLst/>
              </a:prstGeom>
              <a:blipFill>
                <a:blip r:embed="rId8"/>
                <a:stretch>
                  <a:fillRect l="-2100" t="-206849" r="-11024" b="-28904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0655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B16366-8769-B491-E25E-F0FE4A5B9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Rekenregels afgeleiden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CD57B3F-E6F9-4B1D-D313-8A1E9882A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P 178 HB</a:t>
            </a:r>
          </a:p>
          <a:p>
            <a:endParaRPr lang="nl-BE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1A32309F-2F40-8454-FD4A-05E4BE96E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C5BB453E-6E7B-5024-A0ED-6A4FFC86A4FC}"/>
                  </a:ext>
                </a:extLst>
              </p:cNvPr>
              <p:cNvSpPr txBox="1"/>
              <p:nvPr/>
            </p:nvSpPr>
            <p:spPr>
              <a:xfrm>
                <a:off x="3567788" y="2552570"/>
                <a:ext cx="5056423" cy="3114379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nl-BE" sz="2400" dirty="0"/>
                  <a:t>Afgeleide van een inverse functie: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nl-BE" sz="2400" dirty="0"/>
              </a:p>
              <a:p>
                <a:pPr/>
                <a:endParaRPr lang="nl-BE" sz="2400" dirty="0"/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p>
                                          <m: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nl-BE" sz="2400" dirty="0"/>
              </a:p>
              <a:p>
                <a:r>
                  <a:rPr lang="nl-BE" sz="2400" dirty="0"/>
                  <a:t> </a:t>
                </a:r>
              </a:p>
            </p:txBody>
          </p:sp>
        </mc:Choice>
        <mc:Fallback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C5BB453E-6E7B-5024-A0ED-6A4FFC86A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788" y="2552570"/>
                <a:ext cx="5056423" cy="3114379"/>
              </a:xfrm>
              <a:prstGeom prst="rect">
                <a:avLst/>
              </a:prstGeom>
              <a:blipFill>
                <a:blip r:embed="rId2"/>
                <a:stretch>
                  <a:fillRect l="-1681" t="-1362"/>
                </a:stretch>
              </a:blipFill>
              <a:ln/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625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4CD50B-7D97-D69C-AE2E-057A6B0F4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Limieten: Regel van </a:t>
            </a:r>
            <a:r>
              <a:rPr lang="nl-BE" dirty="0" err="1"/>
              <a:t>L’Hôpital</a:t>
            </a:r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1BD4B748-65A5-BF26-497B-D8A019F860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nl-BE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nl-BE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nl-BE" sz="3600" dirty="0"/>
                  <a:t> </a:t>
                </a:r>
                <a:r>
                  <a:rPr lang="nl-BE" dirty="0"/>
                  <a:t>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BE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sz="36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num>
                      <m:den>
                        <m:r>
                          <a:rPr lang="nl-BE" sz="36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den>
                    </m:f>
                  </m:oMath>
                </a14:m>
                <a:r>
                  <a:rPr lang="nl-BE" sz="3600" dirty="0"/>
                  <a:t> </a:t>
                </a:r>
                <a:r>
                  <a:rPr lang="nl-BE" dirty="0">
                    <a:sym typeface="Wingdings" panose="05000000000000000000" pitchFamily="2" charset="2"/>
                  </a:rPr>
                  <a:t> Regel van </a:t>
                </a:r>
                <a:r>
                  <a:rPr lang="nl-BE" dirty="0" err="1">
                    <a:sym typeface="Wingdings" panose="05000000000000000000" pitchFamily="2" charset="2"/>
                  </a:rPr>
                  <a:t>L’Hôpital</a:t>
                </a:r>
                <a:r>
                  <a:rPr lang="nl-BE" dirty="0"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nl-BE" dirty="0">
                    <a:sym typeface="Wingdings" panose="05000000000000000000" pitchFamily="2" charset="2"/>
                  </a:rPr>
                  <a:t>Andere gevallen omzetten hiernaar</a:t>
                </a:r>
              </a:p>
              <a:p>
                <a:endParaRPr lang="nl-BE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⋅</m:t>
                    </m:r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=0⋅∞ → 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num>
                      <m:den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𝑔</m:t>
                            </m:r>
                          </m:den>
                        </m:f>
                      </m:den>
                    </m:f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den>
                    </m:f>
                  </m:oMath>
                </a14:m>
                <a:r>
                  <a:rPr lang="nl-BE" dirty="0">
                    <a:sym typeface="Wingdings" panose="05000000000000000000" pitchFamily="2" charset="2"/>
                  </a:rPr>
                  <a:t> of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𝑔</m:t>
                        </m:r>
                      </m:num>
                      <m:den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𝑓</m:t>
                            </m:r>
                          </m:den>
                        </m:f>
                      </m:den>
                    </m:f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∞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∞</m:t>
                        </m:r>
                      </m:den>
                    </m:f>
                  </m:oMath>
                </a14:m>
                <a:r>
                  <a:rPr lang="nl-BE" dirty="0">
                    <a:sym typeface="Wingdings" panose="05000000000000000000" pitchFamily="2" charset="2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=∞−∞</m:t>
                    </m:r>
                  </m:oMath>
                </a14:m>
                <a:r>
                  <a:rPr lang="nl-BE" dirty="0">
                    <a:sym typeface="Wingdings" panose="05000000000000000000" pitchFamily="2" charset="2"/>
                  </a:rPr>
                  <a:t>  </a:t>
                </a:r>
                <a14:m>
                  <m:oMath xmlns:m="http://schemas.openxmlformats.org/officeDocument/2006/math">
                    <m:r>
                      <a:rPr lang="nl-BE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𝑓𝑔</m:t>
                    </m:r>
                    <m:d>
                      <m:dPr>
                        <m:ctrlPr>
                          <a:rPr lang="nl-BE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𝑔</m:t>
                            </m:r>
                          </m:den>
                        </m:f>
                        <m:r>
                          <a:rPr lang="nl-BE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f>
                          <m:fPr>
                            <m:ctrlP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𝑓</m:t>
                            </m:r>
                          </m:den>
                        </m:f>
                      </m:e>
                    </m:d>
                    <m:r>
                      <a:rPr lang="nl-BE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nl-BE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𝑔</m:t>
                            </m:r>
                          </m:den>
                        </m:f>
                        <m:r>
                          <a:rPr lang="nl-BE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− </m:t>
                        </m:r>
                        <m:f>
                          <m:fPr>
                            <m:ctrlP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𝑓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𝑓𝑔</m:t>
                            </m:r>
                          </m:den>
                        </m:f>
                      </m:den>
                    </m:f>
                  </m:oMath>
                </a14:m>
                <a:endParaRPr lang="nl-BE" dirty="0">
                  <a:sym typeface="Wingdings" panose="05000000000000000000" pitchFamily="2" charset="2"/>
                </a:endParaRPr>
              </a:p>
              <a:p>
                <a:endParaRPr lang="nl-BE" dirty="0">
                  <a:sym typeface="Wingdings" panose="05000000000000000000" pitchFamily="2" charset="2"/>
                </a:endParaRPr>
              </a:p>
              <a:p>
                <a:pPr lvl="1"/>
                <a:endParaRPr lang="nl-BE" dirty="0">
                  <a:sym typeface="Wingdings" panose="05000000000000000000" pitchFamily="2" charset="2"/>
                </a:endParaRPr>
              </a:p>
              <a:p>
                <a:pPr lvl="1"/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1BD4B748-65A5-BF26-497B-D8A019F860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EBC9F16-30E2-4C93-E3A9-66FA3BAAD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740157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A576E0-4B43-711C-4966-410AF056F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Limieten: Regel van </a:t>
            </a:r>
            <a:r>
              <a:rPr lang="nl-BE" dirty="0" err="1"/>
              <a:t>L’Hôpital</a:t>
            </a:r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E2B229F6-B2A6-C01B-7CBA-47F9449720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26531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𝑔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∞</m:t>
                        </m:r>
                      </m:sup>
                    </m:sSup>
                  </m:oMath>
                </a14:m>
                <a:r>
                  <a:rPr lang="nl-BE" dirty="0">
                    <a:sym typeface="Wingdings" panose="05000000000000000000" pitchFamily="2" charset="2"/>
                  </a:rPr>
                  <a:t> 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ln</m:t>
                            </m:r>
                          </m:fName>
                          <m:e>
                            <m:sSup>
                              <m:sSup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𝑔</m:t>
                                </m:r>
                              </m:sup>
                            </m:sSup>
                          </m:e>
                        </m:func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𝑔</m:t>
                        </m:r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ln</m:t>
                            </m:r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𝑓</m:t>
                            </m:r>
                          </m:e>
                        </m:func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nl-BE" b="0" i="0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𝑓</m:t>
                                </m:r>
                              </m:e>
                            </m:func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1/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𝑔</m:t>
                            </m:r>
                          </m:den>
                        </m:f>
                      </m:sup>
                    </m:sSup>
                  </m:oMath>
                </a14:m>
                <a:r>
                  <a:rPr lang="nl-BE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  <m:r>
                      <m:rPr>
                        <m:nor/>
                      </m:rPr>
                      <a:rPr lang="nl-BE" i="0" dirty="0" smtClean="0">
                        <a:sym typeface="Wingdings" panose="05000000000000000000" pitchFamily="2" charset="2"/>
                      </a:rPr>
                      <m:t> 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ln</m:t>
                            </m:r>
                          </m:fName>
                          <m:e>
                            <m:sSup>
                              <m:sSup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𝑔</m:t>
                                </m:r>
                              </m:sup>
                            </m:sSup>
                          </m:e>
                        </m:func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𝑔</m:t>
                        </m:r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ln</m:t>
                            </m:r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𝑓</m:t>
                            </m:r>
                          </m:e>
                        </m:func>
                      </m:sup>
                    </m:sSup>
                  </m:oMath>
                </a14:m>
                <a:endParaRPr lang="nl-BE" dirty="0"/>
              </a:p>
              <a:p>
                <a:endParaRPr lang="nl-BE" dirty="0"/>
              </a:p>
              <a:p>
                <a:r>
                  <a:rPr lang="nl-BE" b="0" dirty="0"/>
                  <a:t>Geval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nl-BE" dirty="0"/>
                  <a:t> in exponent</a:t>
                </a:r>
              </a:p>
              <a:p>
                <a:r>
                  <a:rPr lang="nl-BE" dirty="0"/>
                  <a:t>indien verdergaan met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func>
                      <m:funcPr>
                        <m:ctrlPr>
                          <a:rPr lang="nl-BE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ln</m:t>
                        </m:r>
                      </m:fName>
                      <m:e>
                        <m:r>
                          <a:rPr lang="nl-B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</m:func>
                  </m:oMath>
                </a14:m>
                <a:r>
                  <a:rPr lang="nl-BE" dirty="0">
                    <a:sym typeface="Wingdings" panose="05000000000000000000" pitchFamily="2" charset="2"/>
                  </a:rPr>
                  <a:t></a:t>
                </a:r>
                <a:r>
                  <a:rPr lang="nl-BE" dirty="0"/>
                  <a:t> TERUGZETTEN!</a:t>
                </a:r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E2B229F6-B2A6-C01B-7CBA-47F9449720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265310" cy="4351338"/>
              </a:xfrm>
              <a:blipFill>
                <a:blip r:embed="rId2"/>
                <a:stretch>
                  <a:fillRect l="-975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F61CC7C-D878-B04A-2016-A23D85E8D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418996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313FE9-3869-30CD-AE8F-7A671F2C4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Handige limieten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702CCDB-A9E9-4BE3-559B-B36B83462E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nl-BE" b="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nl-BE" b="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nl-BE" b="0" i="1">
                                <a:latin typeface="Cambria Math" panose="020405030504060302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nl-BE" b="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nl-BE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  <m:r>
                      <a:rPr lang="nl-BE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nl-BE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nl-BE" b="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nl-BE" b="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nl-BE" b="0" i="1">
                                <a:latin typeface="Cambria Math" panose="020405030504060302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nl-BE" b="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nl-BE" b="0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nl-BE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  <m:r>
                      <a:rPr lang="nl-BE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nl-BE" i="1" dirty="0">
                  <a:latin typeface="Cambria Math" panose="02040503050406030204" pitchFamily="18" charset="0"/>
                </a:endParaRPr>
              </a:p>
              <a:p>
                <a:endParaRPr lang="nl-BE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nl-BE" b="0" i="0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unc>
                      <m:funcPr>
                        <m:ctrlPr>
                          <a:rPr lang="nl-BE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nl-BE" b="0" i="1" smtClean="0">
                        <a:latin typeface="Cambria Math" panose="02040503050406030204" pitchFamily="18" charset="0"/>
                      </a:rPr>
                      <m:t>=+∞</m:t>
                    </m:r>
                  </m:oMath>
                </a14:m>
                <a:endParaRPr lang="nl-BE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nl-BE" b="0" i="0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lim>
                    </m:limLow>
                    <m:func>
                      <m:funcPr>
                        <m:ctrlPr>
                          <a:rPr lang="nl-BE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nl-BE" b="0" i="1" smtClean="0">
                        <a:latin typeface="Cambria Math" panose="02040503050406030204" pitchFamily="18" charset="0"/>
                      </a:rPr>
                      <m:t>=−∞</m:t>
                    </m:r>
                  </m:oMath>
                </a14:m>
                <a:endParaRPr lang="nl-BE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702CCDB-A9E9-4BE3-559B-B36B83462E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562F71E-2B76-37EF-5B13-0DB1ED67E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84C811C1-8972-738B-2066-B00BDDB2CE01}"/>
                  </a:ext>
                </a:extLst>
              </p:cNvPr>
              <p:cNvSpPr txBox="1"/>
              <p:nvPr/>
            </p:nvSpPr>
            <p:spPr>
              <a:xfrm>
                <a:off x="5324545" y="2883082"/>
                <a:ext cx="6097112" cy="948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nl-BE" sz="2800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sz="2800" b="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nl-BE" sz="2800" b="0" i="1">
                                  <a:latin typeface="Cambria Math" panose="02040503050406030204" pitchFamily="18" charset="0"/>
                                </a:rPr>
                                <m:t>𝑙𝑖𝑚</m:t>
                              </m:r>
                            </m:e>
                            <m:lim>
                              <m:r>
                                <a:rPr lang="nl-BE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sz="2800" b="0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nl-BE" sz="2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sz="28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2800" b="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f>
                                    <m:fPr>
                                      <m:ctrlPr>
                                        <a:rPr lang="nl-BE" sz="28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BE" sz="2800" b="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num>
                                    <m:den>
                                      <m:r>
                                        <a:rPr lang="nl-BE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nl-BE" sz="28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nl-BE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  <m:r>
                        <a:rPr lang="nl-BE" sz="2800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BE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nl-BE" sz="2800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sup>
                      </m:sSup>
                    </m:oMath>
                  </m:oMathPara>
                </a14:m>
                <a:endParaRPr lang="nl-BE" sz="2800" dirty="0"/>
              </a:p>
            </p:txBody>
          </p:sp>
        </mc:Choice>
        <mc:Fallback xmlns="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84C811C1-8972-738B-2066-B00BDDB2C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545" y="2883082"/>
                <a:ext cx="6097112" cy="948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266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433BB9-1B32-FA52-D074-019507BD2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Taylorveeltermen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0763C2D4-0263-65A8-F342-34E913DCE9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226618" cy="46672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! </m:t>
                          </m:r>
                        </m:den>
                      </m:f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nl-BE" dirty="0"/>
              </a:p>
              <a:p>
                <a:endParaRPr lang="nl-BE" b="0" i="1" dirty="0">
                  <a:latin typeface="Cambria Math" panose="02040503050406030204" pitchFamily="18" charset="0"/>
                </a:endParaRPr>
              </a:p>
              <a:p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𝑜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  <a:p>
                <a:pPr marL="0" indent="0">
                  <a:buNone/>
                </a:pPr>
                <a:r>
                  <a:rPr lang="nl-BE" dirty="0"/>
                  <a:t>Wat is dit voor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nl-BE" dirty="0"/>
                  <a:t>,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nl-BE" dirty="0"/>
                  <a:t>, … ?</a:t>
                </a:r>
              </a:p>
              <a:p>
                <a:pPr lvl="1"/>
                <a:endParaRPr lang="nl-BE" sz="2800" dirty="0"/>
              </a:p>
              <a:p>
                <a:pPr lvl="1"/>
                <a:endParaRPr lang="nl-BE" sz="2800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0763C2D4-0263-65A8-F342-34E913DCE9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226618" cy="4667250"/>
              </a:xfrm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AE0692E-7E93-C7B0-FCBD-12BAD78C8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399105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3AE6B9-EA42-E919-646E-5AB139B39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133"/>
            <a:ext cx="10515600" cy="861807"/>
          </a:xfrm>
        </p:spPr>
        <p:txBody>
          <a:bodyPr/>
          <a:lstStyle/>
          <a:p>
            <a:r>
              <a:rPr lang="nl-BE" dirty="0"/>
              <a:t>Voorbeeld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DDAD0AB0-6E09-674C-74E1-41190EAD34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80184"/>
                <a:ext cx="10515600" cy="519677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lang="nl-BE" b="0" i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nl-BE" b="0" i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3!</m:t>
                              </m:r>
                            </m:den>
                          </m:f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5!</m:t>
                              </m:r>
                            </m:den>
                          </m:f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7!</m:t>
                              </m:r>
                            </m:den>
                          </m:f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endParaRPr lang="nl-BE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nl-BE" b="0" i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nl-BE" b="0" i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DDAD0AB0-6E09-674C-74E1-41190EAD34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80184"/>
                <a:ext cx="10515600" cy="519677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EF07DEED-8DD7-77A8-D345-0FFEC5B25ADA}"/>
                  </a:ext>
                </a:extLst>
              </p:cNvPr>
              <p:cNvSpPr txBox="1"/>
              <p:nvPr/>
            </p:nvSpPr>
            <p:spPr>
              <a:xfrm>
                <a:off x="9124265" y="2756352"/>
                <a:ext cx="29339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BE" dirty="0"/>
                  <a:t>Taylor-veelterm rond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nl-BE" dirty="0"/>
              </a:p>
            </p:txBody>
          </p:sp>
        </mc:Choice>
        <mc:Fallback xmlns="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EF07DEED-8DD7-77A8-D345-0FFEC5B25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4265" y="2756352"/>
                <a:ext cx="2933974" cy="369332"/>
              </a:xfrm>
              <a:prstGeom prst="rect">
                <a:avLst/>
              </a:prstGeom>
              <a:blipFill>
                <a:blip r:embed="rId3"/>
                <a:stretch>
                  <a:fillRect l="-1871" t="-6557" b="-26230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63B13E0-BAA5-87D6-6955-81DABE40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262110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5E543-70C8-17A7-AD13-726A75158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Waarom?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C9DB50D-BD2E-C8DE-2167-26F08B171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473"/>
            <a:ext cx="10515600" cy="4628490"/>
          </a:xfrm>
        </p:spPr>
        <p:txBody>
          <a:bodyPr/>
          <a:lstStyle/>
          <a:p>
            <a:r>
              <a:rPr lang="nl-BE" dirty="0"/>
              <a:t>Handig om limieten mee uit te rekenen</a:t>
            </a:r>
          </a:p>
          <a:p>
            <a:r>
              <a:rPr lang="nl-BE" dirty="0"/>
              <a:t>Gebruik Taylorveeltermen ontwikkeld rond het punt waarin je de limiet wilt berekenen</a:t>
            </a:r>
          </a:p>
          <a:p>
            <a:r>
              <a:rPr lang="nl-BE" dirty="0"/>
              <a:t>Voeg genoeg termen toe voor limieten!</a:t>
            </a:r>
          </a:p>
          <a:p>
            <a:endParaRPr lang="nl-BE" dirty="0"/>
          </a:p>
          <a:p>
            <a:endParaRPr lang="nl-BE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226F8B9-A549-E472-3C50-D5B65EAAE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3092716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6E3953-07B4-5489-731D-554F25856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2D01FDDE-43DB-4133-EFC4-D7CCC29DE5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9328" y="1441577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nl-BE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nl-BE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nl-BE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3!</m:t>
                              </m:r>
                            </m:den>
                          </m:f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5!</m:t>
                              </m:r>
                            </m:den>
                          </m:f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7!</m:t>
                              </m:r>
                            </m:den>
                          </m:f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𝑂</m:t>
                          </m:r>
                          <m:d>
                            <m:d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5!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7!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nl-BE" dirty="0"/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2D01FDDE-43DB-4133-EFC4-D7CCC29DE5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9328" y="1441577"/>
                <a:ext cx="10515600" cy="4351338"/>
              </a:xfrm>
              <a:blipFill>
                <a:blip r:embed="rId2"/>
                <a:stretch>
                  <a:fillRect t="-420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1EF6C5E-E3ED-E774-7741-D974EDB9A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CCA3CF41-C592-B013-2737-2B5D7AE82DF8}"/>
                  </a:ext>
                </a:extLst>
              </p:cNvPr>
              <p:cNvSpPr txBox="1"/>
              <p:nvPr/>
            </p:nvSpPr>
            <p:spPr>
              <a:xfrm>
                <a:off x="8904809" y="3247914"/>
                <a:ext cx="29339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BE" dirty="0"/>
                  <a:t>Taylor-veelterm rond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nl-BE" dirty="0"/>
              </a:p>
            </p:txBody>
          </p:sp>
        </mc:Choice>
        <mc:Fallback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CCA3CF41-C592-B013-2737-2B5D7AE82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4809" y="3247914"/>
                <a:ext cx="2933974" cy="369332"/>
              </a:xfrm>
              <a:prstGeom prst="rect">
                <a:avLst/>
              </a:prstGeom>
              <a:blipFill>
                <a:blip r:embed="rId3"/>
                <a:stretch>
                  <a:fillRect l="-1871" t="-8333" b="-2833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4914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C4E88C-7822-0BDF-498C-84ACA3B00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" y="-146939"/>
            <a:ext cx="10515600" cy="1325563"/>
          </a:xfrm>
        </p:spPr>
        <p:txBody>
          <a:bodyPr/>
          <a:lstStyle/>
          <a:p>
            <a:r>
              <a:rPr lang="nl-BE" dirty="0"/>
              <a:t>Waarom?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15743D3-72B7-A3A0-0BCE-ACB47C8B0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32064"/>
            <a:ext cx="10515600" cy="1024286"/>
          </a:xfrm>
        </p:spPr>
        <p:txBody>
          <a:bodyPr/>
          <a:lstStyle/>
          <a:p>
            <a:r>
              <a:rPr lang="nl-BE" dirty="0"/>
              <a:t>Nuttig om te gebruiken als benadering van functies</a:t>
            </a:r>
          </a:p>
          <a:p>
            <a:pPr lvl="1"/>
            <a:r>
              <a:rPr lang="nl-BE" sz="2800" dirty="0"/>
              <a:t>Eenvoudigere voorstelling van functie rond een punt </a:t>
            </a:r>
          </a:p>
          <a:p>
            <a:endParaRPr lang="nl-BE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9488348-5600-74F5-A8A4-F488F545D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pic>
        <p:nvPicPr>
          <p:cNvPr id="6" name="Recording 2026-10-25 110631">
            <a:hlinkClick r:id="" action="ppaction://media"/>
            <a:extLst>
              <a:ext uri="{FF2B5EF4-FFF2-40B4-BE49-F238E27FC236}">
                <a16:creationId xmlns:a16="http://schemas.microsoft.com/office/drawing/2014/main" id="{2EB5AC8D-876D-6D3A-CF63-2C5FF8FBBBE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52728" y="986589"/>
            <a:ext cx="8475980" cy="409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5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75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875B99-0593-EF81-2DE4-8892386AB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VERGEET DE KETTINGREGEL  NIET!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1A8A400-087E-CA75-DC1D-C96F44D97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523" y="1543455"/>
            <a:ext cx="4466986" cy="494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9861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8BE1CA-24E7-151D-B46C-746C469F2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Oefeningen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700793D-B2CB-4515-C229-9EB786D20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 dirty="0"/>
              <a:t>5.4(p)</a:t>
            </a:r>
          </a:p>
          <a:p>
            <a:r>
              <a:rPr lang="nl-BE" b="1" dirty="0"/>
              <a:t>5.31(g)</a:t>
            </a:r>
          </a:p>
          <a:p>
            <a:r>
              <a:rPr lang="nl-BE" dirty="0"/>
              <a:t>5.31 (k) </a:t>
            </a:r>
            <a:r>
              <a:rPr lang="nl-BE" dirty="0">
                <a:sym typeface="Wingdings" panose="05000000000000000000" pitchFamily="2" charset="2"/>
              </a:rPr>
              <a:t> met Taylorveeltermen</a:t>
            </a:r>
            <a:endParaRPr lang="nl-BE" dirty="0"/>
          </a:p>
          <a:p>
            <a:r>
              <a:rPr lang="nl-BE" dirty="0"/>
              <a:t>5.33 (b) </a:t>
            </a:r>
            <a:r>
              <a:rPr lang="nl-BE" dirty="0">
                <a:sym typeface="Wingdings" panose="05000000000000000000" pitchFamily="2" charset="2"/>
              </a:rPr>
              <a:t> met Taylorveeltermen</a:t>
            </a:r>
            <a:endParaRPr lang="nl-BE" dirty="0"/>
          </a:p>
          <a:p>
            <a:r>
              <a:rPr lang="nl-BE" dirty="0"/>
              <a:t>5.35 (m)</a:t>
            </a:r>
          </a:p>
          <a:p>
            <a:r>
              <a:rPr lang="nl-BE" dirty="0"/>
              <a:t>5.21</a:t>
            </a:r>
          </a:p>
          <a:p>
            <a:r>
              <a:rPr lang="nl-BE" dirty="0"/>
              <a:t>5.27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DB55CF0-CFF2-E3E2-85BF-816DBEF9D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4122A772-5165-6045-B69A-55CADA81C7C6}"/>
              </a:ext>
            </a:extLst>
          </p:cNvPr>
          <p:cNvSpPr txBox="1"/>
          <p:nvPr/>
        </p:nvSpPr>
        <p:spPr>
          <a:xfrm>
            <a:off x="7190610" y="4422637"/>
            <a:ext cx="45697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2800" dirty="0"/>
              <a:t>Kijk naar formularium voor Taylorreeksen!</a:t>
            </a:r>
          </a:p>
          <a:p>
            <a:endParaRPr lang="nl-BE" sz="2800" dirty="0"/>
          </a:p>
          <a:p>
            <a:r>
              <a:rPr lang="nl-BE" sz="2400" dirty="0"/>
              <a:t>Achteraan Oefeningenbundel</a:t>
            </a:r>
          </a:p>
        </p:txBody>
      </p:sp>
    </p:spTree>
    <p:extLst>
      <p:ext uri="{BB962C8B-B14F-4D97-AF65-F5344CB8AC3E}">
        <p14:creationId xmlns:p14="http://schemas.microsoft.com/office/powerpoint/2010/main" val="756868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40862F-5052-9C9F-DD60-F454B84F1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Taylorreeks-animatie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8666D36-DA66-8306-B60D-B433BB416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https://www.desmos.com/calculator/mblezqsblq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31B41AF-690E-CF68-967B-EE5E73CAE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1436455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92FBC8EB-35A0-2A78-19F2-AC47E40D4F3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nl-BE" dirty="0"/>
                  <a:t>Oefening 5.4(p): </a:t>
                </a:r>
                <a:r>
                  <a:rPr lang="nl-BE" sz="3200" dirty="0"/>
                  <a:t>afgeleide van </a:t>
                </a:r>
                <a14:m>
                  <m:oMath xmlns:m="http://schemas.openxmlformats.org/officeDocument/2006/math">
                    <m:r>
                      <a:rPr lang="nl-BE" sz="3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BE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BE" sz="3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nl-BE" sz="3200" b="0" i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sz="32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nl-BE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BE" sz="3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  <m:sup>
                        <m:func>
                          <m:funcPr>
                            <m:ctrlPr>
                              <a:rPr lang="nl-BE" sz="32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sz="32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sup>
                    </m:sSup>
                  </m:oMath>
                </a14:m>
                <a:endParaRPr lang="nl-BE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92FBC8EB-35A0-2A78-19F2-AC47E40D4F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4805B143-FF4E-AB40-D7A7-FD8C1E0754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0131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nl-BE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nl-BE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  <m:func>
                              <m:funcPr>
                                <m:ctrl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sup>
                    </m:sSup>
                  </m:oMath>
                </a14:m>
                <a:r>
                  <a:rPr lang="nl-BE" dirty="0"/>
                  <a:t> </a:t>
                </a:r>
                <a:endParaRPr lang="nl-BE" dirty="0">
                  <a:sym typeface="Wingdings" panose="05000000000000000000" pitchFamily="2" charset="2"/>
                </a:endParaRPr>
              </a:p>
              <a:p>
                <a:r>
                  <a:rPr lang="nl-BE" dirty="0">
                    <a:sym typeface="Wingdings" panose="05000000000000000000" pitchFamily="2" charset="2"/>
                  </a:rPr>
                  <a:t>Hier de afgeleide van nemen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nl-BE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nl-BE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  <m:func>
                              <m:funcPr>
                                <m:ctrl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sup>
                    </m:sSup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nl-BE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nl-BE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  <m:func>
                              <m:funcPr>
                                <m:ctrl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e>
                    </m:d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nl-BE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nl-BE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  <m:func>
                              <m:funcPr>
                                <m:ctrl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den>
                    </m:f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d>
                    <m:func>
                      <m:funcPr>
                        <m:ctrlPr>
                          <a:rPr lang="nl-BE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nl-BE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e>
                    </m:func>
                    <m:func>
                      <m:func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den>
                        </m:f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nl-BE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nl-BE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nl-BE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  <m:func>
                              <m:funcPr>
                                <m:ctrl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den>
                    </m:f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nl-BE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e>
                    </m:func>
                    <m:func>
                      <m:funcPr>
                        <m:ctrlPr>
                          <a:rPr lang="nl-BE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nl-BE" b="0" dirty="0"/>
              </a:p>
              <a:p>
                <a:endParaRPr lang="nl-BE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nl-BE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nl-BE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  <m:func>
                              <m:funcPr>
                                <m:ctrl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sup>
                    </m:sSup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nl-BE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nl-BE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</m:e>
                        </m:func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d>
                  </m:oMath>
                </a14:m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4805B143-FF4E-AB40-D7A7-FD8C1E0754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01317"/>
              </a:xfrm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3D24F4C-5446-302D-B2AA-5D8206A7E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219202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8C790F-7448-A8DF-FCBD-549292060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Oefening 5.31(g)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A4E05E72-B83E-EA66-0BC6-5D6024B76D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nl-BE" b="0" i="0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→0</m:t>
                        </m:r>
                      </m:lim>
                    </m:limLow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nl-BE" dirty="0"/>
                  <a:t> </a:t>
                </a:r>
              </a:p>
              <a:p>
                <a:r>
                  <a:rPr lang="nl-BE" b="0" dirty="0"/>
                  <a:t>Een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nl-BE" dirty="0"/>
                  <a:t> onbepaaldheid </a:t>
                </a:r>
                <a:r>
                  <a:rPr lang="nl-BE" dirty="0">
                    <a:sym typeface="Wingdings" panose="05000000000000000000" pitchFamily="2" charset="2"/>
                  </a:rPr>
                  <a:t> </a:t>
                </a:r>
                <a:r>
                  <a:rPr lang="nl-BE" dirty="0" err="1">
                    <a:sym typeface="Wingdings" panose="05000000000000000000" pitchFamily="2" charset="2"/>
                  </a:rPr>
                  <a:t>L’Hôpital</a:t>
                </a:r>
                <a:r>
                  <a:rPr lang="nl-BE" dirty="0">
                    <a:sym typeface="Wingdings" panose="05000000000000000000" pitchFamily="2" charset="2"/>
                  </a:rPr>
                  <a:t> </a:t>
                </a:r>
              </a:p>
              <a:p>
                <a:endParaRPr lang="nl-BE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lang="nl-BE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nl-BE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nl-BE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nl-BE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func>
                            <m:funcPr>
                              <m:ctrl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func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func>
                            <m:funcPr>
                              <m:ctrl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nl-BE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func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nl-BE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nl-BE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func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nl-BE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func>
                            <m:funcPr>
                              <m:ctrl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A4E05E72-B83E-EA66-0BC6-5D6024B76D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BAD7768-CFAA-67BC-3654-8E1C7375C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264862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514</Words>
  <Application>Microsoft Office PowerPoint</Application>
  <PresentationFormat>Breedbeeld</PresentationFormat>
  <Paragraphs>114</Paragraphs>
  <Slides>17</Slides>
  <Notes>1</Notes>
  <HiddenSlides>0</HiddenSlides>
  <MMClips>1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Wingdings</vt:lpstr>
      <vt:lpstr>Kantoorthema</vt:lpstr>
      <vt:lpstr>Analyse I, Oefenzitting 4</vt:lpstr>
      <vt:lpstr>Slides</vt:lpstr>
      <vt:lpstr>Afgeleide</vt:lpstr>
      <vt:lpstr>Rekenregels afgeleiden</vt:lpstr>
      <vt:lpstr>Limieten: Regel van L’Hôpital</vt:lpstr>
      <vt:lpstr>Limieten: Regel van L’Hôpital</vt:lpstr>
      <vt:lpstr>Handige limieten </vt:lpstr>
      <vt:lpstr>Taylorveeltermen</vt:lpstr>
      <vt:lpstr>Voorbeeld</vt:lpstr>
      <vt:lpstr>Waarom?</vt:lpstr>
      <vt:lpstr>Voorbeeld</vt:lpstr>
      <vt:lpstr>Waarom?</vt:lpstr>
      <vt:lpstr>VERGEET DE KETTINGREGEL  NIET!</vt:lpstr>
      <vt:lpstr>Oefeningen</vt:lpstr>
      <vt:lpstr>Taylorreeks-animatie</vt:lpstr>
      <vt:lpstr>Oefening 5.4(p): afgeleide van f(x)=(cos⁡(x) )^sin⁡(x) </vt:lpstr>
      <vt:lpstr>Oefening 5.31(g)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Visterin</dc:creator>
  <cp:lastModifiedBy>Jasper Visterin</cp:lastModifiedBy>
  <cp:revision>123</cp:revision>
  <dcterms:created xsi:type="dcterms:W3CDTF">2025-10-24T18:28:05Z</dcterms:created>
  <dcterms:modified xsi:type="dcterms:W3CDTF">2026-10-25T09:21:51Z</dcterms:modified>
</cp:coreProperties>
</file>