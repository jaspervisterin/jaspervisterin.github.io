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4" r:id="rId2"/>
  </p:sldMasterIdLst>
  <p:notesMasterIdLst>
    <p:notesMasterId r:id="rId23"/>
  </p:notesMasterIdLst>
  <p:handoutMasterIdLst>
    <p:handoutMasterId r:id="rId24"/>
  </p:handoutMasterIdLst>
  <p:sldIdLst>
    <p:sldId id="262" r:id="rId3"/>
    <p:sldId id="263" r:id="rId4"/>
    <p:sldId id="279" r:id="rId5"/>
    <p:sldId id="275" r:id="rId6"/>
    <p:sldId id="593" r:id="rId7"/>
    <p:sldId id="294" r:id="rId8"/>
    <p:sldId id="280" r:id="rId9"/>
    <p:sldId id="557" r:id="rId10"/>
    <p:sldId id="281" r:id="rId11"/>
    <p:sldId id="269" r:id="rId12"/>
    <p:sldId id="276" r:id="rId13"/>
    <p:sldId id="289" r:id="rId14"/>
    <p:sldId id="293" r:id="rId15"/>
    <p:sldId id="291" r:id="rId16"/>
    <p:sldId id="594" r:id="rId17"/>
    <p:sldId id="286" r:id="rId18"/>
    <p:sldId id="290" r:id="rId19"/>
    <p:sldId id="272" r:id="rId20"/>
    <p:sldId id="273" r:id="rId21"/>
    <p:sldId id="288" r:id="rId2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FF"/>
    <a:srgbClr val="40FF40"/>
    <a:srgbClr val="CBE1EC"/>
    <a:srgbClr val="CB0000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DFCA6-9D84-45D3-BC63-969C856AAE13}" v="3421" dt="2025-06-24T15:20:46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4" autoAdjust="0"/>
    <p:restoredTop sz="66545" autoAdjust="0"/>
  </p:normalViewPr>
  <p:slideViewPr>
    <p:cSldViewPr snapToGrid="0" snapToObjects="1">
      <p:cViewPr varScale="1">
        <p:scale>
          <a:sx n="73" d="100"/>
          <a:sy n="73" d="100"/>
        </p:scale>
        <p:origin x="2124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42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17-9-2026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17-9-2026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7448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2104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53603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34432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AB0A1E-B4EE-4812-A16E-C10C36B695DA}" type="slidenum">
              <a:rPr lang="en-GB" altLang="nl-NL" smtClean="0">
                <a:latin typeface="Arial" charset="0"/>
              </a:rPr>
              <a:pPr/>
              <a:t>5</a:t>
            </a:fld>
            <a:endParaRPr lang="en-GB" altLang="nl-NL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475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DF5C-8E4D-9595-1FBB-2A5D6F08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9E4B3E6-498F-396A-2561-7FAB6B166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EE5C37D-4D79-0283-FBE5-61E2DE233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F7EDFF0-0328-B2A2-A2B8-C0337BC9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7161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562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594388-BDCC-4EC8-950E-8D4255742CBB}" type="slidenum">
              <a:rPr lang="en-GB" altLang="nl-NL" smtClean="0"/>
              <a:pPr>
                <a:defRPr/>
              </a:pPr>
              <a:t>8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2594355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9175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75162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3783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3880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3487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4425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38010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9581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77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29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7.png"/><Relationship Id="rId19" Type="http://schemas.openxmlformats.org/officeDocument/2006/relationships/image" Target="../media/image27.png"/><Relationship Id="rId4" Type="http://schemas.openxmlformats.org/officeDocument/2006/relationships/image" Target="../media/image13.wmf"/><Relationship Id="rId9" Type="http://schemas.openxmlformats.org/officeDocument/2006/relationships/image" Target="../media/image14.wmf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wmf"/><Relationship Id="rId9" Type="http://schemas.openxmlformats.org/officeDocument/2006/relationships/image" Target="../media/image2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4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4.wmf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2.png"/><Relationship Id="rId4" Type="http://schemas.openxmlformats.org/officeDocument/2006/relationships/image" Target="../media/image18.wmf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emf"/><Relationship Id="rId18" Type="http://schemas.openxmlformats.org/officeDocument/2006/relationships/oleObject" Target="../embeddings/oleObject7.bin"/><Relationship Id="rId26" Type="http://schemas.openxmlformats.org/officeDocument/2006/relationships/oleObject" Target="../embeddings/oleObject9.bin"/><Relationship Id="rId39" Type="http://schemas.openxmlformats.org/officeDocument/2006/relationships/image" Target="../media/image28.wmf"/><Relationship Id="rId21" Type="http://schemas.openxmlformats.org/officeDocument/2006/relationships/image" Target="../media/image23.wmf"/><Relationship Id="rId34" Type="http://schemas.openxmlformats.org/officeDocument/2006/relationships/oleObject" Target="../embeddings/oleObject11.bin"/><Relationship Id="rId42" Type="http://schemas.openxmlformats.org/officeDocument/2006/relationships/oleObject" Target="../embeddings/oleObject14.bin"/><Relationship Id="rId47" Type="http://schemas.openxmlformats.org/officeDocument/2006/relationships/image" Target="../media/image30.wmf"/><Relationship Id="rId50" Type="http://schemas.openxmlformats.org/officeDocument/2006/relationships/image" Target="../media/image49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6.bin"/><Relationship Id="rId29" Type="http://schemas.openxmlformats.org/officeDocument/2006/relationships/image" Target="../media/image25.wmf"/><Relationship Id="rId11" Type="http://schemas.openxmlformats.org/officeDocument/2006/relationships/image" Target="../media/image34.png"/><Relationship Id="rId24" Type="http://schemas.openxmlformats.org/officeDocument/2006/relationships/oleObject" Target="../embeddings/oleObject8.bin"/><Relationship Id="rId32" Type="http://schemas.openxmlformats.org/officeDocument/2006/relationships/oleObject" Target="../embeddings/oleObject10.bin"/><Relationship Id="rId37" Type="http://schemas.openxmlformats.org/officeDocument/2006/relationships/image" Target="../media/image27.wmf"/><Relationship Id="rId40" Type="http://schemas.openxmlformats.org/officeDocument/2006/relationships/oleObject" Target="../embeddings/oleObject12.bin"/><Relationship Id="rId45" Type="http://schemas.openxmlformats.org/officeDocument/2006/relationships/image" Target="../media/image29.wmf"/><Relationship Id="rId5" Type="http://schemas.openxmlformats.org/officeDocument/2006/relationships/oleObject" Target="../embeddings/oleObject5.bin"/><Relationship Id="rId15" Type="http://schemas.openxmlformats.org/officeDocument/2006/relationships/image" Target="../media/image22.wmf"/><Relationship Id="rId23" Type="http://schemas.openxmlformats.org/officeDocument/2006/relationships/image" Target="../media/image24.wmf"/><Relationship Id="rId28" Type="http://schemas.openxmlformats.org/officeDocument/2006/relationships/oleObject" Target="../embeddings/oleObject9.bin"/><Relationship Id="rId36" Type="http://schemas.openxmlformats.org/officeDocument/2006/relationships/oleObject" Target="../embeddings/oleObject11.bin"/><Relationship Id="rId49" Type="http://schemas.openxmlformats.org/officeDocument/2006/relationships/image" Target="../media/image30.wmf"/><Relationship Id="rId10" Type="http://schemas.openxmlformats.org/officeDocument/2006/relationships/image" Target="../media/image37.png"/><Relationship Id="rId19" Type="http://schemas.openxmlformats.org/officeDocument/2006/relationships/image" Target="../media/image23.wmf"/><Relationship Id="rId31" Type="http://schemas.openxmlformats.org/officeDocument/2006/relationships/image" Target="../media/image26.wmf"/><Relationship Id="rId44" Type="http://schemas.openxmlformats.org/officeDocument/2006/relationships/oleObject" Target="../embeddings/oleObject14.bin"/><Relationship Id="rId4" Type="http://schemas.openxmlformats.org/officeDocument/2006/relationships/image" Target="../media/image19.wmf"/><Relationship Id="rId9" Type="http://schemas.openxmlformats.org/officeDocument/2006/relationships/image" Target="../media/image17.png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8.bin"/><Relationship Id="rId27" Type="http://schemas.openxmlformats.org/officeDocument/2006/relationships/image" Target="../media/image25.wmf"/><Relationship Id="rId30" Type="http://schemas.openxmlformats.org/officeDocument/2006/relationships/oleObject" Target="../embeddings/oleObject10.bin"/><Relationship Id="rId35" Type="http://schemas.openxmlformats.org/officeDocument/2006/relationships/image" Target="../media/image27.wmf"/><Relationship Id="rId43" Type="http://schemas.openxmlformats.org/officeDocument/2006/relationships/image" Target="../media/image29.wmf"/><Relationship Id="rId48" Type="http://schemas.openxmlformats.org/officeDocument/2006/relationships/oleObject" Target="../embeddings/oleObject15.bin"/><Relationship Id="rId8" Type="http://schemas.openxmlformats.org/officeDocument/2006/relationships/image" Target="../media/image14.wmf"/><Relationship Id="rId51" Type="http://schemas.openxmlformats.org/officeDocument/2006/relationships/image" Target="../media/image50.png"/><Relationship Id="rId3" Type="http://schemas.openxmlformats.org/officeDocument/2006/relationships/oleObject" Target="../embeddings/oleObject4.bin"/><Relationship Id="rId12" Type="http://schemas.openxmlformats.org/officeDocument/2006/relationships/image" Target="../media/image31.png"/><Relationship Id="rId17" Type="http://schemas.openxmlformats.org/officeDocument/2006/relationships/image" Target="../media/image22.wmf"/><Relationship Id="rId25" Type="http://schemas.openxmlformats.org/officeDocument/2006/relationships/image" Target="../media/image24.wmf"/><Relationship Id="rId33" Type="http://schemas.openxmlformats.org/officeDocument/2006/relationships/image" Target="../media/image26.wmf"/><Relationship Id="rId38" Type="http://schemas.openxmlformats.org/officeDocument/2006/relationships/oleObject" Target="../embeddings/oleObject12.bin"/><Relationship Id="rId46" Type="http://schemas.openxmlformats.org/officeDocument/2006/relationships/oleObject" Target="../embeddings/oleObject15.bin"/><Relationship Id="rId20" Type="http://schemas.openxmlformats.org/officeDocument/2006/relationships/oleObject" Target="../embeddings/oleObject7.bin"/><Relationship Id="rId41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13" Type="http://schemas.openxmlformats.org/officeDocument/2006/relationships/image" Target="../media/image7.png"/><Relationship Id="rId3" Type="http://schemas.openxmlformats.org/officeDocument/2006/relationships/image" Target="../media/image38.png"/><Relationship Id="rId12" Type="http://schemas.openxmlformats.org/officeDocument/2006/relationships/image" Target="../media/image56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0.png"/><Relationship Id="rId15" Type="http://schemas.openxmlformats.org/officeDocument/2006/relationships/image" Target="../media/image260.png"/><Relationship Id="rId10" Type="http://schemas.openxmlformats.org/officeDocument/2006/relationships/image" Target="../media/image540.png"/><Relationship Id="rId9" Type="http://schemas.openxmlformats.org/officeDocument/2006/relationships/image" Target="../media/image530.png"/><Relationship Id="rId1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41.png"/><Relationship Id="rId12" Type="http://schemas.openxmlformats.org/officeDocument/2006/relationships/image" Target="../media/image3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0.png"/><Relationship Id="rId10" Type="http://schemas.openxmlformats.org/officeDocument/2006/relationships/image" Target="../media/image540.png"/><Relationship Id="rId9" Type="http://schemas.openxmlformats.org/officeDocument/2006/relationships/image" Target="../media/image5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450.png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470.png"/><Relationship Id="rId10" Type="http://schemas.openxmlformats.org/officeDocument/2006/relationships/image" Target="../media/image510.png"/><Relationship Id="rId4" Type="http://schemas.openxmlformats.org/officeDocument/2006/relationships/image" Target="../media/image51.emf"/><Relationship Id="rId9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40.png"/><Relationship Id="rId4" Type="http://schemas.openxmlformats.org/officeDocument/2006/relationships/image" Target="../media/image1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26D464-4745-B839-E18E-444D24D6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800" dirty="0"/>
              <a:t>Benelux Meeting in Systems and Control 2026</a:t>
            </a:r>
            <a:endParaRPr lang="nl-NL" sz="18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2ADF7A-2858-7986-2376-B4A2D9AB4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GB" dirty="0"/>
            </a:br>
            <a:r>
              <a:rPr lang="en-GB" dirty="0"/>
              <a:t>Control by Shaping Delay Distributions </a:t>
            </a:r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A7A76896-5919-B44B-CE78-B58E255BC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u="sng" dirty="0"/>
              <a:t>Jasper Visterin</a:t>
            </a:r>
            <a:r>
              <a:rPr lang="en-GB" dirty="0"/>
              <a:t>, Wim Michiels</a:t>
            </a:r>
          </a:p>
          <a:p>
            <a:r>
              <a:rPr lang="en-GB" dirty="0"/>
              <a:t>NUMA Research Unit</a:t>
            </a:r>
          </a:p>
        </p:txBody>
      </p:sp>
      <p:pic>
        <p:nvPicPr>
          <p:cNvPr id="5" name="Picture 2" descr="A blue and yellow text with colorful wires&#10;&#10;AI-generated content may be incorrect.">
            <a:extLst>
              <a:ext uri="{FF2B5EF4-FFF2-40B4-BE49-F238E27FC236}">
                <a16:creationId xmlns:a16="http://schemas.microsoft.com/office/drawing/2014/main" id="{ED65E21A-BCEB-A73A-F6BD-2DA0B461B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5"/>
            <a:ext cx="4368673" cy="1561800"/>
          </a:xfrm>
          <a:prstGeom prst="rect">
            <a:avLst/>
          </a:prstGeom>
          <a:noFill/>
        </p:spPr>
      </p:pic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D17A8DB-BCE3-F521-12BF-C5AE5659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7128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4F1B1BA-3FF5-E86F-6FEB-93CAC533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Benelux Meeting in Systems and Control 2026</a:t>
            </a:r>
            <a:endParaRPr lang="nl-NL" dirty="0"/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1EFA3F8C-78A8-9397-7171-10F46E0A0B84}"/>
              </a:ext>
            </a:extLst>
          </p:cNvPr>
          <p:cNvSpPr txBox="1">
            <a:spLocks/>
          </p:cNvSpPr>
          <p:nvPr/>
        </p:nvSpPr>
        <p:spPr>
          <a:xfrm>
            <a:off x="808201" y="1511300"/>
            <a:ext cx="9046999" cy="19177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baseline="0">
                <a:solidFill>
                  <a:schemeClr val="tx2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br>
              <a:rPr lang="en-GB" dirty="0"/>
            </a:br>
            <a:r>
              <a:rPr lang="en-GB" dirty="0"/>
              <a:t>Control by Shaping Delay Distributions </a:t>
            </a:r>
          </a:p>
        </p:txBody>
      </p:sp>
      <p:sp>
        <p:nvSpPr>
          <p:cNvPr id="11" name="Linkeraccolade 10">
            <a:extLst>
              <a:ext uri="{FF2B5EF4-FFF2-40B4-BE49-F238E27FC236}">
                <a16:creationId xmlns:a16="http://schemas.microsoft.com/office/drawing/2014/main" id="{60692420-CE93-E70E-3EFC-18F5FDDDCDAB}"/>
              </a:ext>
            </a:extLst>
          </p:cNvPr>
          <p:cNvSpPr/>
          <p:nvPr/>
        </p:nvSpPr>
        <p:spPr>
          <a:xfrm rot="16200000">
            <a:off x="5871450" y="2953266"/>
            <a:ext cx="114300" cy="1193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Linkeraccolade 11">
            <a:extLst>
              <a:ext uri="{FF2B5EF4-FFF2-40B4-BE49-F238E27FC236}">
                <a16:creationId xmlns:a16="http://schemas.microsoft.com/office/drawing/2014/main" id="{F92D1ACF-C90A-72CB-4309-15E2BD45A778}"/>
              </a:ext>
            </a:extLst>
          </p:cNvPr>
          <p:cNvSpPr/>
          <p:nvPr/>
        </p:nvSpPr>
        <p:spPr>
          <a:xfrm rot="5400000">
            <a:off x="8101450" y="1385514"/>
            <a:ext cx="114300" cy="27836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602A47-FCCA-DEC9-BCE2-827DE2DF7F2F}"/>
              </a:ext>
            </a:extLst>
          </p:cNvPr>
          <p:cNvSpPr txBox="1"/>
          <p:nvPr/>
        </p:nvSpPr>
        <p:spPr>
          <a:xfrm>
            <a:off x="4787900" y="3744362"/>
            <a:ext cx="241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Time-Delay Systems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65472B5E-3073-EC02-9F62-40E47057D0F7}"/>
              </a:ext>
            </a:extLst>
          </p:cNvPr>
          <p:cNvSpPr txBox="1"/>
          <p:nvPr/>
        </p:nvSpPr>
        <p:spPr>
          <a:xfrm>
            <a:off x="7137400" y="2350832"/>
            <a:ext cx="241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Distributed Delays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0C0D146-F528-281F-BDB2-02305D33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7766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6F78-3E3E-C3B0-CC1B-E0575390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B7C5A7D-72DA-403C-5A9F-A6F25310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Benelux Meeting in Systems and Control 2026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AA75126-CFE7-9729-039E-46CAA897B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359036"/>
            <a:ext cx="11041200" cy="2531058"/>
          </a:xfrm>
        </p:spPr>
        <p:txBody>
          <a:bodyPr/>
          <a:lstStyle/>
          <a:p>
            <a:r>
              <a:rPr lang="en-GB" noProof="0" dirty="0"/>
              <a:t>Broad class of infinite-dimensional systems</a:t>
            </a:r>
          </a:p>
          <a:p>
            <a:r>
              <a:rPr lang="en-GB" noProof="0" dirty="0"/>
              <a:t>Inherently difficult to control</a:t>
            </a:r>
          </a:p>
          <a:p>
            <a:r>
              <a:rPr lang="en-GB" noProof="0" dirty="0"/>
              <a:t>Specialized computational methods needed</a:t>
            </a:r>
          </a:p>
          <a:p>
            <a:r>
              <a:rPr lang="en-GB" dirty="0"/>
              <a:t>In this work: LTI systems of retarded type</a:t>
            </a:r>
            <a:endParaRPr lang="en-GB" noProof="0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AADDC08-D917-2550-2FE7-9829A29B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Time-Delay Systems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C36ECE-59FA-7A59-4412-FD5174F3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601"/>
          <a:stretch>
            <a:fillRect/>
          </a:stretch>
        </p:blipFill>
        <p:spPr>
          <a:xfrm>
            <a:off x="713097" y="3539521"/>
            <a:ext cx="7491103" cy="2191357"/>
          </a:xfrm>
          <a:prstGeom prst="rect">
            <a:avLst/>
          </a:prstGeom>
        </p:spPr>
      </p:pic>
      <p:grpSp>
        <p:nvGrpSpPr>
          <p:cNvPr id="39" name="Groep 38">
            <a:extLst>
              <a:ext uri="{FF2B5EF4-FFF2-40B4-BE49-F238E27FC236}">
                <a16:creationId xmlns:a16="http://schemas.microsoft.com/office/drawing/2014/main" id="{438C5A93-0B42-332F-F734-6852130B98F9}"/>
              </a:ext>
            </a:extLst>
          </p:cNvPr>
          <p:cNvGrpSpPr/>
          <p:nvPr/>
        </p:nvGrpSpPr>
        <p:grpSpPr>
          <a:xfrm>
            <a:off x="8026400" y="1015424"/>
            <a:ext cx="2167015" cy="379652"/>
            <a:chOff x="8026400" y="1015424"/>
            <a:chExt cx="2167015" cy="379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hthoek: afgeronde hoeken 15">
                  <a:extLst>
                    <a:ext uri="{FF2B5EF4-FFF2-40B4-BE49-F238E27FC236}">
                      <a16:creationId xmlns:a16="http://schemas.microsoft.com/office/drawing/2014/main" id="{468A46DC-F352-5649-EDD9-0547F276F75B}"/>
                    </a:ext>
                  </a:extLst>
                </p:cNvPr>
                <p:cNvSpPr/>
                <p:nvPr/>
              </p:nvSpPr>
              <p:spPr>
                <a:xfrm>
                  <a:off x="8990671" y="1015424"/>
                  <a:ext cx="381000" cy="379652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r>
                    <a:rPr lang="en-GB" noProof="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Rechthoek: afgeronde hoeken 15">
                  <a:extLst>
                    <a:ext uri="{FF2B5EF4-FFF2-40B4-BE49-F238E27FC236}">
                      <a16:creationId xmlns:a16="http://schemas.microsoft.com/office/drawing/2014/main" id="{468A46DC-F352-5649-EDD9-0547F276F7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671" y="1015424"/>
                  <a:ext cx="381000" cy="37965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335E0AC9-4D37-BF2B-E764-CF95FBE7B623}"/>
                    </a:ext>
                  </a:extLst>
                </p:cNvPr>
                <p:cNvSpPr txBox="1"/>
                <p:nvPr/>
              </p:nvSpPr>
              <p:spPr>
                <a:xfrm>
                  <a:off x="8026400" y="1015424"/>
                  <a:ext cx="52352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GB" noProof="0" dirty="0"/>
                </a:p>
              </p:txBody>
            </p:sp>
          </mc:Choice>
          <mc:Fallback xmlns="">
            <p:sp>
              <p:nvSpPr>
                <p:cNvPr id="20" name="Tekstvak 19">
                  <a:extLst>
                    <a:ext uri="{FF2B5EF4-FFF2-40B4-BE49-F238E27FC236}">
                      <a16:creationId xmlns:a16="http://schemas.microsoft.com/office/drawing/2014/main" id="{335E0AC9-4D37-BF2B-E764-CF95FBE7B6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400" y="1015424"/>
                  <a:ext cx="52352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kstvak 20">
                  <a:extLst>
                    <a:ext uri="{FF2B5EF4-FFF2-40B4-BE49-F238E27FC236}">
                      <a16:creationId xmlns:a16="http://schemas.microsoft.com/office/drawing/2014/main" id="{FCCF373A-EDFE-B0D3-DFD1-AADAE0FF36CD}"/>
                    </a:ext>
                  </a:extLst>
                </p:cNvPr>
                <p:cNvSpPr txBox="1"/>
                <p:nvPr/>
              </p:nvSpPr>
              <p:spPr>
                <a:xfrm>
                  <a:off x="9812415" y="1025744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GB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GB" noProof="0" dirty="0"/>
                </a:p>
              </p:txBody>
            </p:sp>
          </mc:Choice>
          <mc:Fallback xmlns="">
            <p:sp>
              <p:nvSpPr>
                <p:cNvPr id="21" name="Tekstvak 20">
                  <a:extLst>
                    <a:ext uri="{FF2B5EF4-FFF2-40B4-BE49-F238E27FC236}">
                      <a16:creationId xmlns:a16="http://schemas.microsoft.com/office/drawing/2014/main" id="{FCCF373A-EDFE-B0D3-DFD1-AADAE0FF36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2415" y="1025744"/>
                  <a:ext cx="38100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32258" b="-8197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Rechte verbindingslijn met pijl 22">
              <a:extLst>
                <a:ext uri="{FF2B5EF4-FFF2-40B4-BE49-F238E27FC236}">
                  <a16:creationId xmlns:a16="http://schemas.microsoft.com/office/drawing/2014/main" id="{6AF7A05F-D170-8099-2B2B-CD857E4CCD40}"/>
                </a:ext>
              </a:extLst>
            </p:cNvPr>
            <p:cNvCxnSpPr>
              <a:cxnSpLocks/>
              <a:stCxn id="20" idx="3"/>
              <a:endCxn id="16" idx="1"/>
            </p:cNvCxnSpPr>
            <p:nvPr/>
          </p:nvCxnSpPr>
          <p:spPr>
            <a:xfrm>
              <a:off x="8549928" y="1200090"/>
              <a:ext cx="440743" cy="51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Rechte verbindingslijn met pijl 23">
              <a:extLst>
                <a:ext uri="{FF2B5EF4-FFF2-40B4-BE49-F238E27FC236}">
                  <a16:creationId xmlns:a16="http://schemas.microsoft.com/office/drawing/2014/main" id="{84D7E74F-2CF7-AB71-7992-845D84DEDD47}"/>
                </a:ext>
              </a:extLst>
            </p:cNvPr>
            <p:cNvCxnSpPr>
              <a:cxnSpLocks/>
              <a:stCxn id="16" idx="3"/>
              <a:endCxn id="21" idx="1"/>
            </p:cNvCxnSpPr>
            <p:nvPr/>
          </p:nvCxnSpPr>
          <p:spPr>
            <a:xfrm>
              <a:off x="9371671" y="1205250"/>
              <a:ext cx="440744" cy="51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0" name="Afbeelding 39">
            <a:extLst>
              <a:ext uri="{FF2B5EF4-FFF2-40B4-BE49-F238E27FC236}">
                <a16:creationId xmlns:a16="http://schemas.microsoft.com/office/drawing/2014/main" id="{F814004B-C6EE-584D-E920-E7DCD3A83B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30"/>
          <a:stretch>
            <a:fillRect/>
          </a:stretch>
        </p:blipFill>
        <p:spPr>
          <a:xfrm>
            <a:off x="719058" y="3539521"/>
            <a:ext cx="10676000" cy="2191357"/>
          </a:xfrm>
          <a:prstGeom prst="rect">
            <a:avLst/>
          </a:prstGeom>
        </p:spPr>
      </p:pic>
      <p:sp>
        <p:nvSpPr>
          <p:cNvPr id="2" name="Linkeraccolade 1">
            <a:extLst>
              <a:ext uri="{FF2B5EF4-FFF2-40B4-BE49-F238E27FC236}">
                <a16:creationId xmlns:a16="http://schemas.microsoft.com/office/drawing/2014/main" id="{AAA77D80-02AD-F3D4-0336-0CF3A5AB85F8}"/>
              </a:ext>
            </a:extLst>
          </p:cNvPr>
          <p:cNvSpPr/>
          <p:nvPr/>
        </p:nvSpPr>
        <p:spPr>
          <a:xfrm rot="16200000">
            <a:off x="9446892" y="4305231"/>
            <a:ext cx="112168" cy="4412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7FBD815-31AD-026F-00AE-D2E61221579A}"/>
              </a:ext>
            </a:extLst>
          </p:cNvPr>
          <p:cNvSpPr txBox="1"/>
          <p:nvPr/>
        </p:nvSpPr>
        <p:spPr>
          <a:xfrm>
            <a:off x="8341297" y="4625820"/>
            <a:ext cx="270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Piecewise continuous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1F9616A-BBEF-9519-4BE9-22CF48EB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2295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07DEAFE1-3302-5BC8-D856-01B5BF344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36" y="859874"/>
            <a:ext cx="5421575" cy="540000"/>
          </a:xfrm>
        </p:spPr>
        <p:txBody>
          <a:bodyPr/>
          <a:lstStyle/>
          <a:p>
            <a:r>
              <a:rPr lang="en-GB" dirty="0"/>
              <a:t>Delay-Free Linear systems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9E33B8-BCFD-4EA5-D15B-AA9234FB2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99784" y="472409"/>
            <a:ext cx="5767875" cy="926661"/>
          </a:xfrm>
        </p:spPr>
        <p:txBody>
          <a:bodyPr>
            <a:normAutofit/>
          </a:bodyPr>
          <a:lstStyle/>
          <a:p>
            <a:r>
              <a:rPr lang="en-GB" dirty="0"/>
              <a:t>Retarded Time-Delay Systems 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75733C6-9732-628F-786E-F2296DA7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4FBD192-E462-2AFF-52B3-A09282897D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51" y="1781590"/>
            <a:ext cx="5122839" cy="384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CD595939-4012-C90B-DD25-4A7711335C0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330" y="1781590"/>
            <a:ext cx="5122840" cy="384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6C18FDCA-0F63-F0AC-FBC9-B2960D3A8EED}"/>
              </a:ext>
            </a:extLst>
          </p:cNvPr>
          <p:cNvSpPr txBox="1"/>
          <p:nvPr/>
        </p:nvSpPr>
        <p:spPr>
          <a:xfrm>
            <a:off x="1612887" y="6395500"/>
            <a:ext cx="9283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Images from: https://wms.cs.kuleuven.be/groups/NUMA/research/outreach-delay#2.1.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562DA3F-0CC4-BBAA-5EEF-8462DA24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141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Line 39"/>
          <p:cNvSpPr>
            <a:spLocks noChangeShapeType="1"/>
          </p:cNvSpPr>
          <p:nvPr/>
        </p:nvSpPr>
        <p:spPr bwMode="auto">
          <a:xfrm flipH="1">
            <a:off x="3404055" y="1579516"/>
            <a:ext cx="0" cy="18193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3788229" y="1941060"/>
          <a:ext cx="32527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1640880" imgH="442080" progId="Equation.Ribbit">
                  <p:embed/>
                </p:oleObj>
              </mc:Choice>
              <mc:Fallback>
                <p:oleObj name="Formula" r:id="rId3" imgW="1640880" imgH="442080" progId="Equation.Ribbit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229" y="1941060"/>
                        <a:ext cx="3252788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942098" y="5639323"/>
                <a:ext cx="6669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00CC"/>
                    </a:solidFill>
                  </a:rPr>
                  <a:t>Abstract </a:t>
                </a:r>
                <a:r>
                  <a:rPr lang="en-US" i="1" dirty="0">
                    <a:solidFill>
                      <a:srgbClr val="0000CC"/>
                    </a:solidFill>
                  </a:rPr>
                  <a:t>ordinary differential equation </a:t>
                </a:r>
                <a:r>
                  <a:rPr lang="en-US" dirty="0">
                    <a:solidFill>
                      <a:srgbClr val="0000CC"/>
                    </a:solidFill>
                  </a:rPr>
                  <a:t>over the function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098" y="5639323"/>
                <a:ext cx="6669454" cy="369332"/>
              </a:xfrm>
              <a:prstGeom prst="rect">
                <a:avLst/>
              </a:prstGeom>
              <a:blipFill>
                <a:blip r:embed="rId5"/>
                <a:stretch>
                  <a:fillRect l="-823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 bwMode="auto">
          <a:xfrm>
            <a:off x="9567857" y="1119697"/>
            <a:ext cx="475013" cy="43938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</a:endParaRPr>
          </a:p>
        </p:txBody>
      </p:sp>
      <p:sp>
        <p:nvSpPr>
          <p:cNvPr id="3105" name="Freeform 5"/>
          <p:cNvSpPr>
            <a:spLocks/>
          </p:cNvSpPr>
          <p:nvPr/>
        </p:nvSpPr>
        <p:spPr bwMode="auto">
          <a:xfrm rot="640235">
            <a:off x="9640154" y="4185956"/>
            <a:ext cx="685227" cy="98314"/>
          </a:xfrm>
          <a:custGeom>
            <a:avLst/>
            <a:gdLst>
              <a:gd name="T0" fmla="*/ 495 w 267"/>
              <a:gd name="T1" fmla="*/ 0 h 64"/>
              <a:gd name="T2" fmla="*/ 296 w 267"/>
              <a:gd name="T3" fmla="*/ 29 h 64"/>
              <a:gd name="T4" fmla="*/ 0 w 267"/>
              <a:gd name="T5" fmla="*/ 0 h 64"/>
              <a:gd name="T6" fmla="*/ 0 60000 65536"/>
              <a:gd name="T7" fmla="*/ 0 60000 65536"/>
              <a:gd name="T8" fmla="*/ 0 60000 65536"/>
              <a:gd name="T9" fmla="*/ 0 w 267"/>
              <a:gd name="T10" fmla="*/ 0 h 64"/>
              <a:gd name="T11" fmla="*/ 267 w 267"/>
              <a:gd name="T12" fmla="*/ 64 h 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" h="64">
                <a:moveTo>
                  <a:pt x="267" y="0"/>
                </a:moveTo>
                <a:cubicBezTo>
                  <a:pt x="235" y="32"/>
                  <a:pt x="204" y="64"/>
                  <a:pt x="160" y="64"/>
                </a:cubicBezTo>
                <a:cubicBezTo>
                  <a:pt x="116" y="64"/>
                  <a:pt x="58" y="32"/>
                  <a:pt x="0" y="0"/>
                </a:cubicBezTo>
              </a:path>
            </a:pathLst>
          </a:custGeom>
          <a:noFill/>
          <a:ln w="19050" cap="flat" cmpd="sng">
            <a:solidFill>
              <a:srgbClr val="6600FF"/>
            </a:solidFill>
            <a:prstDash val="solid"/>
            <a:round/>
            <a:headEnd/>
            <a:tailEnd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106" name="Freeform 6"/>
          <p:cNvSpPr>
            <a:spLocks/>
          </p:cNvSpPr>
          <p:nvPr/>
        </p:nvSpPr>
        <p:spPr bwMode="auto">
          <a:xfrm rot="20319531" flipH="1">
            <a:off x="9667382" y="4168081"/>
            <a:ext cx="685227" cy="60776"/>
          </a:xfrm>
          <a:custGeom>
            <a:avLst/>
            <a:gdLst>
              <a:gd name="T0" fmla="*/ 495 w 267"/>
              <a:gd name="T1" fmla="*/ 0 h 64"/>
              <a:gd name="T2" fmla="*/ 296 w 267"/>
              <a:gd name="T3" fmla="*/ 3 h 64"/>
              <a:gd name="T4" fmla="*/ 0 w 267"/>
              <a:gd name="T5" fmla="*/ 0 h 64"/>
              <a:gd name="T6" fmla="*/ 0 60000 65536"/>
              <a:gd name="T7" fmla="*/ 0 60000 65536"/>
              <a:gd name="T8" fmla="*/ 0 60000 65536"/>
              <a:gd name="T9" fmla="*/ 0 w 267"/>
              <a:gd name="T10" fmla="*/ 0 h 64"/>
              <a:gd name="T11" fmla="*/ 267 w 267"/>
              <a:gd name="T12" fmla="*/ 64 h 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" h="64">
                <a:moveTo>
                  <a:pt x="267" y="0"/>
                </a:moveTo>
                <a:cubicBezTo>
                  <a:pt x="235" y="32"/>
                  <a:pt x="204" y="64"/>
                  <a:pt x="160" y="64"/>
                </a:cubicBezTo>
                <a:cubicBezTo>
                  <a:pt x="116" y="64"/>
                  <a:pt x="58" y="32"/>
                  <a:pt x="0" y="0"/>
                </a:cubicBezTo>
              </a:path>
            </a:pathLst>
          </a:cu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107" name="Line 7"/>
          <p:cNvSpPr>
            <a:spLocks noChangeShapeType="1"/>
          </p:cNvSpPr>
          <p:nvPr/>
        </p:nvSpPr>
        <p:spPr bwMode="auto">
          <a:xfrm>
            <a:off x="9640154" y="4500560"/>
            <a:ext cx="104145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08" name="Line 8"/>
          <p:cNvSpPr>
            <a:spLocks noChangeShapeType="1"/>
          </p:cNvSpPr>
          <p:nvPr/>
        </p:nvSpPr>
        <p:spPr bwMode="auto">
          <a:xfrm flipV="1">
            <a:off x="9640154" y="3923190"/>
            <a:ext cx="0" cy="56664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09" name="Line 9"/>
          <p:cNvSpPr>
            <a:spLocks noChangeShapeType="1"/>
          </p:cNvSpPr>
          <p:nvPr/>
        </p:nvSpPr>
        <p:spPr bwMode="auto">
          <a:xfrm flipV="1">
            <a:off x="10352608" y="3926765"/>
            <a:ext cx="0" cy="56664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4" name="Text Box 14"/>
              <p:cNvSpPr txBox="1">
                <a:spLocks noChangeArrowheads="1"/>
              </p:cNvSpPr>
              <p:nvPr/>
            </p:nvSpPr>
            <p:spPr bwMode="auto">
              <a:xfrm>
                <a:off x="10443367" y="3828451"/>
                <a:ext cx="664806" cy="30209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sz="1400" i="1" baseline="-25000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nl-BE" sz="1400" baseline="-25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11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43367" y="3828451"/>
                <a:ext cx="664806" cy="302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1" name="Line 20"/>
          <p:cNvSpPr>
            <a:spLocks noChangeShapeType="1"/>
          </p:cNvSpPr>
          <p:nvPr/>
        </p:nvSpPr>
        <p:spPr bwMode="auto">
          <a:xfrm>
            <a:off x="8295620" y="1882952"/>
            <a:ext cx="3194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092" name="Line 21"/>
          <p:cNvSpPr>
            <a:spLocks noChangeShapeType="1"/>
          </p:cNvSpPr>
          <p:nvPr/>
        </p:nvSpPr>
        <p:spPr bwMode="auto">
          <a:xfrm flipV="1">
            <a:off x="8852832" y="1116190"/>
            <a:ext cx="0" cy="766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093" name="Freeform 22"/>
          <p:cNvSpPr>
            <a:spLocks/>
          </p:cNvSpPr>
          <p:nvPr/>
        </p:nvSpPr>
        <p:spPr bwMode="auto">
          <a:xfrm>
            <a:off x="8852832" y="1268590"/>
            <a:ext cx="1792288" cy="334963"/>
          </a:xfrm>
          <a:custGeom>
            <a:avLst/>
            <a:gdLst>
              <a:gd name="T0" fmla="*/ 0 w 1043"/>
              <a:gd name="T1" fmla="*/ 122 h 242"/>
              <a:gd name="T2" fmla="*/ 741 w 1043"/>
              <a:gd name="T3" fmla="*/ 8 h 242"/>
              <a:gd name="T4" fmla="*/ 1147 w 1043"/>
              <a:gd name="T5" fmla="*/ 76 h 242"/>
              <a:gd name="T6" fmla="*/ 1550 w 1043"/>
              <a:gd name="T7" fmla="*/ 122 h 242"/>
              <a:gd name="T8" fmla="*/ 0 60000 65536"/>
              <a:gd name="T9" fmla="*/ 0 60000 65536"/>
              <a:gd name="T10" fmla="*/ 0 60000 65536"/>
              <a:gd name="T11" fmla="*/ 0 60000 65536"/>
              <a:gd name="T12" fmla="*/ 0 w 1043"/>
              <a:gd name="T13" fmla="*/ 0 h 242"/>
              <a:gd name="T14" fmla="*/ 1043 w 1043"/>
              <a:gd name="T15" fmla="*/ 242 h 2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43" h="242">
                <a:moveTo>
                  <a:pt x="0" y="242"/>
                </a:moveTo>
                <a:cubicBezTo>
                  <a:pt x="185" y="136"/>
                  <a:pt x="371" y="30"/>
                  <a:pt x="499" y="15"/>
                </a:cubicBezTo>
                <a:cubicBezTo>
                  <a:pt x="627" y="0"/>
                  <a:pt x="680" y="113"/>
                  <a:pt x="771" y="151"/>
                </a:cubicBezTo>
                <a:cubicBezTo>
                  <a:pt x="862" y="189"/>
                  <a:pt x="952" y="215"/>
                  <a:pt x="1043" y="242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096" name="Freeform 25"/>
          <p:cNvSpPr>
            <a:spLocks/>
          </p:cNvSpPr>
          <p:nvPr/>
        </p:nvSpPr>
        <p:spPr bwMode="auto">
          <a:xfrm rot="640235">
            <a:off x="8376582" y="1554340"/>
            <a:ext cx="479425" cy="87313"/>
          </a:xfrm>
          <a:custGeom>
            <a:avLst/>
            <a:gdLst>
              <a:gd name="T0" fmla="*/ 495 w 267"/>
              <a:gd name="T1" fmla="*/ 0 h 64"/>
              <a:gd name="T2" fmla="*/ 296 w 267"/>
              <a:gd name="T3" fmla="*/ 29 h 64"/>
              <a:gd name="T4" fmla="*/ 0 w 267"/>
              <a:gd name="T5" fmla="*/ 0 h 64"/>
              <a:gd name="T6" fmla="*/ 0 60000 65536"/>
              <a:gd name="T7" fmla="*/ 0 60000 65536"/>
              <a:gd name="T8" fmla="*/ 0 60000 65536"/>
              <a:gd name="T9" fmla="*/ 0 w 267"/>
              <a:gd name="T10" fmla="*/ 0 h 64"/>
              <a:gd name="T11" fmla="*/ 267 w 267"/>
              <a:gd name="T12" fmla="*/ 64 h 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" h="64">
                <a:moveTo>
                  <a:pt x="267" y="0"/>
                </a:moveTo>
                <a:cubicBezTo>
                  <a:pt x="235" y="32"/>
                  <a:pt x="204" y="64"/>
                  <a:pt x="160" y="64"/>
                </a:cubicBezTo>
                <a:cubicBezTo>
                  <a:pt x="116" y="64"/>
                  <a:pt x="58" y="32"/>
                  <a:pt x="0" y="0"/>
                </a:cubicBezTo>
              </a:path>
            </a:pathLst>
          </a:custGeom>
          <a:noFill/>
          <a:ln w="19050" cap="flat" cmpd="sng">
            <a:solidFill>
              <a:srgbClr val="6600FF"/>
            </a:solidFill>
            <a:prstDash val="solid"/>
            <a:round/>
            <a:headEnd/>
            <a:tailEnd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097" name="Line 26"/>
          <p:cNvSpPr>
            <a:spLocks noChangeShapeType="1"/>
          </p:cNvSpPr>
          <p:nvPr/>
        </p:nvSpPr>
        <p:spPr bwMode="auto">
          <a:xfrm>
            <a:off x="8370550" y="1506715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100" name="Freeform 29"/>
          <p:cNvSpPr>
            <a:spLocks/>
          </p:cNvSpPr>
          <p:nvPr/>
        </p:nvSpPr>
        <p:spPr bwMode="auto">
          <a:xfrm rot="20319531" flipH="1">
            <a:off x="10649882" y="1516240"/>
            <a:ext cx="479425" cy="53975"/>
          </a:xfrm>
          <a:custGeom>
            <a:avLst/>
            <a:gdLst>
              <a:gd name="T0" fmla="*/ 495 w 267"/>
              <a:gd name="T1" fmla="*/ 0 h 64"/>
              <a:gd name="T2" fmla="*/ 296 w 267"/>
              <a:gd name="T3" fmla="*/ 3 h 64"/>
              <a:gd name="T4" fmla="*/ 0 w 267"/>
              <a:gd name="T5" fmla="*/ 0 h 64"/>
              <a:gd name="T6" fmla="*/ 0 60000 65536"/>
              <a:gd name="T7" fmla="*/ 0 60000 65536"/>
              <a:gd name="T8" fmla="*/ 0 60000 65536"/>
              <a:gd name="T9" fmla="*/ 0 w 267"/>
              <a:gd name="T10" fmla="*/ 0 h 64"/>
              <a:gd name="T11" fmla="*/ 267 w 267"/>
              <a:gd name="T12" fmla="*/ 64 h 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" h="64">
                <a:moveTo>
                  <a:pt x="267" y="0"/>
                </a:moveTo>
                <a:cubicBezTo>
                  <a:pt x="235" y="32"/>
                  <a:pt x="204" y="64"/>
                  <a:pt x="160" y="64"/>
                </a:cubicBezTo>
                <a:cubicBezTo>
                  <a:pt x="116" y="64"/>
                  <a:pt x="58" y="32"/>
                  <a:pt x="0" y="0"/>
                </a:cubicBezTo>
              </a:path>
            </a:pathLst>
          </a:cu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lIns="90488" tIns="44450" rIns="90488" bIns="44450" anchor="ctr"/>
          <a:lstStyle/>
          <a:p>
            <a:endParaRPr lang="en-US">
              <a:solidFill>
                <a:srgbClr val="00B050"/>
              </a:solidFill>
            </a:endParaRPr>
          </a:p>
        </p:txBody>
      </p:sp>
      <p:sp>
        <p:nvSpPr>
          <p:cNvPr id="3101" name="Line 30"/>
          <p:cNvSpPr>
            <a:spLocks noChangeShapeType="1"/>
          </p:cNvSpPr>
          <p:nvPr/>
        </p:nvSpPr>
        <p:spPr bwMode="auto">
          <a:xfrm>
            <a:off x="10622260" y="1603552"/>
            <a:ext cx="0" cy="2746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3102" name="Line 31"/>
          <p:cNvSpPr>
            <a:spLocks noChangeShapeType="1"/>
          </p:cNvSpPr>
          <p:nvPr/>
        </p:nvSpPr>
        <p:spPr bwMode="auto">
          <a:xfrm>
            <a:off x="11097875" y="1416227"/>
            <a:ext cx="0" cy="4683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43" name="Rectangle 42"/>
          <p:cNvSpPr/>
          <p:nvPr/>
        </p:nvSpPr>
        <p:spPr bwMode="auto">
          <a:xfrm>
            <a:off x="8370900" y="1319713"/>
            <a:ext cx="475013" cy="4393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8988343" y="1198980"/>
            <a:ext cx="475013" cy="4393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10067122" y="1273317"/>
            <a:ext cx="475013" cy="4393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0621168" y="1216805"/>
            <a:ext cx="475013" cy="4393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9963150" y="633571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E75A9A45-5771-4F7C-805F-BE6859206951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B7EEBC3-2A38-108C-8ECA-3E2A474D2A14}"/>
                  </a:ext>
                </a:extLst>
              </p:cNvPr>
              <p:cNvSpPr txBox="1"/>
              <p:nvPr/>
            </p:nvSpPr>
            <p:spPr>
              <a:xfrm>
                <a:off x="1397723" y="558430"/>
                <a:ext cx="4991987" cy="830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a:rPr lang="en-GB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B7EEBC3-2A38-108C-8ECA-3E2A474D2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23" y="558430"/>
                <a:ext cx="4991987" cy="830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AD4DA5F7-7210-767F-2EDF-6A1039C85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609252"/>
              </p:ext>
            </p:extLst>
          </p:nvPr>
        </p:nvGraphicFramePr>
        <p:xfrm>
          <a:off x="1281113" y="3587750"/>
          <a:ext cx="572135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2234160" imgH="255600" progId="Equation.Ribbit">
                  <p:embed/>
                </p:oleObj>
              </mc:Choice>
              <mc:Fallback>
                <p:oleObj name="Formula" r:id="rId8" imgW="2234160" imgH="255600" progId="Equation.Ribbit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082235DA-DB59-4425-9975-A37CD3F51D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3587750"/>
                        <a:ext cx="5721350" cy="652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Afbeelding 11">
            <a:extLst>
              <a:ext uri="{FF2B5EF4-FFF2-40B4-BE49-F238E27FC236}">
                <a16:creationId xmlns:a16="http://schemas.microsoft.com/office/drawing/2014/main" id="{29EB128E-86EE-9177-BF3D-450B109285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290" y="4327093"/>
            <a:ext cx="7909336" cy="10179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C1E3B49A-9101-A94D-78E6-B79C29841458}"/>
                  </a:ext>
                </a:extLst>
              </p:cNvPr>
              <p:cNvSpPr txBox="1"/>
              <p:nvPr/>
            </p:nvSpPr>
            <p:spPr>
              <a:xfrm>
                <a:off x="8610874" y="808426"/>
                <a:ext cx="4839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C1E3B49A-9101-A94D-78E6-B79C29841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874" y="808426"/>
                <a:ext cx="483915" cy="276999"/>
              </a:xfrm>
              <a:prstGeom prst="rect">
                <a:avLst/>
              </a:prstGeom>
              <a:blipFill>
                <a:blip r:embed="rId11"/>
                <a:stretch>
                  <a:fillRect l="-6329" t="-2222" r="-16456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75913AA2-B7E8-B98F-2195-10B0ED3A02F2}"/>
                  </a:ext>
                </a:extLst>
              </p:cNvPr>
              <p:cNvSpPr txBox="1"/>
              <p:nvPr/>
            </p:nvSpPr>
            <p:spPr>
              <a:xfrm>
                <a:off x="11451176" y="1834386"/>
                <a:ext cx="161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75913AA2-B7E8-B98F-2195-10B0ED3A0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1176" y="1834386"/>
                <a:ext cx="161133" cy="276999"/>
              </a:xfrm>
              <a:prstGeom prst="rect">
                <a:avLst/>
              </a:prstGeom>
              <a:blipFill>
                <a:blip r:embed="rId12"/>
                <a:stretch>
                  <a:fillRect l="-25926" r="-22222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2A0F2CDF-5ABA-EB24-1947-1C493ABB665E}"/>
                  </a:ext>
                </a:extLst>
              </p:cNvPr>
              <p:cNvSpPr txBox="1"/>
              <p:nvPr/>
            </p:nvSpPr>
            <p:spPr>
              <a:xfrm>
                <a:off x="8137808" y="1876280"/>
                <a:ext cx="3479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2A0F2CDF-5ABA-EB24-1947-1C493ABB6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808" y="1876280"/>
                <a:ext cx="347979" cy="276999"/>
              </a:xfrm>
              <a:prstGeom prst="rect">
                <a:avLst/>
              </a:prstGeom>
              <a:blipFill>
                <a:blip r:embed="rId13"/>
                <a:stretch>
                  <a:fillRect l="-3509" r="-7018" b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A356D38E-846A-D0C5-3599-728F5787D33F}"/>
                  </a:ext>
                </a:extLst>
              </p:cNvPr>
              <p:cNvSpPr txBox="1"/>
              <p:nvPr/>
            </p:nvSpPr>
            <p:spPr>
              <a:xfrm>
                <a:off x="8764355" y="1906076"/>
                <a:ext cx="17152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A356D38E-846A-D0C5-3599-728F5787D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355" y="1906076"/>
                <a:ext cx="171521" cy="246221"/>
              </a:xfrm>
              <a:prstGeom prst="rect">
                <a:avLst/>
              </a:prstGeom>
              <a:blipFill>
                <a:blip r:embed="rId14"/>
                <a:stretch>
                  <a:fillRect l="-25000" r="-21429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kstvak 16">
                <a:extLst>
                  <a:ext uri="{FF2B5EF4-FFF2-40B4-BE49-F238E27FC236}">
                    <a16:creationId xmlns:a16="http://schemas.microsoft.com/office/drawing/2014/main" id="{A544DE0A-6116-A7CB-5ECE-95B4C5A819EB}"/>
                  </a:ext>
                </a:extLst>
              </p:cNvPr>
              <p:cNvSpPr txBox="1"/>
              <p:nvPr/>
            </p:nvSpPr>
            <p:spPr>
              <a:xfrm>
                <a:off x="10252090" y="1876905"/>
                <a:ext cx="6405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kstvak 16">
                <a:extLst>
                  <a:ext uri="{FF2B5EF4-FFF2-40B4-BE49-F238E27FC236}">
                    <a16:creationId xmlns:a16="http://schemas.microsoft.com/office/drawing/2014/main" id="{A544DE0A-6116-A7CB-5ECE-95B4C5A81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090" y="1876905"/>
                <a:ext cx="640560" cy="276999"/>
              </a:xfrm>
              <a:prstGeom prst="rect">
                <a:avLst/>
              </a:prstGeom>
              <a:blipFill>
                <a:blip r:embed="rId15"/>
                <a:stretch>
                  <a:fillRect l="-6667" r="-2857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14E94CBE-7414-91B7-277B-E6FFE617FF34}"/>
                  </a:ext>
                </a:extLst>
              </p:cNvPr>
              <p:cNvSpPr txBox="1"/>
              <p:nvPr/>
            </p:nvSpPr>
            <p:spPr>
              <a:xfrm>
                <a:off x="10993277" y="1830738"/>
                <a:ext cx="2980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14E94CBE-7414-91B7-277B-E6FFE617F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3277" y="1830738"/>
                <a:ext cx="298087" cy="369332"/>
              </a:xfrm>
              <a:prstGeom prst="rect">
                <a:avLst/>
              </a:prstGeom>
              <a:blipFill>
                <a:blip r:embed="rId16"/>
                <a:stretch>
                  <a:fillRect r="-8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50013CE5-E454-759D-CF05-FEA8DB5777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43147" y="4103733"/>
                <a:ext cx="627031" cy="30284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nl-BE" sz="1400" baseline="-25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50013CE5-E454-759D-CF05-FEA8DB577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43147" y="4103733"/>
                <a:ext cx="627031" cy="30284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474EA1E-E946-18B4-B335-2579B8F9E962}"/>
                  </a:ext>
                </a:extLst>
              </p:cNvPr>
              <p:cNvSpPr txBox="1"/>
              <p:nvPr/>
            </p:nvSpPr>
            <p:spPr>
              <a:xfrm>
                <a:off x="9381279" y="4468422"/>
                <a:ext cx="3479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C474EA1E-E946-18B4-B335-2579B8F9E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1279" y="4468422"/>
                <a:ext cx="347979" cy="276999"/>
              </a:xfrm>
              <a:prstGeom prst="rect">
                <a:avLst/>
              </a:prstGeom>
              <a:blipFill>
                <a:blip r:embed="rId18"/>
                <a:stretch>
                  <a:fillRect l="-3509" r="-7018" b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5DE95E25-6733-C991-1DB5-50E164FAFBEA}"/>
                  </a:ext>
                </a:extLst>
              </p:cNvPr>
              <p:cNvSpPr txBox="1"/>
              <p:nvPr/>
            </p:nvSpPr>
            <p:spPr>
              <a:xfrm>
                <a:off x="10266847" y="4496289"/>
                <a:ext cx="17152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5DE95E25-6733-C991-1DB5-50E164FAF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847" y="4496289"/>
                <a:ext cx="171521" cy="246221"/>
              </a:xfrm>
              <a:prstGeom prst="rect">
                <a:avLst/>
              </a:prstGeom>
              <a:blipFill>
                <a:blip r:embed="rId19"/>
                <a:stretch>
                  <a:fillRect l="-21429" r="-25000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4">
                <a:extLst>
                  <a:ext uri="{FF2B5EF4-FFF2-40B4-BE49-F238E27FC236}">
                    <a16:creationId xmlns:a16="http://schemas.microsoft.com/office/drawing/2014/main" id="{3805A94A-1C7C-A236-37AA-1691EBAF29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05639" y="4159880"/>
                <a:ext cx="974177" cy="30284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14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nl-BE" sz="1400" baseline="-25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3" name="Text Box 14">
                <a:extLst>
                  <a:ext uri="{FF2B5EF4-FFF2-40B4-BE49-F238E27FC236}">
                    <a16:creationId xmlns:a16="http://schemas.microsoft.com/office/drawing/2014/main" id="{3805A94A-1C7C-A236-37AA-1691EBAF2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05639" y="4159880"/>
                <a:ext cx="974177" cy="30284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Verbindingslijn: gebogen 24">
            <a:extLst>
              <a:ext uri="{FF2B5EF4-FFF2-40B4-BE49-F238E27FC236}">
                <a16:creationId xmlns:a16="http://schemas.microsoft.com/office/drawing/2014/main" id="{CA5773F5-6A03-9EFF-37F2-CD9E08B82D41}"/>
              </a:ext>
            </a:extLst>
          </p:cNvPr>
          <p:cNvCxnSpPr>
            <a:cxnSpLocks/>
          </p:cNvCxnSpPr>
          <p:nvPr/>
        </p:nvCxnSpPr>
        <p:spPr>
          <a:xfrm rot="5400000">
            <a:off x="9799615" y="2586311"/>
            <a:ext cx="1479280" cy="70679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Verbindingslijn: gebogen 26">
            <a:extLst>
              <a:ext uri="{FF2B5EF4-FFF2-40B4-BE49-F238E27FC236}">
                <a16:creationId xmlns:a16="http://schemas.microsoft.com/office/drawing/2014/main" id="{A8573271-6BF3-0DCF-C002-35B8D3E2F5A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2609" y="2354122"/>
            <a:ext cx="1674915" cy="111838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4">
                <a:extLst>
                  <a:ext uri="{FF2B5EF4-FFF2-40B4-BE49-F238E27FC236}">
                    <a16:creationId xmlns:a16="http://schemas.microsoft.com/office/drawing/2014/main" id="{0E141993-D02F-9314-EF2A-81E1868E3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17780" y="3874624"/>
                <a:ext cx="747897" cy="30284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sz="14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nl-BE" sz="1400" baseline="-25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1" name="Text Box 14">
                <a:extLst>
                  <a:ext uri="{FF2B5EF4-FFF2-40B4-BE49-F238E27FC236}">
                    <a16:creationId xmlns:a16="http://schemas.microsoft.com/office/drawing/2014/main" id="{0E141993-D02F-9314-EF2A-81E1868E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17780" y="3874624"/>
                <a:ext cx="747897" cy="30284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7415A4B9-0646-1A0D-48A5-DC1DED40F572}"/>
                  </a:ext>
                </a:extLst>
              </p:cNvPr>
              <p:cNvSpPr txBox="1"/>
              <p:nvPr/>
            </p:nvSpPr>
            <p:spPr>
              <a:xfrm>
                <a:off x="10706827" y="4468422"/>
                <a:ext cx="2006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7415A4B9-0646-1A0D-48A5-DC1DED40F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6827" y="4468422"/>
                <a:ext cx="200696" cy="276999"/>
              </a:xfrm>
              <a:prstGeom prst="rect">
                <a:avLst/>
              </a:prstGeom>
              <a:blipFill>
                <a:blip r:embed="rId22"/>
                <a:stretch>
                  <a:fillRect l="-24242" r="-2121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ine 21">
            <a:extLst>
              <a:ext uri="{FF2B5EF4-FFF2-40B4-BE49-F238E27FC236}">
                <a16:creationId xmlns:a16="http://schemas.microsoft.com/office/drawing/2014/main" id="{E37E14E7-DB37-5F96-6294-AA2BADA97F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61341" y="3599246"/>
            <a:ext cx="0" cy="86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0488" tIns="44450" rIns="90488" bIns="44450" anchor="ctr"/>
          <a:lstStyle/>
          <a:p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9E37ECA-5E6C-E027-50B6-A9757425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3FB3E98-E01B-2C66-9F17-4112D3AB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4431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6" grpId="0" animBg="1"/>
      <p:bldP spid="51" grpId="0"/>
      <p:bldP spid="46" grpId="0" animBg="1"/>
      <p:bldP spid="3105" grpId="0" animBg="1"/>
      <p:bldP spid="3106" grpId="0" animBg="1"/>
      <p:bldP spid="3107" grpId="0" animBg="1"/>
      <p:bldP spid="3108" grpId="0" animBg="1"/>
      <p:bldP spid="3109" grpId="0" animBg="1"/>
      <p:bldP spid="3114" grpId="0"/>
      <p:bldP spid="3091" grpId="0" animBg="1"/>
      <p:bldP spid="3092" grpId="0" animBg="1"/>
      <p:bldP spid="3093" grpId="0" animBg="1"/>
      <p:bldP spid="3096" grpId="0" animBg="1"/>
      <p:bldP spid="3097" grpId="0" animBg="1"/>
      <p:bldP spid="3100" grpId="0" animBg="1"/>
      <p:bldP spid="3101" grpId="0" animBg="1"/>
      <p:bldP spid="3102" grpId="0" animBg="1"/>
      <p:bldP spid="43" grpId="0" animBg="1"/>
      <p:bldP spid="45" grpId="0" animBg="1"/>
      <p:bldP spid="47" grpId="0" animBg="1"/>
      <p:bldP spid="48" grpId="0" animBg="1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31" grpId="0"/>
      <p:bldP spid="32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70EEB-3709-64CC-9F92-18C74668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173CE681-4B65-7F64-B5EB-AA9CD14CB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47000" y="5183351"/>
            <a:ext cx="5445000" cy="1017984"/>
          </a:xfrm>
        </p:spPr>
        <p:txBody>
          <a:bodyPr/>
          <a:lstStyle/>
          <a:p>
            <a:r>
              <a:rPr lang="en-GB" dirty="0"/>
              <a:t>Linear eigenvalue problem</a:t>
            </a:r>
          </a:p>
          <a:p>
            <a:r>
              <a:rPr lang="en-GB" dirty="0"/>
              <a:t>Infinite dimensional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0686589-C327-8981-8DDF-2EFAFF99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A6B200-CB10-2D9B-314E-65759A6BF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64" y="85763"/>
            <a:ext cx="11041200" cy="887862"/>
          </a:xfrm>
        </p:spPr>
        <p:txBody>
          <a:bodyPr/>
          <a:lstStyle/>
          <a:p>
            <a:r>
              <a:rPr lang="en-GB" dirty="0"/>
              <a:t>Stability Analysis: Spectrum Approximation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E29D6410-BBAF-83AF-B1E3-5BBCB9A83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808627"/>
              </p:ext>
            </p:extLst>
          </p:nvPr>
        </p:nvGraphicFramePr>
        <p:xfrm>
          <a:off x="7476222" y="4312141"/>
          <a:ext cx="2761192" cy="8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968040" imgH="282240" progId="Equation.Ribbit">
                  <p:embed/>
                </p:oleObj>
              </mc:Choice>
              <mc:Fallback>
                <p:oleObj name="Formula" r:id="rId3" imgW="968040" imgH="282240" progId="Equation.Ribbit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E30229F1-1146-17D0-05E4-ED0CE5E778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6222" y="4312141"/>
                        <a:ext cx="2761192" cy="808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082235DA-DB59-4425-9975-A37CD3F51D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448329"/>
              </p:ext>
            </p:extLst>
          </p:nvPr>
        </p:nvGraphicFramePr>
        <p:xfrm>
          <a:off x="6178550" y="1992978"/>
          <a:ext cx="572135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2234160" imgH="255600" progId="Equation.Ribbit">
                  <p:embed/>
                </p:oleObj>
              </mc:Choice>
              <mc:Fallback>
                <p:oleObj name="Formula" r:id="rId5" imgW="2234160" imgH="255600" progId="Equation.Ribbit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05DB2CD5-D80B-325E-5CD3-D0CB1A849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1992978"/>
                        <a:ext cx="5721350" cy="652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770326AF-EF61-E1E3-9514-2E04D2D8819C}"/>
                  </a:ext>
                </a:extLst>
              </p:cNvPr>
              <p:cNvSpPr txBox="1"/>
              <p:nvPr/>
            </p:nvSpPr>
            <p:spPr>
              <a:xfrm>
                <a:off x="719696" y="990182"/>
                <a:ext cx="4991987" cy="830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a:rPr lang="en-GB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770326AF-EF61-E1E3-9514-2E04D2D88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96" y="990182"/>
                <a:ext cx="4991987" cy="830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jdelijke aanduiding voor inhoud 17">
            <a:extLst>
              <a:ext uri="{FF2B5EF4-FFF2-40B4-BE49-F238E27FC236}">
                <a16:creationId xmlns:a16="http://schemas.microsoft.com/office/drawing/2014/main" id="{96828A54-CA8B-7875-6FA2-6933702C7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025" y="5174686"/>
            <a:ext cx="4522683" cy="1046905"/>
          </a:xfrm>
        </p:spPr>
        <p:txBody>
          <a:bodyPr>
            <a:normAutofit/>
          </a:bodyPr>
          <a:lstStyle/>
          <a:p>
            <a:r>
              <a:rPr lang="en-GB" dirty="0"/>
              <a:t>Nonlinear eigenvalue problem</a:t>
            </a:r>
          </a:p>
          <a:p>
            <a:r>
              <a:rPr lang="en-GB" dirty="0"/>
              <a:t>Finite dimensional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AE07F1EB-C12A-4479-29D2-86A22D6D6AAB}"/>
                  </a:ext>
                </a:extLst>
              </p:cNvPr>
              <p:cNvSpPr txBox="1"/>
              <p:nvPr/>
            </p:nvSpPr>
            <p:spPr>
              <a:xfrm>
                <a:off x="599064" y="4167919"/>
                <a:ext cx="4620947" cy="841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GB" sz="24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en-GB" sz="24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GB" sz="24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𝜆𝜃</m:t>
                                  </m:r>
                                </m:sup>
                              </m:sSup>
                            </m:e>
                          </m:nary>
                          <m:r>
                            <a:rPr lang="en-GB" sz="24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4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AE07F1EB-C12A-4479-29D2-86A22D6D6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64" y="4167919"/>
                <a:ext cx="4620947" cy="8414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462CB61E-9812-8BF6-EDA1-5DF9610C76EA}"/>
              </a:ext>
            </a:extLst>
          </p:cNvPr>
          <p:cNvCxnSpPr>
            <a:cxnSpLocks/>
          </p:cNvCxnSpPr>
          <p:nvPr/>
        </p:nvCxnSpPr>
        <p:spPr>
          <a:xfrm>
            <a:off x="2723321" y="2125779"/>
            <a:ext cx="0" cy="166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EAE0F5AA-1C39-BB0D-FB1F-D2B8D9423D30}"/>
                  </a:ext>
                </a:extLst>
              </p:cNvPr>
              <p:cNvSpPr txBox="1"/>
              <p:nvPr/>
            </p:nvSpPr>
            <p:spPr>
              <a:xfrm>
                <a:off x="962302" y="2688928"/>
                <a:ext cx="1643976" cy="3866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EAE0F5AA-1C39-BB0D-FB1F-D2B8D9423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02" y="2688928"/>
                <a:ext cx="1643976" cy="3866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FABBC575-6B42-062F-13C2-97A544E1E647}"/>
              </a:ext>
            </a:extLst>
          </p:cNvPr>
          <p:cNvCxnSpPr>
            <a:cxnSpLocks/>
          </p:cNvCxnSpPr>
          <p:nvPr/>
        </p:nvCxnSpPr>
        <p:spPr>
          <a:xfrm>
            <a:off x="5889812" y="1559859"/>
            <a:ext cx="1909482" cy="433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2B9AEB21-19A2-F062-272A-5B608215003E}"/>
              </a:ext>
            </a:extLst>
          </p:cNvPr>
          <p:cNvCxnSpPr>
            <a:cxnSpLocks/>
          </p:cNvCxnSpPr>
          <p:nvPr/>
        </p:nvCxnSpPr>
        <p:spPr>
          <a:xfrm>
            <a:off x="8425591" y="2882250"/>
            <a:ext cx="0" cy="1285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CF3D1EC-3514-B054-6136-1A8E1530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627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8" grpId="0" build="p"/>
      <p:bldP spid="19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01CB2A2C-B8CE-AFF3-F995-987D9B6F3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870" y="2375299"/>
            <a:ext cx="7680159" cy="332210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Discretize infinitesimal generator</a:t>
            </a:r>
            <a:endParaRPr lang="nl-BE" dirty="0"/>
          </a:p>
          <a:p>
            <a:pPr marL="457200" indent="-457200">
              <a:buAutoNum type="arabicPeriod"/>
            </a:pPr>
            <a:r>
              <a:rPr lang="en-US" dirty="0"/>
              <a:t>compute eigenvalues of resulting matrix</a:t>
            </a:r>
            <a:endParaRPr lang="nl-BE" b="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Get better characteristic root approximations using the nonlinear equation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A35878C-703F-7B9B-6293-221B229D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1E049A6-F945-ABAA-4D21-EA1B16C0B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00" y="68148"/>
            <a:ext cx="11041200" cy="649936"/>
          </a:xfrm>
        </p:spPr>
        <p:txBody>
          <a:bodyPr/>
          <a:lstStyle/>
          <a:p>
            <a:r>
              <a:rPr lang="en-GB" dirty="0"/>
              <a:t>Stability Analysis: Spectrum Approximation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E30229F1-1146-17D0-05E4-ED0CE5E77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043884"/>
              </p:ext>
            </p:extLst>
          </p:nvPr>
        </p:nvGraphicFramePr>
        <p:xfrm>
          <a:off x="3516165" y="3463752"/>
          <a:ext cx="2761192" cy="8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968040" imgH="282240" progId="Equation.Ribbit">
                  <p:embed/>
                </p:oleObj>
              </mc:Choice>
              <mc:Fallback>
                <p:oleObj name="Formula" r:id="rId3" imgW="968040" imgH="282240" progId="Equation.Ribbit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E30229F1-1146-17D0-05E4-ED0CE5E778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165" y="3463752"/>
                        <a:ext cx="2761192" cy="808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vak 11">
                <a:extLst>
                  <a:ext uri="{FF2B5EF4-FFF2-40B4-BE49-F238E27FC236}">
                    <a16:creationId xmlns:a16="http://schemas.microsoft.com/office/drawing/2014/main" id="{A921C8E5-5361-C30B-2FAB-175A8B3A6277}"/>
                  </a:ext>
                </a:extLst>
              </p:cNvPr>
              <p:cNvSpPr txBox="1"/>
              <p:nvPr/>
            </p:nvSpPr>
            <p:spPr>
              <a:xfrm>
                <a:off x="3032949" y="5169790"/>
                <a:ext cx="6096000" cy="933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23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3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23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sz="23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3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3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3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3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GB" sz="23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3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3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en-GB" sz="23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23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𝜆𝜃</m:t>
                                  </m:r>
                                </m:sup>
                              </m:sSup>
                            </m:e>
                          </m:nary>
                          <m:r>
                            <a:rPr lang="en-GB" sz="23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3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nl-BE" sz="23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nl-BE" sz="23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300" dirty="0"/>
              </a:p>
            </p:txBody>
          </p:sp>
        </mc:Choice>
        <mc:Fallback xmlns="">
          <p:sp>
            <p:nvSpPr>
              <p:cNvPr id="12" name="Tekstvak 11">
                <a:extLst>
                  <a:ext uri="{FF2B5EF4-FFF2-40B4-BE49-F238E27FC236}">
                    <a16:creationId xmlns:a16="http://schemas.microsoft.com/office/drawing/2014/main" id="{A921C8E5-5361-C30B-2FAB-175A8B3A6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949" y="5169790"/>
                <a:ext cx="6096000" cy="9337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05DB2CD5-D80B-325E-5CD3-D0CB1A849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068537"/>
              </p:ext>
            </p:extLst>
          </p:nvPr>
        </p:nvGraphicFramePr>
        <p:xfrm>
          <a:off x="5846753" y="754428"/>
          <a:ext cx="5720913" cy="65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2234160" imgH="255600" progId="Equation.Ribbit">
                  <p:embed/>
                </p:oleObj>
              </mc:Choice>
              <mc:Fallback>
                <p:oleObj name="Formula" r:id="rId6" imgW="2234160" imgH="255600" progId="Equation.Ribbit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05DB2CD5-D80B-325E-5CD3-D0CB1A849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53" y="754428"/>
                        <a:ext cx="5720913" cy="652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CCFD0F1D-5483-FF7C-93B0-1EA35231E2A3}"/>
                  </a:ext>
                </a:extLst>
              </p:cNvPr>
              <p:cNvSpPr txBox="1"/>
              <p:nvPr/>
            </p:nvSpPr>
            <p:spPr>
              <a:xfrm>
                <a:off x="6279986" y="3561896"/>
                <a:ext cx="2545332" cy="481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→    </m:t>
                      </m:r>
                      <m:sSub>
                        <m:sSub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CCFD0F1D-5483-FF7C-93B0-1EA35231E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986" y="3561896"/>
                <a:ext cx="2545332" cy="4816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C771BDCD-7F9C-73C8-D7CD-DF5B34F17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4488" y="1393771"/>
            <a:ext cx="6857184" cy="882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DFA5B041-45D0-54C3-7272-0E4B55D2C794}"/>
                  </a:ext>
                </a:extLst>
              </p:cNvPr>
              <p:cNvSpPr txBox="1"/>
              <p:nvPr/>
            </p:nvSpPr>
            <p:spPr>
              <a:xfrm>
                <a:off x="315182" y="887618"/>
                <a:ext cx="4329953" cy="691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BE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a:rPr lang="en-GB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DFA5B041-45D0-54C3-7272-0E4B55D2C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82" y="887618"/>
                <a:ext cx="4329953" cy="69172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8277821D-BDEC-9166-0599-085B6CEC3103}"/>
                  </a:ext>
                </a:extLst>
              </p:cNvPr>
              <p:cNvSpPr txBox="1"/>
              <p:nvPr/>
            </p:nvSpPr>
            <p:spPr>
              <a:xfrm>
                <a:off x="4683680" y="987260"/>
                <a:ext cx="49212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↔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8277821D-BDEC-9166-0599-085B6CEC3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680" y="987260"/>
                <a:ext cx="492121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F64C020F-32C3-18E1-2D9F-2C094985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997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466" y="133381"/>
            <a:ext cx="11041200" cy="706428"/>
          </a:xfrm>
        </p:spPr>
        <p:txBody>
          <a:bodyPr/>
          <a:lstStyle/>
          <a:p>
            <a:r>
              <a:rPr lang="en-US" dirty="0"/>
              <a:t>Spectral discretization</a:t>
            </a:r>
          </a:p>
        </p:txBody>
      </p:sp>
      <p:graphicFrame>
        <p:nvGraphicFramePr>
          <p:cNvPr id="56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396228"/>
              </p:ext>
            </p:extLst>
          </p:nvPr>
        </p:nvGraphicFramePr>
        <p:xfrm>
          <a:off x="522736" y="3634472"/>
          <a:ext cx="4945941" cy="1117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2427120" imgH="509400" progId="Equation.Ribbit">
                  <p:embed/>
                </p:oleObj>
              </mc:Choice>
              <mc:Fallback>
                <p:oleObj name="Formula" r:id="rId3" imgW="2427120" imgH="509400" progId="Equation.Ribbit">
                  <p:embed/>
                  <p:pic>
                    <p:nvPicPr>
                      <p:cNvPr id="56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36" y="3634472"/>
                        <a:ext cx="4945941" cy="1117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488035"/>
              </p:ext>
            </p:extLst>
          </p:nvPr>
        </p:nvGraphicFramePr>
        <p:xfrm>
          <a:off x="6351771" y="3920648"/>
          <a:ext cx="47926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2417040" imgH="170280" progId="Equation.Ribbit">
                  <p:embed/>
                </p:oleObj>
              </mc:Choice>
              <mc:Fallback>
                <p:oleObj name="Formula" r:id="rId5" imgW="2417040" imgH="170280" progId="Equation.Ribbit">
                  <p:embed/>
                  <p:pic>
                    <p:nvPicPr>
                      <p:cNvPr id="57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771" y="3920648"/>
                        <a:ext cx="479266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4766AE29-FE04-1CF7-53E9-5883D15CB3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892412"/>
              </p:ext>
            </p:extLst>
          </p:nvPr>
        </p:nvGraphicFramePr>
        <p:xfrm>
          <a:off x="5846753" y="754428"/>
          <a:ext cx="5720913" cy="65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2234160" imgH="255600" progId="Equation.Ribbit">
                  <p:embed/>
                </p:oleObj>
              </mc:Choice>
              <mc:Fallback>
                <p:oleObj name="Formula" r:id="rId7" imgW="2234160" imgH="255600" progId="Equation.Ribbit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05DB2CD5-D80B-325E-5CD3-D0CB1A849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53" y="754428"/>
                        <a:ext cx="5720913" cy="652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Afbeelding 17">
            <a:extLst>
              <a:ext uri="{FF2B5EF4-FFF2-40B4-BE49-F238E27FC236}">
                <a16:creationId xmlns:a16="http://schemas.microsoft.com/office/drawing/2014/main" id="{2438997D-256B-C5D6-E803-F2E0F3DBEB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4488" y="1393771"/>
            <a:ext cx="6857184" cy="882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E37D2832-7FE3-2753-6161-CE1582776EDC}"/>
                  </a:ext>
                </a:extLst>
              </p:cNvPr>
              <p:cNvSpPr txBox="1"/>
              <p:nvPr/>
            </p:nvSpPr>
            <p:spPr>
              <a:xfrm>
                <a:off x="315182" y="887618"/>
                <a:ext cx="4329953" cy="691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BE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GB" sz="20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a:rPr lang="en-GB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E37D2832-7FE3-2753-6161-CE1582776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82" y="887618"/>
                <a:ext cx="4329953" cy="6917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91D19CD6-7EB2-D310-3036-62EB3E2C1027}"/>
                  </a:ext>
                </a:extLst>
              </p:cNvPr>
              <p:cNvSpPr txBox="1"/>
              <p:nvPr/>
            </p:nvSpPr>
            <p:spPr>
              <a:xfrm>
                <a:off x="4683680" y="987260"/>
                <a:ext cx="49212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↔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91D19CD6-7EB2-D310-3036-62EB3E2C1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680" y="987260"/>
                <a:ext cx="492121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jdelijke aanduiding voor inhoud 1">
                <a:extLst>
                  <a:ext uri="{FF2B5EF4-FFF2-40B4-BE49-F238E27FC236}">
                    <a16:creationId xmlns:a16="http://schemas.microsoft.com/office/drawing/2014/main" id="{7733D8E7-354E-1EB4-74EE-5069D0467C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50497" y="2526514"/>
                <a:ext cx="7286478" cy="392241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GB" dirty="0"/>
                  <a:t>Define a grid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=1,⋯,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GB" dirty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GB" dirty="0"/>
              </a:p>
              <a:p>
                <a:pPr marL="457200" indent="-457200">
                  <a:buAutoNum type="arabicPeriod"/>
                </a:pPr>
                <a:r>
                  <a:rPr lang="en-GB" dirty="0"/>
                  <a:t>Replace                    by discrete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endParaRPr lang="en-GB" dirty="0"/>
              </a:p>
              <a:p>
                <a:pPr marL="457200" indent="-457200">
                  <a:buAutoNum type="arabicPeriod"/>
                </a:pPr>
                <a:endParaRPr lang="en-GB" dirty="0"/>
              </a:p>
              <a:p>
                <a:pPr marL="457200" indent="-457200">
                  <a:buAutoNum type="arabicPeriod"/>
                </a:pPr>
                <a:endParaRPr lang="en-GB" dirty="0"/>
              </a:p>
              <a:p>
                <a:pPr marL="457200" indent="-457200">
                  <a:buAutoNum type="arabicPeriod"/>
                </a:pPr>
                <a:endParaRPr lang="en-GB" dirty="0"/>
              </a:p>
              <a:p>
                <a:pPr marL="457200" indent="-457200">
                  <a:buAutoNum type="arabicPeriod"/>
                </a:pPr>
                <a:r>
                  <a:rPr lang="en-GB" dirty="0"/>
                  <a:t>Compute eigenvalues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:pPr marL="457200" indent="-457200">
                  <a:buAutoNum type="arabicPeriod"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23" name="Tijdelijke aanduiding voor inhoud 1">
                <a:extLst>
                  <a:ext uri="{FF2B5EF4-FFF2-40B4-BE49-F238E27FC236}">
                    <a16:creationId xmlns:a16="http://schemas.microsoft.com/office/drawing/2014/main" id="{7733D8E7-354E-1EB4-74EE-5069D0467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0497" y="2526514"/>
                <a:ext cx="7286478" cy="3922412"/>
              </a:xfrm>
              <a:blipFill>
                <a:blip r:embed="rId12"/>
                <a:stretch>
                  <a:fillRect l="-1088" t="-1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Afbeelding 24">
            <a:extLst>
              <a:ext uri="{FF2B5EF4-FFF2-40B4-BE49-F238E27FC236}">
                <a16:creationId xmlns:a16="http://schemas.microsoft.com/office/drawing/2014/main" id="{4112D62B-85B0-5E4C-0B63-FA37A3210EE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6959" t="1" r="54219" b="11034"/>
          <a:stretch>
            <a:fillRect/>
          </a:stretch>
        </p:blipFill>
        <p:spPr>
          <a:xfrm>
            <a:off x="3975672" y="3106077"/>
            <a:ext cx="1584000" cy="307532"/>
          </a:xfrm>
          <a:prstGeom prst="rect">
            <a:avLst/>
          </a:prstGeom>
        </p:spPr>
      </p:pic>
      <p:grpSp>
        <p:nvGrpSpPr>
          <p:cNvPr id="35" name="Groep 34">
            <a:extLst>
              <a:ext uri="{FF2B5EF4-FFF2-40B4-BE49-F238E27FC236}">
                <a16:creationId xmlns:a16="http://schemas.microsoft.com/office/drawing/2014/main" id="{D6466AAA-65E1-FF03-7983-BCEAEADBB2AA}"/>
              </a:ext>
            </a:extLst>
          </p:cNvPr>
          <p:cNvGrpSpPr/>
          <p:nvPr/>
        </p:nvGrpSpPr>
        <p:grpSpPr>
          <a:xfrm>
            <a:off x="7455337" y="4699943"/>
            <a:ext cx="4572001" cy="1405893"/>
            <a:chOff x="7455337" y="4699943"/>
            <a:chExt cx="4572001" cy="1405893"/>
          </a:xfrm>
        </p:grpSpPr>
        <p:grpSp>
          <p:nvGrpSpPr>
            <p:cNvPr id="67" name="Group 66"/>
            <p:cNvGrpSpPr/>
            <p:nvPr/>
          </p:nvGrpSpPr>
          <p:grpSpPr>
            <a:xfrm>
              <a:off x="7455337" y="4752192"/>
              <a:ext cx="4572001" cy="1353644"/>
              <a:chOff x="2885704" y="3467595"/>
              <a:chExt cx="4572001" cy="1353644"/>
            </a:xfrm>
          </p:grpSpPr>
          <p:cxnSp>
            <p:nvCxnSpPr>
              <p:cNvPr id="10" name="Straight Arrow Connector 9"/>
              <p:cNvCxnSpPr/>
              <p:nvPr/>
            </p:nvCxnSpPr>
            <p:spPr bwMode="auto">
              <a:xfrm flipV="1">
                <a:off x="2885704" y="4488817"/>
                <a:ext cx="4572001" cy="56"/>
              </a:xfrm>
              <a:prstGeom prst="straightConnector1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20" name="Straight Connector 19"/>
              <p:cNvCxnSpPr/>
              <p:nvPr/>
            </p:nvCxnSpPr>
            <p:spPr bwMode="auto">
              <a:xfrm flipH="1">
                <a:off x="6388926" y="3467595"/>
                <a:ext cx="11874" cy="1021278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12700" cap="flat" cmpd="sng" algn="ctr">
                <a:solidFill>
                  <a:schemeClr val="tx1"/>
                </a:solidFill>
                <a:prstDash val="solid"/>
                <a:round/>
                <a:headEnd type="arrow" w="med" len="med"/>
                <a:tailEnd type="none" w="med" len="med"/>
              </a:ln>
              <a:effectLst/>
            </p:spPr>
          </p:cxnSp>
          <p:cxnSp>
            <p:nvCxnSpPr>
              <p:cNvPr id="22" name="Straight Connector 21"/>
              <p:cNvCxnSpPr/>
              <p:nvPr/>
            </p:nvCxnSpPr>
            <p:spPr bwMode="auto">
              <a:xfrm flipH="1">
                <a:off x="3440475" y="3930732"/>
                <a:ext cx="1967" cy="568041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Straight Connector 25"/>
              <p:cNvCxnSpPr>
                <a:endCxn id="45" idx="0"/>
              </p:cNvCxnSpPr>
              <p:nvPr/>
            </p:nvCxnSpPr>
            <p:spPr bwMode="auto">
              <a:xfrm flipV="1">
                <a:off x="3574473" y="3752989"/>
                <a:ext cx="8320" cy="723185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" name="Straight Connector 27"/>
              <p:cNvCxnSpPr>
                <a:endCxn id="41" idx="4"/>
              </p:cNvCxnSpPr>
              <p:nvPr/>
            </p:nvCxnSpPr>
            <p:spPr bwMode="auto">
              <a:xfrm flipV="1">
                <a:off x="4374730" y="3799375"/>
                <a:ext cx="19140" cy="668214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Straight Connector 28"/>
              <p:cNvCxnSpPr>
                <a:endCxn id="42" idx="8"/>
              </p:cNvCxnSpPr>
              <p:nvPr/>
            </p:nvCxnSpPr>
            <p:spPr bwMode="auto">
              <a:xfrm flipV="1">
                <a:off x="5190525" y="4037583"/>
                <a:ext cx="5412" cy="447140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Straight Connector 31"/>
              <p:cNvCxnSpPr>
                <a:endCxn id="42" idx="10"/>
              </p:cNvCxnSpPr>
              <p:nvPr/>
            </p:nvCxnSpPr>
            <p:spPr bwMode="auto">
              <a:xfrm flipH="1" flipV="1">
                <a:off x="5874403" y="4132585"/>
                <a:ext cx="7832" cy="360254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Straight Connector 32"/>
              <p:cNvCxnSpPr/>
              <p:nvPr/>
            </p:nvCxnSpPr>
            <p:spPr bwMode="auto">
              <a:xfrm flipH="1" flipV="1">
                <a:off x="6163294" y="4001984"/>
                <a:ext cx="1966" cy="477006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38"/>
              <p:cNvCxnSpPr>
                <a:endCxn id="42" idx="4"/>
              </p:cNvCxnSpPr>
              <p:nvPr/>
            </p:nvCxnSpPr>
            <p:spPr bwMode="auto">
              <a:xfrm flipV="1">
                <a:off x="3792213" y="3740700"/>
                <a:ext cx="11696" cy="738217"/>
              </a:xfrm>
              <a:prstGeom prst="line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" name="Freeform 41"/>
              <p:cNvSpPr/>
              <p:nvPr/>
            </p:nvSpPr>
            <p:spPr bwMode="auto">
              <a:xfrm>
                <a:off x="3441280" y="3653614"/>
                <a:ext cx="2959520" cy="516577"/>
              </a:xfrm>
              <a:custGeom>
                <a:avLst/>
                <a:gdLst>
                  <a:gd name="connsiteX0" fmla="*/ 0 w 3004457"/>
                  <a:gd name="connsiteY0" fmla="*/ 277091 h 516577"/>
                  <a:gd name="connsiteX1" fmla="*/ 71252 w 3004457"/>
                  <a:gd name="connsiteY1" fmla="*/ 122712 h 516577"/>
                  <a:gd name="connsiteX2" fmla="*/ 178130 w 3004457"/>
                  <a:gd name="connsiteY2" fmla="*/ 146462 h 516577"/>
                  <a:gd name="connsiteX3" fmla="*/ 285008 w 3004457"/>
                  <a:gd name="connsiteY3" fmla="*/ 170213 h 516577"/>
                  <a:gd name="connsiteX4" fmla="*/ 368135 w 3004457"/>
                  <a:gd name="connsiteY4" fmla="*/ 87086 h 516577"/>
                  <a:gd name="connsiteX5" fmla="*/ 688769 w 3004457"/>
                  <a:gd name="connsiteY5" fmla="*/ 3958 h 516577"/>
                  <a:gd name="connsiteX6" fmla="*/ 997527 w 3004457"/>
                  <a:gd name="connsiteY6" fmla="*/ 110836 h 516577"/>
                  <a:gd name="connsiteX7" fmla="*/ 1448789 w 3004457"/>
                  <a:gd name="connsiteY7" fmla="*/ 360218 h 516577"/>
                  <a:gd name="connsiteX8" fmla="*/ 1781299 w 3004457"/>
                  <a:gd name="connsiteY8" fmla="*/ 383969 h 516577"/>
                  <a:gd name="connsiteX9" fmla="*/ 2137558 w 3004457"/>
                  <a:gd name="connsiteY9" fmla="*/ 407719 h 516577"/>
                  <a:gd name="connsiteX10" fmla="*/ 2470067 w 3004457"/>
                  <a:gd name="connsiteY10" fmla="*/ 478971 h 516577"/>
                  <a:gd name="connsiteX11" fmla="*/ 2707574 w 3004457"/>
                  <a:gd name="connsiteY11" fmla="*/ 467096 h 516577"/>
                  <a:gd name="connsiteX12" fmla="*/ 2861953 w 3004457"/>
                  <a:gd name="connsiteY12" fmla="*/ 182088 h 516577"/>
                  <a:gd name="connsiteX13" fmla="*/ 3004457 w 3004457"/>
                  <a:gd name="connsiteY13" fmla="*/ 193964 h 51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04457" h="516577">
                    <a:moveTo>
                      <a:pt x="0" y="277091"/>
                    </a:moveTo>
                    <a:cubicBezTo>
                      <a:pt x="20782" y="210787"/>
                      <a:pt x="41564" y="144483"/>
                      <a:pt x="71252" y="122712"/>
                    </a:cubicBezTo>
                    <a:cubicBezTo>
                      <a:pt x="100940" y="100941"/>
                      <a:pt x="178130" y="146462"/>
                      <a:pt x="178130" y="146462"/>
                    </a:cubicBezTo>
                    <a:cubicBezTo>
                      <a:pt x="213756" y="154379"/>
                      <a:pt x="253341" y="180109"/>
                      <a:pt x="285008" y="170213"/>
                    </a:cubicBezTo>
                    <a:cubicBezTo>
                      <a:pt x="316675" y="160317"/>
                      <a:pt x="300842" y="114795"/>
                      <a:pt x="368135" y="87086"/>
                    </a:cubicBezTo>
                    <a:cubicBezTo>
                      <a:pt x="435428" y="59377"/>
                      <a:pt x="583870" y="0"/>
                      <a:pt x="688769" y="3958"/>
                    </a:cubicBezTo>
                    <a:cubicBezTo>
                      <a:pt x="793668" y="7916"/>
                      <a:pt x="870857" y="51459"/>
                      <a:pt x="997527" y="110836"/>
                    </a:cubicBezTo>
                    <a:cubicBezTo>
                      <a:pt x="1124197" y="170213"/>
                      <a:pt x="1318160" y="314696"/>
                      <a:pt x="1448789" y="360218"/>
                    </a:cubicBezTo>
                    <a:cubicBezTo>
                      <a:pt x="1579418" y="405740"/>
                      <a:pt x="1781299" y="383969"/>
                      <a:pt x="1781299" y="383969"/>
                    </a:cubicBezTo>
                    <a:cubicBezTo>
                      <a:pt x="1896094" y="391886"/>
                      <a:pt x="2022763" y="391885"/>
                      <a:pt x="2137558" y="407719"/>
                    </a:cubicBezTo>
                    <a:cubicBezTo>
                      <a:pt x="2252353" y="423553"/>
                      <a:pt x="2375064" y="469075"/>
                      <a:pt x="2470067" y="478971"/>
                    </a:cubicBezTo>
                    <a:cubicBezTo>
                      <a:pt x="2565070" y="488867"/>
                      <a:pt x="2642260" y="516577"/>
                      <a:pt x="2707574" y="467096"/>
                    </a:cubicBezTo>
                    <a:cubicBezTo>
                      <a:pt x="2772888" y="417615"/>
                      <a:pt x="2812473" y="227610"/>
                      <a:pt x="2861953" y="182088"/>
                    </a:cubicBezTo>
                    <a:cubicBezTo>
                      <a:pt x="2911433" y="136566"/>
                      <a:pt x="2957945" y="165265"/>
                      <a:pt x="3004457" y="193964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3" name="Object 42"/>
                  <p:cNvGraphicFramePr>
                    <a:graphicFrameLocks noChangeAspect="1"/>
                  </p:cNvGraphicFramePr>
                  <p:nvPr/>
                </p:nvGraphicFramePr>
                <p:xfrm>
                  <a:off x="3474481" y="4551364"/>
                  <a:ext cx="166688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14" imgW="83880" imgH="104400" progId="Equation.Ribbit">
                          <p:embed/>
                        </p:oleObj>
                      </mc:Choice>
                      <mc:Fallback>
                        <p:oleObj name="Formula" r:id="rId14" imgW="83880" imgH="104400" progId="Equation.Ribbit">
                          <p:embed/>
                          <p:pic>
                            <p:nvPicPr>
                              <p:cNvPr id="43" name="Object 4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74481" y="4551364"/>
                                <a:ext cx="166688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3" name="Object 42"/>
                  <p:cNvGraphicFramePr>
                    <a:graphicFrameLocks noChangeAspect="1"/>
                  </p:cNvGraphicFramePr>
                  <p:nvPr/>
                </p:nvGraphicFramePr>
                <p:xfrm>
                  <a:off x="3474481" y="4551364"/>
                  <a:ext cx="166688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16" imgW="83880" imgH="104400" progId="Equation.Ribbit">
                          <p:embed/>
                        </p:oleObj>
                      </mc:Choice>
                      <mc:Fallback>
                        <p:oleObj name="Formula" r:id="rId16" imgW="83880" imgH="104400" progId="Equation.Ribbit">
                          <p:embed/>
                          <p:pic>
                            <p:nvPicPr>
                              <p:cNvPr id="43" name="Object 4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74481" y="4551364"/>
                                <a:ext cx="166688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25351" name="Object 7"/>
                  <p:cNvGraphicFramePr>
                    <a:graphicFrameLocks noChangeAspect="1"/>
                  </p:cNvGraphicFramePr>
                  <p:nvPr/>
                </p:nvGraphicFramePr>
                <p:xfrm>
                  <a:off x="3697490" y="4551300"/>
                  <a:ext cx="169862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18" imgW="86400" imgH="104400" progId="Equation.Ribbit">
                          <p:embed/>
                        </p:oleObj>
                      </mc:Choice>
                      <mc:Fallback>
                        <p:oleObj name="Formula" r:id="rId18" imgW="86400" imgH="104400" progId="Equation.Ribbit">
                          <p:embed/>
                          <p:pic>
                            <p:nvPicPr>
                              <p:cNvPr id="825351" name="Object 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97490" y="4551300"/>
                                <a:ext cx="169862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25351" name="Object 7"/>
                  <p:cNvGraphicFramePr>
                    <a:graphicFrameLocks noChangeAspect="1"/>
                  </p:cNvGraphicFramePr>
                  <p:nvPr/>
                </p:nvGraphicFramePr>
                <p:xfrm>
                  <a:off x="3697490" y="4551300"/>
                  <a:ext cx="169862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20" imgW="86400" imgH="104400" progId="Equation.Ribbit">
                          <p:embed/>
                        </p:oleObj>
                      </mc:Choice>
                      <mc:Fallback>
                        <p:oleObj name="Formula" r:id="rId20" imgW="86400" imgH="104400" progId="Equation.Ribbit">
                          <p:embed/>
                          <p:pic>
                            <p:nvPicPr>
                              <p:cNvPr id="825351" name="Object 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97490" y="4551300"/>
                                <a:ext cx="169862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25352" name="Object 8"/>
                  <p:cNvGraphicFramePr>
                    <a:graphicFrameLocks noChangeAspect="1"/>
                  </p:cNvGraphicFramePr>
                  <p:nvPr/>
                </p:nvGraphicFramePr>
                <p:xfrm>
                  <a:off x="6073775" y="4538663"/>
                  <a:ext cx="236538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22" imgW="118440" imgH="104400" progId="Equation.Ribbit">
                          <p:embed/>
                        </p:oleObj>
                      </mc:Choice>
                      <mc:Fallback>
                        <p:oleObj name="Formula" r:id="rId22" imgW="118440" imgH="104400" progId="Equation.Ribbit">
                          <p:embed/>
                          <p:pic>
                            <p:nvPicPr>
                              <p:cNvPr id="825352" name="Object 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073775" y="4538663"/>
                                <a:ext cx="236538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25352" name="Object 8"/>
                  <p:cNvGraphicFramePr>
                    <a:graphicFrameLocks noChangeAspect="1"/>
                  </p:cNvGraphicFramePr>
                  <p:nvPr/>
                </p:nvGraphicFramePr>
                <p:xfrm>
                  <a:off x="6073775" y="4538663"/>
                  <a:ext cx="236538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24" imgW="118440" imgH="104400" progId="Equation.Ribbit">
                          <p:embed/>
                        </p:oleObj>
                      </mc:Choice>
                      <mc:Fallback>
                        <p:oleObj name="Formula" r:id="rId24" imgW="118440" imgH="104400" progId="Equation.Ribbit">
                          <p:embed/>
                          <p:pic>
                            <p:nvPicPr>
                              <p:cNvPr id="825352" name="Object 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073775" y="4538663"/>
                                <a:ext cx="236538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25353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6348225" y="4526088"/>
                  <a:ext cx="804863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26" imgW="405360" imgH="104400" progId="Equation.Ribbit">
                          <p:embed/>
                        </p:oleObj>
                      </mc:Choice>
                      <mc:Fallback>
                        <p:oleObj name="Formula" r:id="rId26" imgW="405360" imgH="104400" progId="Equation.Ribbit">
                          <p:embed/>
                          <p:pic>
                            <p:nvPicPr>
                              <p:cNvPr id="825353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48225" y="4526088"/>
                                <a:ext cx="804863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25353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6348225" y="4526088"/>
                  <a:ext cx="804863" cy="2698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Formula" r:id="rId28" imgW="405360" imgH="104400" progId="Equation.Ribbit">
                          <p:embed/>
                        </p:oleObj>
                      </mc:Choice>
                      <mc:Fallback>
                        <p:oleObj name="Formula" r:id="rId28" imgW="405360" imgH="104400" progId="Equation.Ribbit">
                          <p:embed/>
                          <p:pic>
                            <p:nvPicPr>
                              <p:cNvPr id="825353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48225" y="4526088"/>
                                <a:ext cx="804863" cy="2698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4" name="Object 7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11340372"/>
                    </p:ext>
                  </p:extLst>
                </p:nvPr>
              </p:nvGraphicFramePr>
              <p:xfrm>
                <a:off x="8001089" y="4752721"/>
                <a:ext cx="227013" cy="2016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30" imgW="114480" imgH="101880" progId="Equation.Ribbit">
                        <p:embed/>
                      </p:oleObj>
                    </mc:Choice>
                    <mc:Fallback>
                      <p:oleObj name="Formula" r:id="rId30" imgW="114480" imgH="101880" progId="Equation.Ribbit">
                        <p:embed/>
                        <p:pic>
                          <p:nvPicPr>
                            <p:cNvPr id="74" name="Object 7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001089" y="4752721"/>
                              <a:ext cx="227013" cy="20161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74" name="Object 7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11340372"/>
                    </p:ext>
                  </p:extLst>
                </p:nvPr>
              </p:nvGraphicFramePr>
              <p:xfrm>
                <a:off x="8001089" y="4752721"/>
                <a:ext cx="227013" cy="2016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32" imgW="114480" imgH="101880" progId="Equation.Ribbit">
                        <p:embed/>
                      </p:oleObj>
                    </mc:Choice>
                    <mc:Fallback>
                      <p:oleObj name="Formula" r:id="rId32" imgW="114480" imgH="101880" progId="Equation.Ribbit">
                        <p:embed/>
                        <p:pic>
                          <p:nvPicPr>
                            <p:cNvPr id="74" name="Object 7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001089" y="4752721"/>
                              <a:ext cx="227013" cy="20161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25362" name="Object 1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809881703"/>
                    </p:ext>
                  </p:extLst>
                </p:nvPr>
              </p:nvGraphicFramePr>
              <p:xfrm>
                <a:off x="8247211" y="4699943"/>
                <a:ext cx="233362" cy="2016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34" imgW="117000" imgH="101880" progId="Equation.Ribbit">
                        <p:embed/>
                      </p:oleObj>
                    </mc:Choice>
                    <mc:Fallback>
                      <p:oleObj name="Formula" r:id="rId34" imgW="117000" imgH="101880" progId="Equation.Ribbit">
                        <p:embed/>
                        <p:pic>
                          <p:nvPicPr>
                            <p:cNvPr id="825362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247211" y="4699943"/>
                              <a:ext cx="233362" cy="20161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25362" name="Object 1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809881703"/>
                    </p:ext>
                  </p:extLst>
                </p:nvPr>
              </p:nvGraphicFramePr>
              <p:xfrm>
                <a:off x="8247211" y="4699943"/>
                <a:ext cx="233362" cy="2016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36" imgW="117000" imgH="101880" progId="Equation.Ribbit">
                        <p:embed/>
                      </p:oleObj>
                    </mc:Choice>
                    <mc:Fallback>
                      <p:oleObj name="Formula" r:id="rId36" imgW="117000" imgH="101880" progId="Equation.Ribbit">
                        <p:embed/>
                        <p:pic>
                          <p:nvPicPr>
                            <p:cNvPr id="825362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247211" y="4699943"/>
                              <a:ext cx="233362" cy="20161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25363" name="Object 1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25756239"/>
                    </p:ext>
                  </p:extLst>
                </p:nvPr>
              </p:nvGraphicFramePr>
              <p:xfrm>
                <a:off x="11021592" y="4984106"/>
                <a:ext cx="531813" cy="2016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38" imgW="268200" imgH="101880" progId="Equation.Ribbit">
                        <p:embed/>
                      </p:oleObj>
                    </mc:Choice>
                    <mc:Fallback>
                      <p:oleObj name="Formula" r:id="rId38" imgW="268200" imgH="101880" progId="Equation.Ribbit">
                        <p:embed/>
                        <p:pic>
                          <p:nvPicPr>
                            <p:cNvPr id="825363" name="Object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021592" y="4984106"/>
                              <a:ext cx="531813" cy="2016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25363" name="Object 1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25756239"/>
                    </p:ext>
                  </p:extLst>
                </p:nvPr>
              </p:nvGraphicFramePr>
              <p:xfrm>
                <a:off x="11021592" y="4984106"/>
                <a:ext cx="531813" cy="2016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40" imgW="268200" imgH="101880" progId="Equation.Ribbit">
                        <p:embed/>
                      </p:oleObj>
                    </mc:Choice>
                    <mc:Fallback>
                      <p:oleObj name="Formula" r:id="rId40" imgW="268200" imgH="101880" progId="Equation.Ribbit">
                        <p:embed/>
                        <p:pic>
                          <p:nvPicPr>
                            <p:cNvPr id="825363" name="Object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021592" y="4984106"/>
                              <a:ext cx="531813" cy="2016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25364" name="Object 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11476406"/>
                    </p:ext>
                  </p:extLst>
                </p:nvPr>
              </p:nvGraphicFramePr>
              <p:xfrm>
                <a:off x="10461833" y="5051561"/>
                <a:ext cx="301625" cy="2016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42" imgW="152640" imgH="101880" progId="Equation.Ribbit">
                        <p:embed/>
                      </p:oleObj>
                    </mc:Choice>
                    <mc:Fallback>
                      <p:oleObj name="Formula" r:id="rId42" imgW="152640" imgH="101880" progId="Equation.Ribbit">
                        <p:embed/>
                        <p:pic>
                          <p:nvPicPr>
                            <p:cNvPr id="825364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461833" y="5051561"/>
                              <a:ext cx="301625" cy="2016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25364" name="Object 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11476406"/>
                    </p:ext>
                  </p:extLst>
                </p:nvPr>
              </p:nvGraphicFramePr>
              <p:xfrm>
                <a:off x="10461833" y="5051561"/>
                <a:ext cx="301625" cy="2016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44" imgW="152640" imgH="101880" progId="Equation.Ribbit">
                        <p:embed/>
                      </p:oleObj>
                    </mc:Choice>
                    <mc:Fallback>
                      <p:oleObj name="Formula" r:id="rId44" imgW="152640" imgH="101880" progId="Equation.Ribbit">
                        <p:embed/>
                        <p:pic>
                          <p:nvPicPr>
                            <p:cNvPr id="825364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461833" y="5051561"/>
                              <a:ext cx="301625" cy="2016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2" name="Object 8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09014005"/>
                    </p:ext>
                  </p:extLst>
                </p:nvPr>
              </p:nvGraphicFramePr>
              <p:xfrm>
                <a:off x="9067075" y="5312758"/>
                <a:ext cx="469900" cy="2587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46" imgW="236520" imgH="129600" progId="Equation.Ribbit">
                        <p:embed/>
                      </p:oleObj>
                    </mc:Choice>
                    <mc:Fallback>
                      <p:oleObj name="Formula" r:id="rId46" imgW="236520" imgH="129600" progId="Equation.Ribbit">
                        <p:embed/>
                        <p:pic>
                          <p:nvPicPr>
                            <p:cNvPr id="82" name="Object 8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067075" y="5312758"/>
                              <a:ext cx="469900" cy="2587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2" name="Object 8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09014005"/>
                    </p:ext>
                  </p:extLst>
                </p:nvPr>
              </p:nvGraphicFramePr>
              <p:xfrm>
                <a:off x="9067075" y="5312758"/>
                <a:ext cx="469900" cy="2587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Formula" r:id="rId48" imgW="236520" imgH="129600" progId="Equation.Ribbit">
                        <p:embed/>
                      </p:oleObj>
                    </mc:Choice>
                    <mc:Fallback>
                      <p:oleObj name="Formula" r:id="rId48" imgW="236520" imgH="129600" progId="Equation.Ribbit">
                        <p:embed/>
                        <p:pic>
                          <p:nvPicPr>
                            <p:cNvPr id="82" name="Object 8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067075" y="5312758"/>
                              <a:ext cx="469900" cy="2587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4" name="Oval 3"/>
            <p:cNvSpPr/>
            <p:nvPr/>
          </p:nvSpPr>
          <p:spPr bwMode="auto">
            <a:xfrm>
              <a:off x="10911094" y="5069817"/>
              <a:ext cx="82550" cy="82550"/>
            </a:xfrm>
            <a:prstGeom prst="ellipse">
              <a:avLst/>
            </a:prstGeom>
            <a:gradFill rotWithShape="0">
              <a:gsLst>
                <a:gs pos="0">
                  <a:srgbClr val="0000FF">
                    <a:gamma/>
                    <a:shade val="60000"/>
                    <a:invGamma/>
                  </a:srgbClr>
                </a:gs>
                <a:gs pos="50000">
                  <a:srgbClr val="0000FF"/>
                </a:gs>
                <a:gs pos="100000">
                  <a:srgbClr val="0000FF">
                    <a:gamma/>
                    <a:shade val="60000"/>
                    <a:invGamma/>
                  </a:srgb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10691652" y="5298111"/>
              <a:ext cx="82550" cy="82550"/>
            </a:xfrm>
            <a:prstGeom prst="ellipse">
              <a:avLst/>
            </a:prstGeom>
            <a:gradFill rotWithShape="0">
              <a:gsLst>
                <a:gs pos="0">
                  <a:srgbClr val="0000FF">
                    <a:gamma/>
                    <a:shade val="60000"/>
                    <a:invGamma/>
                  </a:srgbClr>
                </a:gs>
                <a:gs pos="50000">
                  <a:srgbClr val="0000FF"/>
                </a:gs>
                <a:gs pos="100000">
                  <a:srgbClr val="0000FF">
                    <a:gamma/>
                    <a:shade val="60000"/>
                    <a:invGamma/>
                  </a:srgb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>
              <a:off x="10402680" y="5372873"/>
              <a:ext cx="82550" cy="82550"/>
            </a:xfrm>
            <a:prstGeom prst="ellipse">
              <a:avLst/>
            </a:prstGeom>
            <a:gradFill rotWithShape="0">
              <a:gsLst>
                <a:gs pos="0">
                  <a:srgbClr val="0000FF">
                    <a:gamma/>
                    <a:shade val="60000"/>
                    <a:invGamma/>
                  </a:srgbClr>
                </a:gs>
                <a:gs pos="50000">
                  <a:srgbClr val="0000FF"/>
                </a:gs>
                <a:gs pos="100000">
                  <a:srgbClr val="0000FF">
                    <a:gamma/>
                    <a:shade val="60000"/>
                    <a:invGamma/>
                  </a:srgb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9712442" y="5277805"/>
              <a:ext cx="82550" cy="82550"/>
            </a:xfrm>
            <a:prstGeom prst="ellipse">
              <a:avLst/>
            </a:prstGeom>
            <a:gradFill rotWithShape="0">
              <a:gsLst>
                <a:gs pos="0">
                  <a:srgbClr val="0000FF">
                    <a:gamma/>
                    <a:shade val="60000"/>
                    <a:invGamma/>
                  </a:srgbClr>
                </a:gs>
                <a:gs pos="50000">
                  <a:srgbClr val="0000FF"/>
                </a:gs>
                <a:gs pos="100000">
                  <a:srgbClr val="0000FF">
                    <a:gamma/>
                    <a:shade val="60000"/>
                    <a:invGamma/>
                  </a:srgb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8922228" y="5001422"/>
              <a:ext cx="82550" cy="82550"/>
            </a:xfrm>
            <a:prstGeom prst="ellipse">
              <a:avLst/>
            </a:prstGeom>
            <a:gradFill rotWithShape="0">
              <a:gsLst>
                <a:gs pos="0">
                  <a:srgbClr val="0000FF">
                    <a:gamma/>
                    <a:shade val="60000"/>
                    <a:invGamma/>
                  </a:srgbClr>
                </a:gs>
                <a:gs pos="50000">
                  <a:srgbClr val="0000FF"/>
                </a:gs>
                <a:gs pos="100000">
                  <a:srgbClr val="0000FF">
                    <a:gamma/>
                    <a:shade val="60000"/>
                    <a:invGamma/>
                  </a:srgb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8334817" y="5005155"/>
              <a:ext cx="82550" cy="82550"/>
            </a:xfrm>
            <a:prstGeom prst="ellipse">
              <a:avLst/>
            </a:prstGeom>
            <a:gradFill rotWithShape="0">
              <a:gsLst>
                <a:gs pos="0">
                  <a:srgbClr val="0000FF">
                    <a:gamma/>
                    <a:shade val="60000"/>
                    <a:invGamma/>
                  </a:srgbClr>
                </a:gs>
                <a:gs pos="50000">
                  <a:srgbClr val="0000FF"/>
                </a:gs>
                <a:gs pos="100000">
                  <a:srgbClr val="0000FF">
                    <a:gamma/>
                    <a:shade val="60000"/>
                    <a:invGamma/>
                  </a:srgb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45" name="Oval 44"/>
            <p:cNvSpPr/>
            <p:nvPr/>
          </p:nvSpPr>
          <p:spPr bwMode="auto">
            <a:xfrm>
              <a:off x="8111151" y="5037586"/>
              <a:ext cx="82550" cy="82550"/>
            </a:xfrm>
            <a:prstGeom prst="ellipse">
              <a:avLst/>
            </a:prstGeom>
            <a:gradFill rotWithShape="0">
              <a:gsLst>
                <a:gs pos="0">
                  <a:srgbClr val="0000FF">
                    <a:gamma/>
                    <a:shade val="60000"/>
                    <a:invGamma/>
                  </a:srgbClr>
                </a:gs>
                <a:gs pos="50000">
                  <a:srgbClr val="0000FF"/>
                </a:gs>
                <a:gs pos="100000">
                  <a:srgbClr val="0000FF">
                    <a:gamma/>
                    <a:shade val="60000"/>
                    <a:invGamma/>
                  </a:srgb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kstvak 30">
                  <a:extLst>
                    <a:ext uri="{FF2B5EF4-FFF2-40B4-BE49-F238E27FC236}">
                      <a16:creationId xmlns:a16="http://schemas.microsoft.com/office/drawing/2014/main" id="{BA9FA4FC-F6D6-E1EB-107B-AF7DF1158EA2}"/>
                    </a:ext>
                  </a:extLst>
                </p:cNvPr>
                <p:cNvSpPr txBox="1"/>
                <p:nvPr/>
              </p:nvSpPr>
              <p:spPr>
                <a:xfrm>
                  <a:off x="7623154" y="5727158"/>
                  <a:ext cx="4471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GB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kstvak 30">
                  <a:extLst>
                    <a:ext uri="{FF2B5EF4-FFF2-40B4-BE49-F238E27FC236}">
                      <a16:creationId xmlns:a16="http://schemas.microsoft.com/office/drawing/2014/main" id="{BA9FA4FC-F6D6-E1EB-107B-AF7DF1158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3154" y="5727158"/>
                  <a:ext cx="447167" cy="36933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kstvak 33">
            <a:extLst>
              <a:ext uri="{FF2B5EF4-FFF2-40B4-BE49-F238E27FC236}">
                <a16:creationId xmlns:a16="http://schemas.microsoft.com/office/drawing/2014/main" id="{7B3B3546-1BFC-B872-B911-5F2C452FD4F9}"/>
              </a:ext>
            </a:extLst>
          </p:cNvPr>
          <p:cNvSpPr txBox="1"/>
          <p:nvPr/>
        </p:nvSpPr>
        <p:spPr>
          <a:xfrm>
            <a:off x="6948908" y="3912664"/>
            <a:ext cx="291311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Interpolating polynomial 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5874658F-253B-3A5A-EA3A-12A4BFFB8CAD}"/>
                  </a:ext>
                </a:extLst>
              </p:cNvPr>
              <p:cNvSpPr txBox="1"/>
              <p:nvPr/>
            </p:nvSpPr>
            <p:spPr>
              <a:xfrm>
                <a:off x="5685814" y="3820936"/>
                <a:ext cx="45845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5874658F-253B-3A5A-EA3A-12A4BFFB8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814" y="3820936"/>
                <a:ext cx="458459" cy="492443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8BCE7E-E895-E1CD-9F95-524304D3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3FA93D0-7FE7-8A5B-4D41-4BBAD574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8</a:t>
            </a:fld>
            <a:endParaRPr lang="nl-NL" dirty="0"/>
          </a:p>
        </p:txBody>
      </p:sp>
      <p:sp>
        <p:nvSpPr>
          <p:cNvPr id="97" name="Tekstvak 96">
            <a:extLst>
              <a:ext uri="{FF2B5EF4-FFF2-40B4-BE49-F238E27FC236}">
                <a16:creationId xmlns:a16="http://schemas.microsoft.com/office/drawing/2014/main" id="{AC2AD03C-14F5-9AF1-A683-7DE2280838DC}"/>
              </a:ext>
            </a:extLst>
          </p:cNvPr>
          <p:cNvSpPr txBox="1"/>
          <p:nvPr/>
        </p:nvSpPr>
        <p:spPr>
          <a:xfrm>
            <a:off x="1100272" y="6308963"/>
            <a:ext cx="677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Illustration from: </a:t>
            </a:r>
            <a:r>
              <a:rPr lang="en-US" sz="1200" dirty="0" err="1">
                <a:solidFill>
                  <a:schemeClr val="bg1"/>
                </a:solidFill>
              </a:rPr>
              <a:t>Phd</a:t>
            </a:r>
            <a:r>
              <a:rPr lang="en-US" sz="1200" dirty="0">
                <a:solidFill>
                  <a:schemeClr val="bg1"/>
                </a:solidFill>
              </a:rPr>
              <a:t> course on Analysis and Design Methods for Time-Delay Systems, organized by the European Embedded Control Institute (EECI) 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44AE923-E197-656C-8511-4251BE60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Benelux Meeting in Systems and Control 2026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796D74-AF3A-AA35-2B4C-3552D130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9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BC192F4-4A67-78AE-A0E4-0CE204AAA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00" y="-151266"/>
            <a:ext cx="11041200" cy="1152000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7BB2387A-110E-C264-5813-7F79BDCD2C67}"/>
                  </a:ext>
                </a:extLst>
              </p:cNvPr>
              <p:cNvSpPr txBox="1"/>
              <p:nvPr/>
            </p:nvSpPr>
            <p:spPr>
              <a:xfrm>
                <a:off x="360600" y="972145"/>
                <a:ext cx="4973400" cy="5061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nl-BE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nl-B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nl-BE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BE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unc>
                          <m:funcPr>
                            <m:ctrlPr>
                              <a:rPr lang="nl-BE" sz="24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𝜋𝜃</m:t>
                                </m:r>
                              </m:e>
                            </m:d>
                          </m:e>
                        </m:func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nl-B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BE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l-BE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nl-BE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endParaRPr lang="nl-BE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nl-BE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nl-BE" sz="2400" dirty="0"/>
                  <a:t>Characteristic </a:t>
                </a:r>
                <a:r>
                  <a:rPr lang="nl-BE" sz="2400" dirty="0" err="1"/>
                  <a:t>equation</a:t>
                </a:r>
                <a:r>
                  <a:rPr lang="nl-BE" sz="2400" dirty="0"/>
                  <a:t>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lang="nl-B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BE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B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nl-BE" sz="2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unc>
                          <m:funcPr>
                            <m:ctrlPr>
                              <a:rPr lang="nl-BE" sz="24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sz="2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nl-BE" sz="2400" i="1">
                                    <a:latin typeface="Cambria Math" panose="02040503050406030204" pitchFamily="18" charset="0"/>
                                  </a:rPr>
                                  <m:t>𝜋𝜃</m:t>
                                </m:r>
                              </m:e>
                            </m:d>
                          </m:e>
                        </m:func>
                        <m:sSup>
                          <m:sSupPr>
                            <m:ctrlPr>
                              <a:rPr lang="nl-BE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nl-BE" sz="2400" b="0" i="1" smtClean="0">
                                <a:latin typeface="Cambria Math" panose="02040503050406030204" pitchFamily="18" charset="0"/>
                              </a:rPr>
                              <m:t>𝜆𝜃</m:t>
                            </m:r>
                          </m:sup>
                        </m:sSup>
                        <m:r>
                          <a:rPr lang="nl-BE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nl-BE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nl-B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/>
                  <a:t> is a solution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Good approximation around origin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Further away: worse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7BB2387A-110E-C264-5813-7F79BDCD2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00" y="972145"/>
                <a:ext cx="4973400" cy="5061257"/>
              </a:xfrm>
              <a:prstGeom prst="rect">
                <a:avLst/>
              </a:prstGeom>
              <a:blipFill>
                <a:blip r:embed="rId2"/>
                <a:stretch>
                  <a:fillRect l="-3431" r="-2574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kstvak 12">
            <a:extLst>
              <a:ext uri="{FF2B5EF4-FFF2-40B4-BE49-F238E27FC236}">
                <a16:creationId xmlns:a16="http://schemas.microsoft.com/office/drawing/2014/main" id="{38952CB1-F3FE-144B-6D15-5972C1374B07}"/>
              </a:ext>
            </a:extLst>
          </p:cNvPr>
          <p:cNvSpPr txBox="1"/>
          <p:nvPr/>
        </p:nvSpPr>
        <p:spPr>
          <a:xfrm>
            <a:off x="1117562" y="6274739"/>
            <a:ext cx="677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Illustration from: </a:t>
            </a:r>
            <a:r>
              <a:rPr lang="en-US" sz="1200" dirty="0" err="1">
                <a:solidFill>
                  <a:schemeClr val="bg1"/>
                </a:solidFill>
              </a:rPr>
              <a:t>Phd</a:t>
            </a:r>
            <a:r>
              <a:rPr lang="en-US" sz="1200" dirty="0">
                <a:solidFill>
                  <a:schemeClr val="bg1"/>
                </a:solidFill>
              </a:rPr>
              <a:t> course on Analysis and Design Methods for Time-Delay Systems, organized by the European Embedded Control Institute (EECI) </a:t>
            </a:r>
            <a:endParaRPr lang="en-GB" sz="1200" dirty="0">
              <a:solidFill>
                <a:schemeClr val="bg1"/>
              </a:solidFill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30580C02-154A-B9F6-B4B2-6C06E61C2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600" y="195776"/>
            <a:ext cx="5732241" cy="5778782"/>
          </a:xfrm>
          <a:prstGeom prst="rect">
            <a:avLst/>
          </a:prstGeom>
        </p:spPr>
      </p:pic>
      <p:grpSp>
        <p:nvGrpSpPr>
          <p:cNvPr id="2" name="Group 12">
            <a:extLst>
              <a:ext uri="{FF2B5EF4-FFF2-40B4-BE49-F238E27FC236}">
                <a16:creationId xmlns:a16="http://schemas.microsoft.com/office/drawing/2014/main" id="{09875C98-529B-F2FF-3FBE-6B104D1E2899}"/>
              </a:ext>
            </a:extLst>
          </p:cNvPr>
          <p:cNvGrpSpPr/>
          <p:nvPr/>
        </p:nvGrpSpPr>
        <p:grpSpPr>
          <a:xfrm>
            <a:off x="5661891" y="89227"/>
            <a:ext cx="6467954" cy="6088404"/>
            <a:chOff x="1662394" y="709915"/>
            <a:chExt cx="4355229" cy="3183937"/>
          </a:xfrm>
        </p:grpSpPr>
        <p:grpSp>
          <p:nvGrpSpPr>
            <p:cNvPr id="6" name="Group 20">
              <a:extLst>
                <a:ext uri="{FF2B5EF4-FFF2-40B4-BE49-F238E27FC236}">
                  <a16:creationId xmlns:a16="http://schemas.microsoft.com/office/drawing/2014/main" id="{12FDFAC5-0332-57A8-F468-A830459A173A}"/>
                </a:ext>
              </a:extLst>
            </p:cNvPr>
            <p:cNvGrpSpPr/>
            <p:nvPr/>
          </p:nvGrpSpPr>
          <p:grpSpPr>
            <a:xfrm>
              <a:off x="1662394" y="709915"/>
              <a:ext cx="4355229" cy="3183937"/>
              <a:chOff x="1736822" y="592956"/>
              <a:chExt cx="4355230" cy="3183937"/>
            </a:xfrm>
          </p:grpSpPr>
          <p:pic>
            <p:nvPicPr>
              <p:cNvPr id="10" name="Picture 2" descr="slideroot2.png">
                <a:extLst>
                  <a:ext uri="{FF2B5EF4-FFF2-40B4-BE49-F238E27FC236}">
                    <a16:creationId xmlns:a16="http://schemas.microsoft.com/office/drawing/2014/main" id="{B1620C22-FA4F-5E8C-F407-C82730A7B3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36822" y="592956"/>
                <a:ext cx="4355230" cy="3183937"/>
              </a:xfrm>
              <a:prstGeom prst="rect">
                <a:avLst/>
              </a:prstGeom>
            </p:spPr>
          </p:pic>
          <p:cxnSp>
            <p:nvCxnSpPr>
              <p:cNvPr id="11" name="Straight Arrow Connector 6">
                <a:extLst>
                  <a:ext uri="{FF2B5EF4-FFF2-40B4-BE49-F238E27FC236}">
                    <a16:creationId xmlns:a16="http://schemas.microsoft.com/office/drawing/2014/main" id="{DBB60C9B-7D9A-E341-13F3-E851264CFE5D}"/>
                  </a:ext>
                </a:extLst>
              </p:cNvPr>
              <p:cNvCxnSpPr/>
              <p:nvPr/>
            </p:nvCxnSpPr>
            <p:spPr bwMode="auto">
              <a:xfrm flipH="1" flipV="1">
                <a:off x="3811980" y="1341914"/>
                <a:ext cx="1491540" cy="779494"/>
              </a:xfrm>
              <a:prstGeom prst="straightConnector1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rgbClr val="0000CC"/>
                </a:solidFill>
                <a:prstDash val="solid"/>
                <a:round/>
                <a:headEnd type="arrow" w="med" len="med"/>
                <a:tailEnd type="arrow" w="med" len="med"/>
              </a:ln>
              <a:effectLst/>
            </p:spPr>
          </p:cxnSp>
          <p:graphicFrame>
            <p:nvGraphicFramePr>
              <p:cNvPr id="12" name="Object 11">
                <a:extLst>
                  <a:ext uri="{FF2B5EF4-FFF2-40B4-BE49-F238E27FC236}">
                    <a16:creationId xmlns:a16="http://schemas.microsoft.com/office/drawing/2014/main" id="{395757D5-9872-2DD6-972C-937F048786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24668" y="1512684"/>
              <a:ext cx="46037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Formula" r:id="rId5" imgW="231480" imgH="128520" progId="Equation.Ribbit">
                      <p:embed/>
                    </p:oleObj>
                  </mc:Choice>
                  <mc:Fallback>
                    <p:oleObj name="Formula" r:id="rId5" imgW="231480" imgH="128520" progId="Equation.Ribbit">
                      <p:embed/>
                      <p:pic>
                        <p:nvPicPr>
                          <p:cNvPr id="15" name="Object 14">
                            <a:extLst>
                              <a:ext uri="{FF2B5EF4-FFF2-40B4-BE49-F238E27FC236}">
                                <a16:creationId xmlns:a16="http://schemas.microsoft.com/office/drawing/2014/main" id="{6E8CC490-6634-05C8-96B2-7B46BB07AB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4668" y="1512684"/>
                            <a:ext cx="46037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" name="Flowchart: Delay 11">
              <a:extLst>
                <a:ext uri="{FF2B5EF4-FFF2-40B4-BE49-F238E27FC236}">
                  <a16:creationId xmlns:a16="http://schemas.microsoft.com/office/drawing/2014/main" id="{E7486CEF-1D54-5233-F033-314C8DC52BBB}"/>
                </a:ext>
              </a:extLst>
            </p:cNvPr>
            <p:cNvSpPr/>
            <p:nvPr/>
          </p:nvSpPr>
          <p:spPr bwMode="auto">
            <a:xfrm rot="10800000">
              <a:off x="3423679" y="956929"/>
              <a:ext cx="2169041" cy="2583712"/>
            </a:xfrm>
            <a:prstGeom prst="flowChartDelay">
              <a:avLst/>
            </a:prstGeom>
            <a:solidFill>
              <a:srgbClr val="808080">
                <a:alpha val="20000"/>
              </a:srgbClr>
            </a:solidFill>
            <a:ln w="9525" cap="flat" cmpd="sng" algn="ctr">
              <a:solidFill>
                <a:schemeClr val="bg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000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37C6B584-695C-5060-888E-56E59D057F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8439" y="751914"/>
                <a:ext cx="11041200" cy="288160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Optimizing stability for all sorts of controllers </a:t>
                </a:r>
              </a:p>
              <a:p>
                <a:r>
                  <a:rPr lang="en-GB" dirty="0"/>
                  <a:t>Not only distributed delay to be controlled</a:t>
                </a:r>
              </a:p>
              <a:p>
                <a:pPr lvl="1"/>
                <a:r>
                  <a:rPr lang="nl-BE" b="0" dirty="0" err="1"/>
                  <a:t>Include</a:t>
                </a:r>
                <a:r>
                  <a:rPr lang="nl-BE" b="0" dirty="0"/>
                  <a:t> </a:t>
                </a:r>
                <a:r>
                  <a:rPr lang="nl-BE" b="0" dirty="0" err="1"/>
                  <a:t>distribute</a:t>
                </a:r>
                <a:r>
                  <a:rPr lang="nl-BE" dirty="0" err="1"/>
                  <a:t>d</a:t>
                </a:r>
                <a:r>
                  <a:rPr lang="nl-BE" dirty="0"/>
                  <a:t> delay</a:t>
                </a:r>
                <a:r>
                  <a:rPr lang="nl-BE" b="0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GB" dirty="0"/>
                  <a:t> in the controller</a:t>
                </a:r>
              </a:p>
              <a:p>
                <a:pPr lvl="1"/>
                <a:r>
                  <a:rPr lang="en-GB" dirty="0"/>
                  <a:t>Use of natural state</a:t>
                </a:r>
              </a:p>
              <a:p>
                <a:r>
                  <a:rPr lang="nl-BE" b="0" dirty="0"/>
                  <a:t>Direct </a:t>
                </a:r>
                <a:r>
                  <a:rPr lang="nl-BE" b="0" dirty="0" err="1"/>
                  <a:t>optimization</a:t>
                </a:r>
                <a:r>
                  <a:rPr lang="nl-BE" b="0" dirty="0"/>
                  <a:t> approach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37C6B584-695C-5060-888E-56E59D057F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8439" y="751914"/>
                <a:ext cx="11041200" cy="2881608"/>
              </a:xfrm>
              <a:blipFill>
                <a:blip r:embed="rId3"/>
                <a:stretch>
                  <a:fillRect l="-773" t="-14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CB1D2D-40C1-3976-6CCC-E9027565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Benelux Meeting in Systems and Control 2026</a:t>
            </a:r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9EEC3C4-658D-1CEB-F4C5-3B3E520C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-12635"/>
            <a:ext cx="11041200" cy="842459"/>
          </a:xfrm>
        </p:spPr>
        <p:txBody>
          <a:bodyPr>
            <a:normAutofit/>
          </a:bodyPr>
          <a:lstStyle/>
          <a:p>
            <a:r>
              <a:rPr lang="en-GB" dirty="0"/>
              <a:t>Stabilization by output feedback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F6870B66-F44B-34EB-0D78-76848F3C65B6}"/>
              </a:ext>
            </a:extLst>
          </p:cNvPr>
          <p:cNvGrpSpPr/>
          <p:nvPr/>
        </p:nvGrpSpPr>
        <p:grpSpPr>
          <a:xfrm>
            <a:off x="9569959" y="1242105"/>
            <a:ext cx="2148374" cy="1203963"/>
            <a:chOff x="7226141" y="2365895"/>
            <a:chExt cx="2148374" cy="1203963"/>
          </a:xfrm>
        </p:grpSpPr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CF2CCAC3-10B6-2E44-BD8A-A3D862DF3E6F}"/>
                </a:ext>
              </a:extLst>
            </p:cNvPr>
            <p:cNvGrpSpPr/>
            <p:nvPr/>
          </p:nvGrpSpPr>
          <p:grpSpPr>
            <a:xfrm>
              <a:off x="7226141" y="2476537"/>
              <a:ext cx="2148374" cy="905960"/>
              <a:chOff x="9741938" y="2443494"/>
              <a:chExt cx="2148374" cy="9059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hthoek: afgeronde hoeken 21">
                    <a:extLst>
                      <a:ext uri="{FF2B5EF4-FFF2-40B4-BE49-F238E27FC236}">
                        <a16:creationId xmlns:a16="http://schemas.microsoft.com/office/drawing/2014/main" id="{98D33249-6186-4C55-DA27-4CC362DF07FD}"/>
                      </a:ext>
                    </a:extLst>
                  </p:cNvPr>
                  <p:cNvSpPr/>
                  <p:nvPr/>
                </p:nvSpPr>
                <p:spPr>
                  <a:xfrm>
                    <a:off x="10615126" y="2443494"/>
                    <a:ext cx="381000" cy="379652"/>
                  </a:xfrm>
                  <a:prstGeom prst="round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  <a:r>
                      <a:rPr lang="en-GB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" name="Rechthoek: afgeronde hoeken 13">
                    <a:extLst>
                      <a:ext uri="{FF2B5EF4-FFF2-40B4-BE49-F238E27FC236}">
                        <a16:creationId xmlns:a16="http://schemas.microsoft.com/office/drawing/2014/main" id="{F185FA14-41C7-3F43-EA27-99ECD6AF1E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5126" y="2443494"/>
                    <a:ext cx="381000" cy="379652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hthoek: afgeronde hoeken 22">
                    <a:extLst>
                      <a:ext uri="{FF2B5EF4-FFF2-40B4-BE49-F238E27FC236}">
                        <a16:creationId xmlns:a16="http://schemas.microsoft.com/office/drawing/2014/main" id="{4EA47248-D4F4-9944-8A18-146A093BEC83}"/>
                      </a:ext>
                    </a:extLst>
                  </p:cNvPr>
                  <p:cNvSpPr/>
                  <p:nvPr/>
                </p:nvSpPr>
                <p:spPr>
                  <a:xfrm>
                    <a:off x="10615126" y="2976651"/>
                    <a:ext cx="381000" cy="372803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nl-BE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a14:m>
                    <a:r>
                      <a:rPr lang="en-GB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5" name="Rechthoek: afgeronde hoeken 14">
                    <a:extLst>
                      <a:ext uri="{FF2B5EF4-FFF2-40B4-BE49-F238E27FC236}">
                        <a16:creationId xmlns:a16="http://schemas.microsoft.com/office/drawing/2014/main" id="{6C353A4A-F251-6CFF-7615-FB2ED9823D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5126" y="2976651"/>
                    <a:ext cx="381000" cy="372803"/>
                  </a:xfrm>
                  <a:prstGeom prst="round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Verbindingslijn: gebogen 23">
                <a:extLst>
                  <a:ext uri="{FF2B5EF4-FFF2-40B4-BE49-F238E27FC236}">
                    <a16:creationId xmlns:a16="http://schemas.microsoft.com/office/drawing/2014/main" id="{275DA1F5-58B6-BE64-5CB1-3FC620E370F0}"/>
                  </a:ext>
                </a:extLst>
              </p:cNvPr>
              <p:cNvCxnSpPr>
                <a:cxnSpLocks/>
                <a:stCxn id="22" idx="3"/>
                <a:endCxn id="23" idx="3"/>
              </p:cNvCxnSpPr>
              <p:nvPr/>
            </p:nvCxnSpPr>
            <p:spPr>
              <a:xfrm>
                <a:off x="10996126" y="2633320"/>
                <a:ext cx="12700" cy="529733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Verbindingslijn: gebogen 25">
                <a:extLst>
                  <a:ext uri="{FF2B5EF4-FFF2-40B4-BE49-F238E27FC236}">
                    <a16:creationId xmlns:a16="http://schemas.microsoft.com/office/drawing/2014/main" id="{2C7CA45C-1A83-2695-E382-DD9E50AE5214}"/>
                  </a:ext>
                </a:extLst>
              </p:cNvPr>
              <p:cNvCxnSpPr>
                <a:cxnSpLocks/>
                <a:stCxn id="23" idx="1"/>
                <a:endCxn id="22" idx="1"/>
              </p:cNvCxnSpPr>
              <p:nvPr/>
            </p:nvCxnSpPr>
            <p:spPr>
              <a:xfrm rot="10800000">
                <a:off x="10615126" y="2633321"/>
                <a:ext cx="12700" cy="529733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kstvak 27">
                    <a:extLst>
                      <a:ext uri="{FF2B5EF4-FFF2-40B4-BE49-F238E27FC236}">
                        <a16:creationId xmlns:a16="http://schemas.microsoft.com/office/drawing/2014/main" id="{10923BA5-7ABE-3C2F-410E-31647D6BAA99}"/>
                      </a:ext>
                    </a:extLst>
                  </p:cNvPr>
                  <p:cNvSpPr txBox="1"/>
                  <p:nvPr/>
                </p:nvSpPr>
                <p:spPr>
                  <a:xfrm>
                    <a:off x="9741938" y="2709207"/>
                    <a:ext cx="66675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8" name="Tekstvak 17">
                    <a:extLst>
                      <a:ext uri="{FF2B5EF4-FFF2-40B4-BE49-F238E27FC236}">
                        <a16:creationId xmlns:a16="http://schemas.microsoft.com/office/drawing/2014/main" id="{6A15C3EE-9AC6-9D93-B709-A8EA476239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1938" y="2709207"/>
                    <a:ext cx="66675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kstvak 28">
                    <a:extLst>
                      <a:ext uri="{FF2B5EF4-FFF2-40B4-BE49-F238E27FC236}">
                        <a16:creationId xmlns:a16="http://schemas.microsoft.com/office/drawing/2014/main" id="{9DD2479B-27E9-3159-7EF2-2BD01BA2D219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3561" y="2676706"/>
                    <a:ext cx="66675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9" name="Tekstvak 18">
                    <a:extLst>
                      <a:ext uri="{FF2B5EF4-FFF2-40B4-BE49-F238E27FC236}">
                        <a16:creationId xmlns:a16="http://schemas.microsoft.com/office/drawing/2014/main" id="{91A19BF5-0FB9-4994-9566-4E9B7B1FA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3561" y="2676706"/>
                    <a:ext cx="666751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" name="Rechthoek: afgeronde hoeken 19">
              <a:extLst>
                <a:ext uri="{FF2B5EF4-FFF2-40B4-BE49-F238E27FC236}">
                  <a16:creationId xmlns:a16="http://schemas.microsoft.com/office/drawing/2014/main" id="{D266BF51-7F6E-2096-E638-9162DF170095}"/>
                </a:ext>
              </a:extLst>
            </p:cNvPr>
            <p:cNvSpPr/>
            <p:nvPr/>
          </p:nvSpPr>
          <p:spPr>
            <a:xfrm>
              <a:off x="7226141" y="2365895"/>
              <a:ext cx="2148374" cy="1163340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kstvak 20">
                  <a:extLst>
                    <a:ext uri="{FF2B5EF4-FFF2-40B4-BE49-F238E27FC236}">
                      <a16:creationId xmlns:a16="http://schemas.microsoft.com/office/drawing/2014/main" id="{3680E7E4-6579-5188-D973-CD2DF8BE4725}"/>
                    </a:ext>
                  </a:extLst>
                </p:cNvPr>
                <p:cNvSpPr txBox="1"/>
                <p:nvPr/>
              </p:nvSpPr>
              <p:spPr>
                <a:xfrm>
                  <a:off x="8767240" y="3200526"/>
                  <a:ext cx="4359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9" name="Tekstvak 38">
                  <a:extLst>
                    <a:ext uri="{FF2B5EF4-FFF2-40B4-BE49-F238E27FC236}">
                      <a16:creationId xmlns:a16="http://schemas.microsoft.com/office/drawing/2014/main" id="{3651658D-99F0-491E-E76A-E726A4241A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7240" y="3200526"/>
                  <a:ext cx="43595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1" name="Afbeelding 30">
            <a:extLst>
              <a:ext uri="{FF2B5EF4-FFF2-40B4-BE49-F238E27FC236}">
                <a16:creationId xmlns:a16="http://schemas.microsoft.com/office/drawing/2014/main" id="{7F7047C6-F81E-5C92-94C3-9BA74C693A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183" y="3470110"/>
            <a:ext cx="11233774" cy="2313429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D002D33-E289-7241-A5D4-67B96D3FB1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80722" y="3608885"/>
            <a:ext cx="5989703" cy="2301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7BF6C33B-73DE-8EBE-6143-F59E79BFEBD6}"/>
                  </a:ext>
                </a:extLst>
              </p:cNvPr>
              <p:cNvSpPr txBox="1"/>
              <p:nvPr/>
            </p:nvSpPr>
            <p:spPr>
              <a:xfrm>
                <a:off x="9280520" y="5668339"/>
                <a:ext cx="2706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3737FF"/>
                    </a:solidFill>
                  </a:rPr>
                  <a:t>Optimization variables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3737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GB" dirty="0">
                  <a:solidFill>
                    <a:srgbClr val="3737FF"/>
                  </a:solidFill>
                </a:endParaRPr>
              </a:p>
            </p:txBody>
          </p:sp>
        </mc:Choice>
        <mc:Fallback xmlns="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7BF6C33B-73DE-8EBE-6143-F59E79BFE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520" y="5668339"/>
                <a:ext cx="2706254" cy="369332"/>
              </a:xfrm>
              <a:prstGeom prst="rect">
                <a:avLst/>
              </a:prstGeom>
              <a:blipFill>
                <a:blip r:embed="rId15"/>
                <a:stretch>
                  <a:fillRect l="-1802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Afbeelding 13">
            <a:extLst>
              <a:ext uri="{FF2B5EF4-FFF2-40B4-BE49-F238E27FC236}">
                <a16:creationId xmlns:a16="http://schemas.microsoft.com/office/drawing/2014/main" id="{4DCF47D8-E492-1679-6F70-6A97E01604C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01080" y="3562886"/>
            <a:ext cx="7479440" cy="2433883"/>
          </a:xfrm>
          <a:prstGeom prst="rect">
            <a:avLst/>
          </a:prstGeo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99239FF-CC0B-5C3C-A68C-A5C4D263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200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E1DD-4317-DAD0-8367-AE4A6F7A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D70C6C0-6C05-2C88-B0F4-659A12B4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B020302-25A5-32D2-A731-2B4CC8D6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3454"/>
            <a:ext cx="11041200" cy="825636"/>
          </a:xfrm>
        </p:spPr>
        <p:txBody>
          <a:bodyPr>
            <a:normAutofit/>
          </a:bodyPr>
          <a:lstStyle/>
          <a:p>
            <a:r>
              <a:rPr lang="en-GB" dirty="0"/>
              <a:t>Controller Synthesis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E9064E2C-64B0-26FF-1C0E-B06AF3B24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412" y="929982"/>
                <a:ext cx="8487020" cy="5280018"/>
              </a:xfrm>
            </p:spPr>
            <p:txBody>
              <a:bodyPr>
                <a:normAutofit/>
              </a:bodyPr>
              <a:lstStyle/>
              <a:p>
                <a:r>
                  <a:rPr lang="en-GB" b="1" dirty="0"/>
                  <a:t>Optimizing Spectral Abscissa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nl-BE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ℜ</m:t>
                                </m:r>
                                <m:d>
                                  <m:d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nl-B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BE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nl-BE" b="0" i="1" smtClean="0">
                                            <a:latin typeface="Cambria Math" panose="02040503050406030204" pitchFamily="18" charset="0"/>
                                          </a:rPr>
                                          <m:t>𝐶𝐿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 | </m:t>
                                </m:r>
                                <m:sSub>
                                  <m:sSub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𝐶𝐿</m:t>
                                    </m:r>
                                  </m:sub>
                                </m:s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𝛬</m:t>
                                </m:r>
                                <m:d>
                                  <m:d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𝐶𝐿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GB" b="0" dirty="0"/>
              </a:p>
              <a:p>
                <a:pPr lvl="1"/>
                <a:r>
                  <a:rPr lang="en-GB" dirty="0"/>
                  <a:t>Stabilization asap</a:t>
                </a:r>
              </a:p>
              <a:p>
                <a:pPr lvl="1"/>
                <a:r>
                  <a:rPr lang="en-GB" dirty="0"/>
                  <a:t>Often first step in synthesis</a:t>
                </a:r>
              </a:p>
              <a:p>
                <a:pPr lvl="1">
                  <a:spcBef>
                    <a:spcPct val="20000"/>
                  </a:spcBef>
                  <a:buFontTx/>
                  <a:buChar char="•"/>
                </a:pPr>
                <a:r>
                  <a:rPr lang="nl-BE" altLang="nl-BE" dirty="0"/>
                  <a:t>For </a:t>
                </a:r>
                <a14:m>
                  <m:oMath xmlns:m="http://schemas.openxmlformats.org/officeDocument/2006/math">
                    <m:r>
                      <a:rPr lang="en-GB" altLang="nl-B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altLang="nl-BE" i="1">
                        <a:latin typeface="Cambria Math" panose="02040503050406030204" pitchFamily="18" charset="0"/>
                      </a:rPr>
                      <m:t>≫10</m:t>
                    </m:r>
                  </m:oMath>
                </a14:m>
                <a:r>
                  <a:rPr lang="nl-BE" altLang="nl-BE" dirty="0"/>
                  <a:t>, solution </a:t>
                </a:r>
                <a14:m>
                  <m:oMath xmlns:m="http://schemas.openxmlformats.org/officeDocument/2006/math">
                    <m:r>
                      <a:rPr lang="nl-BE" altLang="nl-B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nl-BE" alt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altLang="nl-BE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GB" alt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altLang="nl-B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nl-BE" altLang="nl-BE" dirty="0"/>
                  <a:t> </a:t>
                </a:r>
                <a:r>
                  <a:rPr lang="en-GB" dirty="0"/>
                  <a:t>has </a:t>
                </a:r>
                <a:r>
                  <a:rPr lang="nl-BE" altLang="nl-BE" dirty="0" err="1"/>
                  <a:t>poor</a:t>
                </a:r>
                <a:r>
                  <a:rPr lang="nl-BE" altLang="nl-BE" dirty="0"/>
                  <a:t> </a:t>
                </a:r>
                <a:r>
                  <a:rPr lang="nl-BE" altLang="nl-BE" dirty="0" err="1"/>
                  <a:t>regularity</a:t>
                </a:r>
                <a:endParaRPr lang="nl-BE" altLang="nl-BE" dirty="0"/>
              </a:p>
              <a:p>
                <a:pPr lvl="1">
                  <a:spcBef>
                    <a:spcPct val="20000"/>
                  </a:spcBef>
                  <a:buFontTx/>
                  <a:buChar char="•"/>
                </a:pPr>
                <a:endParaRPr lang="en-GB" dirty="0"/>
              </a:p>
              <a:p>
                <a:r>
                  <a:rPr lang="en-GB" dirty="0"/>
                  <a:t>The objective is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GB" dirty="0"/>
                  <a:t>non-convex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GB" dirty="0"/>
                  <a:t>non-smooth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GB" dirty="0"/>
                  <a:t>Differentiable almost everywhere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GB" dirty="0"/>
                  <a:t>Use of HANSO: variant of BFGS</a:t>
                </a:r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E9064E2C-64B0-26FF-1C0E-B06AF3B24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412" y="929982"/>
                <a:ext cx="8487020" cy="5280018"/>
              </a:xfrm>
              <a:blipFill>
                <a:blip r:embed="rId3"/>
                <a:stretch>
                  <a:fillRect l="-933" t="-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ep 27">
            <a:extLst>
              <a:ext uri="{FF2B5EF4-FFF2-40B4-BE49-F238E27FC236}">
                <a16:creationId xmlns:a16="http://schemas.microsoft.com/office/drawing/2014/main" id="{50396D20-80C3-6F67-AF2E-6A0F9430BBB0}"/>
              </a:ext>
            </a:extLst>
          </p:cNvPr>
          <p:cNvGrpSpPr/>
          <p:nvPr/>
        </p:nvGrpSpPr>
        <p:grpSpPr>
          <a:xfrm>
            <a:off x="8598730" y="1299314"/>
            <a:ext cx="2148374" cy="1203963"/>
            <a:chOff x="9082985" y="929982"/>
            <a:chExt cx="2148374" cy="1203963"/>
          </a:xfrm>
        </p:grpSpPr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82B65182-9558-2E19-5DA3-740D5B327C24}"/>
                </a:ext>
              </a:extLst>
            </p:cNvPr>
            <p:cNvGrpSpPr/>
            <p:nvPr/>
          </p:nvGrpSpPr>
          <p:grpSpPr>
            <a:xfrm>
              <a:off x="9082985" y="1040624"/>
              <a:ext cx="2148374" cy="905960"/>
              <a:chOff x="9741938" y="2443494"/>
              <a:chExt cx="2148374" cy="9059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hthoek: afgeronde hoeken 13">
                    <a:extLst>
                      <a:ext uri="{FF2B5EF4-FFF2-40B4-BE49-F238E27FC236}">
                        <a16:creationId xmlns:a16="http://schemas.microsoft.com/office/drawing/2014/main" id="{F185FA14-41C7-3F43-EA27-99ECD6AF1EA1}"/>
                      </a:ext>
                    </a:extLst>
                  </p:cNvPr>
                  <p:cNvSpPr/>
                  <p:nvPr/>
                </p:nvSpPr>
                <p:spPr>
                  <a:xfrm>
                    <a:off x="10615126" y="2443494"/>
                    <a:ext cx="381000" cy="379652"/>
                  </a:xfrm>
                  <a:prstGeom prst="round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  <a:r>
                      <a:rPr lang="en-GB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" name="Rechthoek: afgeronde hoeken 13">
                    <a:extLst>
                      <a:ext uri="{FF2B5EF4-FFF2-40B4-BE49-F238E27FC236}">
                        <a16:creationId xmlns:a16="http://schemas.microsoft.com/office/drawing/2014/main" id="{F185FA14-41C7-3F43-EA27-99ECD6AF1E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5126" y="2443494"/>
                    <a:ext cx="381000" cy="379652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hthoek: afgeronde hoeken 14">
                    <a:extLst>
                      <a:ext uri="{FF2B5EF4-FFF2-40B4-BE49-F238E27FC236}">
                        <a16:creationId xmlns:a16="http://schemas.microsoft.com/office/drawing/2014/main" id="{6C353A4A-F251-6CFF-7615-FB2ED9823D24}"/>
                      </a:ext>
                    </a:extLst>
                  </p:cNvPr>
                  <p:cNvSpPr/>
                  <p:nvPr/>
                </p:nvSpPr>
                <p:spPr>
                  <a:xfrm>
                    <a:off x="10615126" y="2976651"/>
                    <a:ext cx="381000" cy="372803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nl-BE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a14:m>
                    <a:r>
                      <a:rPr lang="en-GB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5" name="Rechthoek: afgeronde hoeken 14">
                    <a:extLst>
                      <a:ext uri="{FF2B5EF4-FFF2-40B4-BE49-F238E27FC236}">
                        <a16:creationId xmlns:a16="http://schemas.microsoft.com/office/drawing/2014/main" id="{6C353A4A-F251-6CFF-7615-FB2ED9823D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5126" y="2976651"/>
                    <a:ext cx="381000" cy="372803"/>
                  </a:xfrm>
                  <a:prstGeom prst="round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Verbindingslijn: gebogen 15">
                <a:extLst>
                  <a:ext uri="{FF2B5EF4-FFF2-40B4-BE49-F238E27FC236}">
                    <a16:creationId xmlns:a16="http://schemas.microsoft.com/office/drawing/2014/main" id="{7015EB4D-A4BA-C479-410D-C4F646B863D2}"/>
                  </a:ext>
                </a:extLst>
              </p:cNvPr>
              <p:cNvCxnSpPr>
                <a:cxnSpLocks/>
                <a:stCxn id="14" idx="3"/>
                <a:endCxn id="15" idx="3"/>
              </p:cNvCxnSpPr>
              <p:nvPr/>
            </p:nvCxnSpPr>
            <p:spPr>
              <a:xfrm>
                <a:off x="10996126" y="2633320"/>
                <a:ext cx="12700" cy="529733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Verbindingslijn: gebogen 16">
                <a:extLst>
                  <a:ext uri="{FF2B5EF4-FFF2-40B4-BE49-F238E27FC236}">
                    <a16:creationId xmlns:a16="http://schemas.microsoft.com/office/drawing/2014/main" id="{594760FC-2437-D10C-0F66-81310FFDB52D}"/>
                  </a:ext>
                </a:extLst>
              </p:cNvPr>
              <p:cNvCxnSpPr>
                <a:cxnSpLocks/>
                <a:stCxn id="15" idx="1"/>
                <a:endCxn id="14" idx="1"/>
              </p:cNvCxnSpPr>
              <p:nvPr/>
            </p:nvCxnSpPr>
            <p:spPr>
              <a:xfrm rot="10800000">
                <a:off x="10615126" y="2633321"/>
                <a:ext cx="12700" cy="529733"/>
              </a:xfrm>
              <a:prstGeom prst="bentConnector3">
                <a:avLst>
                  <a:gd name="adj1" fmla="val 18000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kstvak 17">
                    <a:extLst>
                      <a:ext uri="{FF2B5EF4-FFF2-40B4-BE49-F238E27FC236}">
                        <a16:creationId xmlns:a16="http://schemas.microsoft.com/office/drawing/2014/main" id="{6A15C3EE-9AC6-9D93-B709-A8EA47623906}"/>
                      </a:ext>
                    </a:extLst>
                  </p:cNvPr>
                  <p:cNvSpPr txBox="1"/>
                  <p:nvPr/>
                </p:nvSpPr>
                <p:spPr>
                  <a:xfrm>
                    <a:off x="9741938" y="2709207"/>
                    <a:ext cx="66675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8" name="Tekstvak 17">
                    <a:extLst>
                      <a:ext uri="{FF2B5EF4-FFF2-40B4-BE49-F238E27FC236}">
                        <a16:creationId xmlns:a16="http://schemas.microsoft.com/office/drawing/2014/main" id="{6A15C3EE-9AC6-9D93-B709-A8EA476239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1938" y="2709207"/>
                    <a:ext cx="66675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kstvak 18">
                    <a:extLst>
                      <a:ext uri="{FF2B5EF4-FFF2-40B4-BE49-F238E27FC236}">
                        <a16:creationId xmlns:a16="http://schemas.microsoft.com/office/drawing/2014/main" id="{91A19BF5-0FB9-4994-9566-4E9B7B1FAD90}"/>
                      </a:ext>
                    </a:extLst>
                  </p:cNvPr>
                  <p:cNvSpPr txBox="1"/>
                  <p:nvPr/>
                </p:nvSpPr>
                <p:spPr>
                  <a:xfrm>
                    <a:off x="11223561" y="2676706"/>
                    <a:ext cx="66675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9" name="Tekstvak 18">
                    <a:extLst>
                      <a:ext uri="{FF2B5EF4-FFF2-40B4-BE49-F238E27FC236}">
                        <a16:creationId xmlns:a16="http://schemas.microsoft.com/office/drawing/2014/main" id="{91A19BF5-0FB9-4994-9566-4E9B7B1FA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23561" y="2676706"/>
                    <a:ext cx="666751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hthoek: afgeronde hoeken 36">
              <a:extLst>
                <a:ext uri="{FF2B5EF4-FFF2-40B4-BE49-F238E27FC236}">
                  <a16:creationId xmlns:a16="http://schemas.microsoft.com/office/drawing/2014/main" id="{EE3B2307-71F5-7D31-084F-6C28301BA8D8}"/>
                </a:ext>
              </a:extLst>
            </p:cNvPr>
            <p:cNvSpPr/>
            <p:nvPr/>
          </p:nvSpPr>
          <p:spPr>
            <a:xfrm>
              <a:off x="9082985" y="929982"/>
              <a:ext cx="2148374" cy="1163340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kstvak 38">
                  <a:extLst>
                    <a:ext uri="{FF2B5EF4-FFF2-40B4-BE49-F238E27FC236}">
                      <a16:creationId xmlns:a16="http://schemas.microsoft.com/office/drawing/2014/main" id="{3651658D-99F0-491E-E76A-E726A4241AB4}"/>
                    </a:ext>
                  </a:extLst>
                </p:cNvPr>
                <p:cNvSpPr txBox="1"/>
                <p:nvPr/>
              </p:nvSpPr>
              <p:spPr>
                <a:xfrm>
                  <a:off x="10624084" y="1764613"/>
                  <a:ext cx="4359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9" name="Tekstvak 38">
                  <a:extLst>
                    <a:ext uri="{FF2B5EF4-FFF2-40B4-BE49-F238E27FC236}">
                      <a16:creationId xmlns:a16="http://schemas.microsoft.com/office/drawing/2014/main" id="{3651658D-99F0-491E-E76A-E726A4241A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4084" y="1764613"/>
                  <a:ext cx="43595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450EE2-D86D-5646-DA09-E3514C09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777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1CFB1E07-69F7-C705-C29D-261BBFD5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984461"/>
            <a:ext cx="11041200" cy="1834273"/>
          </a:xfrm>
        </p:spPr>
        <p:txBody>
          <a:bodyPr/>
          <a:lstStyle/>
          <a:p>
            <a:r>
              <a:rPr lang="nl-BE" dirty="0"/>
              <a:t>It is </a:t>
            </a:r>
            <a:r>
              <a:rPr lang="nl-BE" dirty="0" err="1"/>
              <a:t>possible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shape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delay </a:t>
            </a:r>
            <a:r>
              <a:rPr lang="nl-BE" dirty="0" err="1"/>
              <a:t>distribution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control</a:t>
            </a:r>
          </a:p>
          <a:p>
            <a:pPr lvl="1"/>
            <a:r>
              <a:rPr lang="nl-BE" dirty="0" err="1"/>
              <a:t>Highly</a:t>
            </a:r>
            <a:r>
              <a:rPr lang="nl-BE" dirty="0"/>
              <a:t> </a:t>
            </a:r>
            <a:r>
              <a:rPr lang="nl-BE" dirty="0" err="1"/>
              <a:t>useful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a practical point of view</a:t>
            </a:r>
          </a:p>
          <a:p>
            <a:pPr lvl="1"/>
            <a:r>
              <a:rPr lang="nl-BE" dirty="0"/>
              <a:t>Significant </a:t>
            </a:r>
            <a:r>
              <a:rPr lang="nl-BE" dirty="0" err="1"/>
              <a:t>improvement</a:t>
            </a:r>
            <a:r>
              <a:rPr lang="nl-BE" dirty="0"/>
              <a:t> in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objective</a:t>
            </a:r>
            <a:endParaRPr lang="nl-BE" dirty="0"/>
          </a:p>
          <a:p>
            <a:r>
              <a:rPr lang="nl-BE" dirty="0" err="1"/>
              <a:t>Example</a:t>
            </a:r>
            <a:r>
              <a:rPr lang="nl-BE" dirty="0"/>
              <a:t>: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EF3294F-0928-DBA5-FDDF-F132D0EC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FD94E58-8947-4E16-C4CD-50C0436A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63629"/>
            <a:ext cx="11041200" cy="858522"/>
          </a:xfrm>
        </p:spPr>
        <p:txBody>
          <a:bodyPr/>
          <a:lstStyle/>
          <a:p>
            <a:r>
              <a:rPr lang="nl-BE" dirty="0"/>
              <a:t>Preliminary </a:t>
            </a:r>
            <a:r>
              <a:rPr lang="nl-BE" dirty="0" err="1"/>
              <a:t>results</a:t>
            </a:r>
            <a:r>
              <a:rPr lang="nl-BE" dirty="0"/>
              <a:t>: </a:t>
            </a:r>
            <a:r>
              <a:rPr lang="nl-BE" dirty="0" err="1"/>
              <a:t>spectral</a:t>
            </a:r>
            <a:r>
              <a:rPr lang="nl-BE" dirty="0"/>
              <a:t> </a:t>
            </a:r>
            <a:r>
              <a:rPr lang="nl-BE" dirty="0" err="1"/>
              <a:t>abscissa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1FBEBB3B-9144-43C0-441A-B2484715F91F}"/>
                  </a:ext>
                </a:extLst>
              </p:cNvPr>
              <p:cNvSpPr txBox="1"/>
              <p:nvPr/>
            </p:nvSpPr>
            <p:spPr>
              <a:xfrm>
                <a:off x="486240" y="2972192"/>
                <a:ext cx="11362459" cy="1802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GB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GB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8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GB" sz="28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GB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8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GB" sz="2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nl-BE" sz="2800" b="1" dirty="0"/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1FBEBB3B-9144-43C0-441A-B2484715F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40" y="2972192"/>
                <a:ext cx="11362459" cy="1802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B98D8264-1235-3D05-FE7C-A82930BBCFAB}"/>
                  </a:ext>
                </a:extLst>
              </p:cNvPr>
              <p:cNvSpPr txBox="1"/>
              <p:nvPr/>
            </p:nvSpPr>
            <p:spPr>
              <a:xfrm>
                <a:off x="486240" y="4928259"/>
                <a:ext cx="11362459" cy="11135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nary>
                        <m:nary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b>
                        <m:sup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B98D8264-1235-3D05-FE7C-A82930BBC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40" y="4928259"/>
                <a:ext cx="11362459" cy="11135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5AAE58E-0944-568E-B471-2E3BC0AE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9101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1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FC7228B-5BBB-974A-07A8-3D381192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Benelux Meeting in Systems and Control 2026</a:t>
            </a:r>
            <a:endParaRPr lang="nl-NL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814209F0-6B94-1D46-7EB7-AE4378CFE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322"/>
            <a:ext cx="5902782" cy="5674287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1E2C2A38-523C-A1EA-6819-2B81A459C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9" y="103427"/>
            <a:ext cx="6166000" cy="5926078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0584CF59-0B13-E7D0-0FF0-44E14CDD0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524" y="133369"/>
            <a:ext cx="5453698" cy="5504873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A601FB8B-C48C-ED42-64EE-9526DBA63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29" y="53075"/>
            <a:ext cx="5649832" cy="5702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56F57574-C8B5-BDC8-7851-9CE181E61FBA}"/>
                  </a:ext>
                </a:extLst>
              </p:cNvPr>
              <p:cNvSpPr txBox="1"/>
              <p:nvPr/>
            </p:nvSpPr>
            <p:spPr>
              <a:xfrm>
                <a:off x="8266545" y="5818870"/>
                <a:ext cx="23571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56F57574-C8B5-BDC8-7851-9CE181E61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545" y="5818870"/>
                <a:ext cx="2357120" cy="276999"/>
              </a:xfrm>
              <a:prstGeom prst="rect">
                <a:avLst/>
              </a:prstGeom>
              <a:blipFill>
                <a:blip r:embed="rId6"/>
                <a:stretch>
                  <a:fillRect l="-2584" t="-28889" b="-5111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FE2F4ED-4DD8-7E06-28FB-33AC50CB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870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152C781A-A8C0-11B4-BA87-D0DC69D94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2426" y="1107110"/>
                <a:ext cx="11744324" cy="5102889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Spectrum Analysis of Time-Delay Systems</a:t>
                </a:r>
              </a:p>
              <a:p>
                <a:pPr lvl="1"/>
                <a:r>
                  <a:rPr lang="en-US" dirty="0"/>
                  <a:t>Reliably computing characteristic roots in RHP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b="1" dirty="0"/>
                  <a:t>Spectrum Control of Time-Delay Systems</a:t>
                </a:r>
              </a:p>
              <a:p>
                <a:pPr lvl="1"/>
                <a:r>
                  <a:rPr lang="en-US" dirty="0"/>
                  <a:t>Controller synthesis for plants containing distributed delays</a:t>
                </a:r>
              </a:p>
              <a:p>
                <a:pPr lvl="1"/>
                <a:r>
                  <a:rPr lang="en-US" b="1" dirty="0"/>
                  <a:t>Including shaping the delay distribution</a:t>
                </a:r>
              </a:p>
              <a:p>
                <a:pPr lvl="1"/>
                <a:endParaRPr lang="en-US" b="1" dirty="0"/>
              </a:p>
              <a:p>
                <a:r>
                  <a:rPr lang="en-US" b="1" dirty="0"/>
                  <a:t>Future work</a:t>
                </a:r>
              </a:p>
              <a:p>
                <a:pPr lvl="1"/>
                <a:r>
                  <a:rPr lang="nl-BE" dirty="0"/>
                  <a:t>Develop </a:t>
                </a:r>
                <a:r>
                  <a:rPr lang="nl-BE" dirty="0" err="1"/>
                  <a:t>the</a:t>
                </a:r>
                <a:r>
                  <a:rPr lang="nl-BE" dirty="0"/>
                  <a:t> </a:t>
                </a:r>
                <a:r>
                  <a:rPr lang="nl-BE" dirty="0" err="1"/>
                  <a:t>framework</a:t>
                </a:r>
                <a:r>
                  <a:rPr lang="nl-BE" dirty="0"/>
                  <a:t> </a:t>
                </a:r>
                <a:r>
                  <a:rPr lang="nl-BE" dirty="0" err="1"/>
                  <a:t>for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nl-BE" dirty="0"/>
                  <a:t> control</a:t>
                </a:r>
              </a:p>
            </p:txBody>
          </p:sp>
        </mc:Choice>
        <mc:Fallback xmlns="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152C781A-A8C0-11B4-BA87-D0DC69D94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2426" y="1107110"/>
                <a:ext cx="11744324" cy="5102889"/>
              </a:xfrm>
              <a:blipFill>
                <a:blip r:embed="rId3"/>
                <a:stretch>
                  <a:fillRect l="-727" t="-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AA59CFC-7AB9-B56F-9D60-5352B0189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FD92B33-9F9D-C667-1CDC-D94B9E7F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14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12D3B79-51A7-049D-BBF3-4E3B605E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29075"/>
            <a:ext cx="11041200" cy="978036"/>
          </a:xfrm>
        </p:spPr>
        <p:txBody>
          <a:bodyPr/>
          <a:lstStyle/>
          <a:p>
            <a:r>
              <a:rPr lang="en-GB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89456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7958E78-F84A-B783-17C2-C30EA434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3BA1B56-5E03-112D-BFB5-DF257AC7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Benelux Meeting in Systems and Control 2026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1C51DA-8FC2-6A8E-0E72-BA428E43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453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7B0BD96-EA41-824C-6A8D-9C8DB0F80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040" y="3149138"/>
            <a:ext cx="3149600" cy="2898302"/>
          </a:xfrm>
          <a:prstGeom prst="rect">
            <a:avLst/>
          </a:prstGeom>
        </p:spPr>
      </p:pic>
      <p:pic>
        <p:nvPicPr>
          <p:cNvPr id="13" name="Afbeelding 12" descr="Afbeelding met tekst, lijn, Perceel, diagram&#10;&#10;Door AI gegenereerde inhoud is mogelijk onjuist.">
            <a:extLst>
              <a:ext uri="{FF2B5EF4-FFF2-40B4-BE49-F238E27FC236}">
                <a16:creationId xmlns:a16="http://schemas.microsoft.com/office/drawing/2014/main" id="{1B86C2BA-3A12-22B1-6ECB-B97C4DADA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87" y="2914441"/>
            <a:ext cx="3384005" cy="3195328"/>
          </a:xfrm>
          <a:prstGeom prst="rect">
            <a:avLst/>
          </a:prstGeom>
        </p:spPr>
      </p:pic>
      <p:pic>
        <p:nvPicPr>
          <p:cNvPr id="11" name="Afbeelding 10" descr="Afbeelding met tekst, diagram, Perceel, lijn&#10;&#10;Door AI gegenereerde inhoud is mogelijk onjuist.">
            <a:extLst>
              <a:ext uri="{FF2B5EF4-FFF2-40B4-BE49-F238E27FC236}">
                <a16:creationId xmlns:a16="http://schemas.microsoft.com/office/drawing/2014/main" id="{933DFFE6-B047-90BB-ED36-CF5C9829A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193" y="2953734"/>
            <a:ext cx="3256192" cy="3195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8335E607-1BAE-C8A2-ED14-612FF4194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4380" y="1029033"/>
                <a:ext cx="11403240" cy="4464000"/>
              </a:xfrm>
            </p:spPr>
            <p:txBody>
              <a:bodyPr/>
              <a:lstStyle/>
              <a:p>
                <a:r>
                  <a:rPr lang="en-GB" dirty="0"/>
                  <a:t>Why non-smooth?</a:t>
                </a:r>
              </a:p>
              <a:p>
                <a:pPr lvl="1"/>
                <a:r>
                  <a:rPr lang="en-GB" sz="2000" dirty="0"/>
                  <a:t>Multiple defective roots exhibit non-Lipschitz behaviour</a:t>
                </a:r>
              </a:p>
              <a:p>
                <a:pPr lvl="1"/>
                <a:r>
                  <a:rPr lang="en-GB" sz="2000" dirty="0">
                    <a:sym typeface="Wingdings" panose="05000000000000000000" pitchFamily="2" charset="2"/>
                  </a:rPr>
                  <a:t>Earlier Framework used with caution </a:t>
                </a:r>
              </a:p>
              <a:p>
                <a:pPr lvl="2"/>
                <a:r>
                  <a:rPr lang="en-GB" sz="1600" dirty="0">
                    <a:sym typeface="Wingdings" panose="05000000000000000000" pitchFamily="2" charset="2"/>
                  </a:rPr>
                  <a:t>Newton corrections! </a:t>
                </a:r>
                <a:endParaRPr lang="en-GB" sz="1600" dirty="0"/>
              </a:p>
              <a:p>
                <a:pPr lvl="1"/>
                <a:r>
                  <a:rPr lang="en-GB" sz="2000" dirty="0"/>
                  <a:t>Roots may have the same real part </a:t>
                </a:r>
                <a:r>
                  <a:rPr lang="en-GB" sz="2000" dirty="0">
                    <a:sym typeface="Wingdings" panose="05000000000000000000" pitchFamily="2" charset="2"/>
                  </a:rPr>
                  <a:t></a:t>
                </a:r>
                <a:r>
                  <a:rPr lang="en-GB" sz="2000" dirty="0"/>
                  <a:t> gradient of rightmost root undefined</a:t>
                </a:r>
              </a:p>
              <a:p>
                <a:pPr lvl="1"/>
                <a:r>
                  <a:rPr lang="en-GB" sz="2000" dirty="0"/>
                  <a:t>Often non-smooth in optimum</a:t>
                </a:r>
              </a:p>
              <a:p>
                <a:r>
                  <a:rPr lang="en-GB" dirty="0"/>
                  <a:t>Spectral abscissa </a:t>
                </a:r>
                <a:r>
                  <a:rPr lang="en-GB" sz="2000" dirty="0"/>
                  <a:t>= differentiable almost everywhere</a:t>
                </a:r>
              </a:p>
              <a:p>
                <a:pPr lvl="1"/>
                <a:r>
                  <a:rPr lang="en-GB" sz="2000" dirty="0">
                    <a:sym typeface="Wingdings" panose="05000000000000000000" pitchFamily="2" charset="2"/>
                  </a:rPr>
                  <a:t>assumption used in HANSO</a:t>
                </a:r>
              </a:p>
              <a:p>
                <a:pPr lvl="1"/>
                <a:r>
                  <a:rPr lang="en-GB" sz="2000" dirty="0">
                    <a:sym typeface="Wingdings" panose="05000000000000000000" pitchFamily="2" charset="2"/>
                  </a:rPr>
                  <a:t>Important for all considered controllers</a:t>
                </a:r>
              </a:p>
              <a:p>
                <a:pPr lvl="1"/>
                <a:r>
                  <a:rPr lang="en-GB" sz="2000" dirty="0">
                    <a:sym typeface="Wingdings" panose="05000000000000000000" pitchFamily="2" charset="2"/>
                  </a:rPr>
                  <a:t>Still need to ensure regularity for </a:t>
                </a:r>
                <a14:m>
                  <m:oMath xmlns:m="http://schemas.openxmlformats.org/officeDocument/2006/math">
                    <m:r>
                      <a:rPr lang="nl-BE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d>
                      <m:dPr>
                        <m:ctrlPr>
                          <a:rPr lang="nl-BE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nl-BE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e>
                    </m:d>
                    <m:r>
                      <a:rPr lang="nl-BE" sz="20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!</m:t>
                    </m:r>
                  </m:oMath>
                </a14:m>
                <a:r>
                  <a:rPr lang="en-GB" sz="2000" dirty="0">
                    <a:sym typeface="Wingdings" panose="05000000000000000000" pitchFamily="2" charset="2"/>
                  </a:rPr>
                  <a:t> </a:t>
                </a:r>
              </a:p>
              <a:p>
                <a:pPr lvl="1"/>
                <a:endParaRPr lang="en-GB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8335E607-1BAE-C8A2-ED14-612FF4194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380" y="1029033"/>
                <a:ext cx="11403240" cy="4464000"/>
              </a:xfrm>
              <a:blipFill>
                <a:blip r:embed="rId6"/>
                <a:stretch>
                  <a:fillRect l="-749" t="-9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BB25D5C-41BA-FB33-FFD7-67CB1086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Masterthesis Mathematical Engineering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8A1F1E5-5A9F-A78B-BCAF-69CE5A03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16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F398CD7-3175-43A2-DABB-9E1F9EFB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00" y="153448"/>
            <a:ext cx="11041200" cy="871356"/>
          </a:xfrm>
        </p:spPr>
        <p:txBody>
          <a:bodyPr/>
          <a:lstStyle/>
          <a:p>
            <a:r>
              <a:rPr lang="en-GB" dirty="0"/>
              <a:t>Details on Control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3216E605-65C9-2174-279B-64F1D137A749}"/>
              </a:ext>
            </a:extLst>
          </p:cNvPr>
          <p:cNvSpPr/>
          <p:nvPr/>
        </p:nvSpPr>
        <p:spPr>
          <a:xfrm>
            <a:off x="11026800" y="2953734"/>
            <a:ext cx="650850" cy="522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2D40530-3F60-7381-FA10-BE291420DEC2}"/>
              </a:ext>
            </a:extLst>
          </p:cNvPr>
          <p:cNvSpPr/>
          <p:nvPr/>
        </p:nvSpPr>
        <p:spPr>
          <a:xfrm>
            <a:off x="11434770" y="2859952"/>
            <a:ext cx="650850" cy="522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882ADB03-716F-8519-FEA8-59C65C0275B5}"/>
              </a:ext>
            </a:extLst>
          </p:cNvPr>
          <p:cNvSpPr/>
          <p:nvPr/>
        </p:nvSpPr>
        <p:spPr>
          <a:xfrm>
            <a:off x="8105069" y="4174918"/>
            <a:ext cx="289466" cy="522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23AD374A-544B-9FE4-A6E9-61E6CEF7C880}"/>
              </a:ext>
            </a:extLst>
          </p:cNvPr>
          <p:cNvSpPr/>
          <p:nvPr/>
        </p:nvSpPr>
        <p:spPr>
          <a:xfrm>
            <a:off x="8900160" y="3901440"/>
            <a:ext cx="189834" cy="27347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Afbeelding 8" descr="Afbeelding met tekst, lijn, Perceel, diagram&#10;&#10;Door AI gegenereerde inhoud is mogelijk onjuist.">
            <a:extLst>
              <a:ext uri="{FF2B5EF4-FFF2-40B4-BE49-F238E27FC236}">
                <a16:creationId xmlns:a16="http://schemas.microsoft.com/office/drawing/2014/main" id="{5549BDB6-E5D5-A435-18F8-5AB90FBA1F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292" y="3149138"/>
            <a:ext cx="3926328" cy="2804520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06B8EF82-F08B-548D-5A44-4E3FE6B9FC42}"/>
              </a:ext>
            </a:extLst>
          </p:cNvPr>
          <p:cNvSpPr/>
          <p:nvPr/>
        </p:nvSpPr>
        <p:spPr>
          <a:xfrm>
            <a:off x="8101271" y="4194564"/>
            <a:ext cx="261930" cy="522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388C74A6-CC22-8827-4AEB-A98C0DA7488C}"/>
              </a:ext>
            </a:extLst>
          </p:cNvPr>
          <p:cNvSpPr/>
          <p:nvPr/>
        </p:nvSpPr>
        <p:spPr>
          <a:xfrm>
            <a:off x="11081023" y="2901838"/>
            <a:ext cx="650850" cy="522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Afbeelding 15" descr="Afbeelding met tekst, lijn, Perceel, diagram&#10;&#10;Door AI gegenereerde inhoud is mogelijk onjuist.">
            <a:extLst>
              <a:ext uri="{FF2B5EF4-FFF2-40B4-BE49-F238E27FC236}">
                <a16:creationId xmlns:a16="http://schemas.microsoft.com/office/drawing/2014/main" id="{098A4859-3161-E792-2819-244E55DB5C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574" r="26328" b="88204"/>
          <a:stretch>
            <a:fillRect/>
          </a:stretch>
        </p:blipFill>
        <p:spPr>
          <a:xfrm rot="16200000">
            <a:off x="7679063" y="4425018"/>
            <a:ext cx="1240339" cy="19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4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animBg="1"/>
      <p:bldP spid="8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49DF79-D7BE-2473-C2A6-D52F2226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Masterthesis Mathematical Engineering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87E0C88-E0AF-4489-5B73-6AA07A45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17</a:t>
            </a:fld>
            <a:endParaRPr lang="nl-NL" dirty="0"/>
          </a:p>
        </p:txBody>
      </p:sp>
      <p:sp>
        <p:nvSpPr>
          <p:cNvPr id="19" name="Tijdelijke aanduiding voor inhoud 18">
            <a:extLst>
              <a:ext uri="{FF2B5EF4-FFF2-40B4-BE49-F238E27FC236}">
                <a16:creationId xmlns:a16="http://schemas.microsoft.com/office/drawing/2014/main" id="{CD0503D0-0BB8-CB94-F19A-6DEB2093813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4">
                <a:extLst>
                  <a:ext uri="{FF2B5EF4-FFF2-40B4-BE49-F238E27FC236}">
                    <a16:creationId xmlns:a16="http://schemas.microsoft.com/office/drawing/2014/main" id="{3E38B6C0-78C7-5A73-CB07-F9300AA51D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Choice of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itel 4">
                <a:extLst>
                  <a:ext uri="{FF2B5EF4-FFF2-40B4-BE49-F238E27FC236}">
                    <a16:creationId xmlns:a16="http://schemas.microsoft.com/office/drawing/2014/main" id="{3E38B6C0-78C7-5A73-CB07-F9300AA51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59" b="-31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FC1A9E4B-B423-CA04-4F78-CACEDE189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24" y="702116"/>
            <a:ext cx="5675576" cy="42566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2C9E1D5E-758E-32E1-7C2C-710DDFEB7B8A}"/>
                  </a:ext>
                </a:extLst>
              </p:cNvPr>
              <p:cNvSpPr txBox="1"/>
              <p:nvPr/>
            </p:nvSpPr>
            <p:spPr>
              <a:xfrm>
                <a:off x="6985207" y="-43228"/>
                <a:ext cx="3315901" cy="713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nl-BE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nl-BE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func>
                            <m:funcPr>
                              <m:ctrlPr>
                                <a:rPr lang="nl-BE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sz="1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nl-BE" sz="1800" b="0" i="1" smtClean="0">
                                      <a:latin typeface="Cambria Math" panose="02040503050406030204" pitchFamily="18" charset="0"/>
                                    </a:rPr>
                                    <m:t>𝜋𝜃</m:t>
                                  </m:r>
                                </m:e>
                              </m:d>
                            </m:e>
                          </m:func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nl-B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nl-BE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nl-BE" sz="1800" dirty="0"/>
              </a:p>
            </p:txBody>
          </p:sp>
        </mc:Choice>
        <mc:Fallback xmlns="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2C9E1D5E-758E-32E1-7C2C-710DDFEB7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07" y="-43228"/>
                <a:ext cx="3315901" cy="71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12">
            <a:extLst>
              <a:ext uri="{FF2B5EF4-FFF2-40B4-BE49-F238E27FC236}">
                <a16:creationId xmlns:a16="http://schemas.microsoft.com/office/drawing/2014/main" id="{2475D650-F5AD-47CD-7660-8D3784919768}"/>
              </a:ext>
            </a:extLst>
          </p:cNvPr>
          <p:cNvGrpSpPr/>
          <p:nvPr/>
        </p:nvGrpSpPr>
        <p:grpSpPr>
          <a:xfrm>
            <a:off x="5830188" y="0"/>
            <a:ext cx="6123687" cy="3897313"/>
            <a:chOff x="1662394" y="709915"/>
            <a:chExt cx="4355230" cy="3183937"/>
          </a:xfrm>
        </p:grpSpPr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2B405FB2-3E9A-FDAF-1331-681B2A1EEFED}"/>
                </a:ext>
              </a:extLst>
            </p:cNvPr>
            <p:cNvGrpSpPr/>
            <p:nvPr/>
          </p:nvGrpSpPr>
          <p:grpSpPr>
            <a:xfrm>
              <a:off x="1662394" y="709915"/>
              <a:ext cx="4355230" cy="3183937"/>
              <a:chOff x="1736822" y="592956"/>
              <a:chExt cx="4355230" cy="3183937"/>
            </a:xfrm>
          </p:grpSpPr>
          <p:pic>
            <p:nvPicPr>
              <p:cNvPr id="13" name="Picture 2" descr="slideroot2.png">
                <a:extLst>
                  <a:ext uri="{FF2B5EF4-FFF2-40B4-BE49-F238E27FC236}">
                    <a16:creationId xmlns:a16="http://schemas.microsoft.com/office/drawing/2014/main" id="{7805B6D4-3D3A-2D95-820F-BA92C2E4F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736822" y="592956"/>
                <a:ext cx="4355230" cy="3183937"/>
              </a:xfrm>
              <a:prstGeom prst="rect">
                <a:avLst/>
              </a:prstGeom>
            </p:spPr>
          </p:pic>
          <p:cxnSp>
            <p:nvCxnSpPr>
              <p:cNvPr id="14" name="Straight Arrow Connector 6">
                <a:extLst>
                  <a:ext uri="{FF2B5EF4-FFF2-40B4-BE49-F238E27FC236}">
                    <a16:creationId xmlns:a16="http://schemas.microsoft.com/office/drawing/2014/main" id="{833D3071-C130-2843-4D95-DF96FE328787}"/>
                  </a:ext>
                </a:extLst>
              </p:cNvPr>
              <p:cNvCxnSpPr/>
              <p:nvPr/>
            </p:nvCxnSpPr>
            <p:spPr bwMode="auto">
              <a:xfrm flipH="1" flipV="1">
                <a:off x="3811980" y="1341914"/>
                <a:ext cx="1491540" cy="779494"/>
              </a:xfrm>
              <a:prstGeom prst="straightConnector1">
                <a:avLst/>
              </a:prstGeom>
              <a:gradFill rotWithShape="0">
                <a:gsLst>
                  <a:gs pos="0">
                    <a:srgbClr val="0000FF">
                      <a:gamma/>
                      <a:shade val="60000"/>
                      <a:invGamma/>
                    </a:srgbClr>
                  </a:gs>
                  <a:gs pos="50000">
                    <a:srgbClr val="0000FF"/>
                  </a:gs>
                  <a:gs pos="100000">
                    <a:srgbClr val="0000FF">
                      <a:gamma/>
                      <a:shade val="60000"/>
                      <a:invGamma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rgbClr val="0000CC"/>
                </a:solidFill>
                <a:prstDash val="solid"/>
                <a:round/>
                <a:headEnd type="arrow" w="med" len="med"/>
                <a:tailEnd type="arrow" w="med" len="med"/>
              </a:ln>
              <a:effectLst/>
            </p:spPr>
          </p:cxnSp>
          <p:graphicFrame>
            <p:nvGraphicFramePr>
              <p:cNvPr id="15" name="Object 14">
                <a:extLst>
                  <a:ext uri="{FF2B5EF4-FFF2-40B4-BE49-F238E27FC236}">
                    <a16:creationId xmlns:a16="http://schemas.microsoft.com/office/drawing/2014/main" id="{6E8CC490-6634-05C8-96B2-7B46BB07AB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24668" y="1512684"/>
              <a:ext cx="46037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Formula" r:id="rId7" imgW="231480" imgH="128520" progId="Equation.Ribbit">
                      <p:embed/>
                    </p:oleObj>
                  </mc:Choice>
                  <mc:Fallback>
                    <p:oleObj name="Formula" r:id="rId7" imgW="231480" imgH="128520" progId="Equation.Ribbit">
                      <p:embed/>
                      <p:pic>
                        <p:nvPicPr>
                          <p:cNvPr id="15" name="Object 14">
                            <a:extLst>
                              <a:ext uri="{FF2B5EF4-FFF2-40B4-BE49-F238E27FC236}">
                                <a16:creationId xmlns:a16="http://schemas.microsoft.com/office/drawing/2014/main" id="{6E8CC490-6634-05C8-96B2-7B46BB07AB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4668" y="1512684"/>
                            <a:ext cx="46037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Flowchart: Delay 11">
              <a:extLst>
                <a:ext uri="{FF2B5EF4-FFF2-40B4-BE49-F238E27FC236}">
                  <a16:creationId xmlns:a16="http://schemas.microsoft.com/office/drawing/2014/main" id="{38862CE5-DD31-B715-5787-62865F38C2EB}"/>
                </a:ext>
              </a:extLst>
            </p:cNvPr>
            <p:cNvSpPr/>
            <p:nvPr/>
          </p:nvSpPr>
          <p:spPr bwMode="auto">
            <a:xfrm rot="10800000">
              <a:off x="3423679" y="956929"/>
              <a:ext cx="2169041" cy="2583712"/>
            </a:xfrm>
            <a:prstGeom prst="flowChartDelay">
              <a:avLst/>
            </a:prstGeom>
            <a:solidFill>
              <a:srgbClr val="808080">
                <a:alpha val="20000"/>
              </a:srgbClr>
            </a:solidFill>
            <a:ln w="9525" cap="flat" cmpd="sng" algn="ctr">
              <a:solidFill>
                <a:schemeClr val="bg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A70ECBE5-172E-F24B-3863-BCFFCE5E29D4}"/>
              </a:ext>
            </a:extLst>
          </p:cNvPr>
          <p:cNvSpPr txBox="1"/>
          <p:nvPr/>
        </p:nvSpPr>
        <p:spPr>
          <a:xfrm>
            <a:off x="1117562" y="6274739"/>
            <a:ext cx="677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Illustration from: </a:t>
            </a:r>
            <a:r>
              <a:rPr lang="en-US" sz="1200" dirty="0" err="1">
                <a:solidFill>
                  <a:schemeClr val="bg1"/>
                </a:solidFill>
              </a:rPr>
              <a:t>Phd</a:t>
            </a:r>
            <a:r>
              <a:rPr lang="en-US" sz="1200" dirty="0">
                <a:solidFill>
                  <a:schemeClr val="bg1"/>
                </a:solidFill>
              </a:rPr>
              <a:t> course on Analysis and Design Methods for Time-Delay Systems, organized by the European Embedded Control Institute (EECI) </a:t>
            </a:r>
            <a:endParaRPr lang="en-GB" sz="1200" dirty="0">
              <a:solidFill>
                <a:schemeClr val="bg1"/>
              </a:solidFill>
            </a:endParaRPr>
          </a:p>
        </p:txBody>
      </p:sp>
      <p:pic>
        <p:nvPicPr>
          <p:cNvPr id="18" name="Afbeelding 17" descr="Afbeelding met Perceel, diagram, lijn, helling&#10;&#10;Door AI gegenereerde inhoud is mogelijk onjuist.">
            <a:extLst>
              <a:ext uri="{FF2B5EF4-FFF2-40B4-BE49-F238E27FC236}">
                <a16:creationId xmlns:a16="http://schemas.microsoft.com/office/drawing/2014/main" id="{8C8643AF-9FDD-309B-27E6-FE6192C3B0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7403" y="3897313"/>
            <a:ext cx="6399594" cy="22807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7E13B325-ACF2-787D-A554-E745F35422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003" y="1359036"/>
                <a:ext cx="6259122" cy="4760964"/>
              </a:xfrm>
            </p:spPr>
            <p:txBody>
              <a:bodyPr>
                <a:normAutofit/>
              </a:bodyPr>
              <a:lstStyle/>
              <a:p>
                <a:r>
                  <a:rPr lang="en-GB" b="1" dirty="0">
                    <a:solidFill>
                      <a:srgbClr val="40FF40"/>
                    </a:solidFill>
                  </a:rPr>
                  <a:t>Found Characteristic Roots</a:t>
                </a:r>
              </a:p>
              <a:p>
                <a:r>
                  <a:rPr lang="en-GB" b="1" dirty="0">
                    <a:solidFill>
                      <a:srgbClr val="3737FF"/>
                    </a:solidFill>
                  </a:rPr>
                  <a:t>Eigenvalues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b="1" i="1" smtClean="0">
                            <a:solidFill>
                              <a:srgbClr val="3737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1" i="1" smtClean="0">
                            <a:solidFill>
                              <a:srgbClr val="3737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nl-BE" b="1" i="1" smtClean="0">
                            <a:solidFill>
                              <a:srgbClr val="3737FF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GB" b="1" dirty="0">
                    <a:solidFill>
                      <a:srgbClr val="3737FF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nl-BE" b="1" i="1" smtClean="0">
                        <a:solidFill>
                          <a:srgbClr val="3737FF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nl-BE" b="1" i="1" smtClean="0">
                        <a:solidFill>
                          <a:srgbClr val="3737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1" i="1" smtClean="0">
                        <a:solidFill>
                          <a:srgbClr val="3737FF"/>
                        </a:solidFill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GB" b="1" dirty="0">
                  <a:solidFill>
                    <a:srgbClr val="3737FF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Good approximation around origin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Further away: breaks down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When is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good enough?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nl-BE" dirty="0" err="1"/>
                  <a:t>Literature</a:t>
                </a:r>
                <a:r>
                  <a:rPr lang="nl-BE" dirty="0"/>
                  <a:t>: </a:t>
                </a:r>
                <a:r>
                  <a:rPr lang="nl-BE" dirty="0" err="1"/>
                  <a:t>Heuristic</a:t>
                </a:r>
                <a:r>
                  <a:rPr lang="nl-BE" dirty="0"/>
                  <a:t> </a:t>
                </a:r>
                <a:r>
                  <a:rPr lang="nl-BE" dirty="0" err="1"/>
                  <a:t>for</a:t>
                </a:r>
                <a:r>
                  <a:rPr lang="nl-BE" dirty="0"/>
                  <a:t> Discrete </a:t>
                </a:r>
                <a:r>
                  <a:rPr lang="nl-BE" dirty="0" err="1"/>
                  <a:t>Delays</a:t>
                </a: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Distributed delay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dirty="0"/>
                  <a:t> many pointwise discrete delay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Robust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Sometimes quite conservative!</a:t>
                </a:r>
              </a:p>
            </p:txBody>
          </p:sp>
        </mc:Choice>
        <mc:Fallback xmlns="">
          <p:sp>
            <p:nvSpPr>
              <p:cNvPr id="2" name="Tijdelijke aanduiding voor inhoud 1">
                <a:extLst>
                  <a:ext uri="{FF2B5EF4-FFF2-40B4-BE49-F238E27FC236}">
                    <a16:creationId xmlns:a16="http://schemas.microsoft.com/office/drawing/2014/main" id="{7E13B325-ACF2-787D-A554-E745F3542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003" y="1359036"/>
                <a:ext cx="6259122" cy="4760964"/>
              </a:xfrm>
              <a:blipFill>
                <a:blip r:embed="rId10"/>
                <a:stretch>
                  <a:fillRect l="-1266" t="-896" r="-11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09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345C-F72D-C194-1231-CE672BFA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B1494063-9C9F-2B37-AAC3-CB457D74C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469" y="1552493"/>
            <a:ext cx="6700188" cy="4464000"/>
          </a:xfrm>
          <a:prstGeom prst="rect">
            <a:avLst/>
          </a:prstGeom>
        </p:spPr>
      </p:pic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D5A3178-57FD-F6C6-E55B-55457E303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Masterthesis Mathematical Engineering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A717730-1E66-3365-C155-2BEC6A68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18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6F3EFFE-3CC4-17DC-E8EC-DA192140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6205"/>
            <a:ext cx="11041200" cy="1152000"/>
          </a:xfrm>
        </p:spPr>
        <p:txBody>
          <a:bodyPr/>
          <a:lstStyle/>
          <a:p>
            <a:r>
              <a:rPr lang="en-GB" dirty="0"/>
              <a:t>Window interpretation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208FF22-9F65-D120-7137-0A8C36E95F9B}"/>
              </a:ext>
            </a:extLst>
          </p:cNvPr>
          <p:cNvSpPr txBox="1"/>
          <p:nvPr/>
        </p:nvSpPr>
        <p:spPr>
          <a:xfrm>
            <a:off x="1546200" y="6395500"/>
            <a:ext cx="9283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Animation from: https://wms.cs.kuleuven.be/groups/NUMA/research/outreach-delay#2.1.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C6A73770-FC25-AA59-B22F-C04CD7453959}"/>
                  </a:ext>
                </a:extLst>
              </p:cNvPr>
              <p:cNvSpPr txBox="1"/>
              <p:nvPr/>
            </p:nvSpPr>
            <p:spPr>
              <a:xfrm>
                <a:off x="5952283" y="130822"/>
                <a:ext cx="6096000" cy="2481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nl-BE" sz="24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24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nl-BE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𝜕𝜃</m:t>
                          </m:r>
                        </m:den>
                      </m:f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4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24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24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  <m:r>
                            <a:rPr lang="en-GB" sz="24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nl-BE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C6A73770-FC25-AA59-B22F-C04CD7453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283" y="130822"/>
                <a:ext cx="6096000" cy="2481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06F9656F-DD7D-D33B-5973-1357A099830F}"/>
                  </a:ext>
                </a:extLst>
              </p:cNvPr>
              <p:cNvSpPr txBox="1"/>
              <p:nvPr/>
            </p:nvSpPr>
            <p:spPr>
              <a:xfrm>
                <a:off x="1881480" y="2161574"/>
                <a:ext cx="7173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06F9656F-DD7D-D33B-5973-1357A0998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480" y="2161574"/>
                <a:ext cx="717343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kstvak 1">
                <a:extLst>
                  <a:ext uri="{FF2B5EF4-FFF2-40B4-BE49-F238E27FC236}">
                    <a16:creationId xmlns:a16="http://schemas.microsoft.com/office/drawing/2014/main" id="{CC8751C5-8834-A551-A2B1-37C6CA6EDE8A}"/>
                  </a:ext>
                </a:extLst>
              </p:cNvPr>
              <p:cNvSpPr txBox="1"/>
              <p:nvPr/>
            </p:nvSpPr>
            <p:spPr>
              <a:xfrm>
                <a:off x="1335110" y="983539"/>
                <a:ext cx="3858063" cy="36933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BE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kstvak 1">
                <a:extLst>
                  <a:ext uri="{FF2B5EF4-FFF2-40B4-BE49-F238E27FC236}">
                    <a16:creationId xmlns:a16="http://schemas.microsoft.com/office/drawing/2014/main" id="{CC8751C5-8834-A551-A2B1-37C6CA6ED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110" y="983539"/>
                <a:ext cx="3858063" cy="369332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  <a:ln>
                <a:solidFill>
                  <a:schemeClr val="tx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56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1" grpId="0"/>
      <p:bldP spid="11" grpId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97B3-BE17-8EC5-5722-60E0D3F8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A1A71BC-BAFE-FBCF-5E0E-794246F0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Masterthesis Mathematical Engineering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2E8555B-DCB8-9305-264D-0677549E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19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24D8A161-73A9-FF00-2160-29225CC6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 interpretation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A56AC0-308C-9D77-B16C-F97E6559CD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69" y="1552493"/>
            <a:ext cx="6700262" cy="446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AAA58396-E971-063D-93AF-66178D1FBE49}"/>
              </a:ext>
            </a:extLst>
          </p:cNvPr>
          <p:cNvSpPr txBox="1"/>
          <p:nvPr/>
        </p:nvSpPr>
        <p:spPr>
          <a:xfrm>
            <a:off x="1546200" y="6395500"/>
            <a:ext cx="9283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Animation from: https://wms.cs.kuleuven.be/groups/NUMA/research/outreach-delay#2.1.</a:t>
            </a:r>
          </a:p>
        </p:txBody>
      </p:sp>
    </p:spTree>
    <p:extLst>
      <p:ext uri="{BB962C8B-B14F-4D97-AF65-F5344CB8AC3E}">
        <p14:creationId xmlns:p14="http://schemas.microsoft.com/office/powerpoint/2010/main" val="115005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1CB291AE-F2A2-DF6C-242B-0BD26D951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280080"/>
            <a:ext cx="11041200" cy="4464000"/>
          </a:xfrm>
        </p:spPr>
        <p:txBody>
          <a:bodyPr/>
          <a:lstStyle/>
          <a:p>
            <a:r>
              <a:rPr lang="en-GB" dirty="0"/>
              <a:t>Bi-objective optimization </a:t>
            </a:r>
            <a:r>
              <a:rPr lang="en-GB" dirty="0">
                <a:sym typeface="Wingdings" panose="05000000000000000000" pitchFamily="2" charset="2"/>
              </a:rPr>
              <a:t> Tracing Pareto Front?</a:t>
            </a:r>
          </a:p>
          <a:p>
            <a:r>
              <a:rPr lang="en-GB" dirty="0">
                <a:sym typeface="Wingdings" panose="05000000000000000000" pitchFamily="2" charset="2"/>
              </a:rPr>
              <a:t>Non-convex objective  jumps occur regularly</a:t>
            </a:r>
          </a:p>
          <a:p>
            <a:r>
              <a:rPr lang="en-GB" dirty="0">
                <a:sym typeface="Wingdings" panose="05000000000000000000" pitchFamily="2" charset="2"/>
              </a:rPr>
              <a:t>Strict idea of Pareto Front holds for penalty-term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Shape can also be found for Damping Heuristic!</a:t>
            </a:r>
            <a:endParaRPr lang="en-GB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B56B5FF-411A-60C1-5084-8413A4CE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Masterthesis Mathematical Engineering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1A43C93-7AFA-7212-F9E3-FDD28821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20</a:t>
            </a:fld>
            <a:endParaRPr lang="nl-NL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CD7F3B7-E5E7-C682-7D50-73ADDC17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Details on Regularization</a:t>
            </a:r>
          </a:p>
        </p:txBody>
      </p:sp>
      <p:pic>
        <p:nvPicPr>
          <p:cNvPr id="9" name="Picture 2" descr="Example of the Pareto-front. | Download Scientific Diagram">
            <a:extLst>
              <a:ext uri="{FF2B5EF4-FFF2-40B4-BE49-F238E27FC236}">
                <a16:creationId xmlns:a16="http://schemas.microsoft.com/office/drawing/2014/main" id="{62008EA6-E9A4-7091-DB30-0164C1427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510" y="3202474"/>
            <a:ext cx="3839546" cy="29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first_experiment">
            <a:hlinkClick r:id="" action="ppaction://media"/>
            <a:extLst>
              <a:ext uri="{FF2B5EF4-FFF2-40B4-BE49-F238E27FC236}">
                <a16:creationId xmlns:a16="http://schemas.microsoft.com/office/drawing/2014/main" id="{77D9D32A-40B2-8044-9D00-5E5461047C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4800" y="0"/>
            <a:ext cx="10287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1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3301</TotalTime>
  <Words>937</Words>
  <Application>Microsoft Office PowerPoint</Application>
  <PresentationFormat>Breedbeeld</PresentationFormat>
  <Paragraphs>229</Paragraphs>
  <Slides>20</Slides>
  <Notes>17</Notes>
  <HiddenSlides>0</HiddenSlides>
  <MMClips>1</MMClips>
  <ScaleCrop>false</ScaleCrop>
  <HeadingPairs>
    <vt:vector size="8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2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Wingdings</vt:lpstr>
      <vt:lpstr>KU Leuven</vt:lpstr>
      <vt:lpstr>KU Leuven Sedes</vt:lpstr>
      <vt:lpstr>Formula</vt:lpstr>
      <vt:lpstr> Control by Shaping Delay Distributions </vt:lpstr>
      <vt:lpstr>PowerPoint-presentatie</vt:lpstr>
      <vt:lpstr>Time-Delay Systems</vt:lpstr>
      <vt:lpstr>PowerPoint-presentatie</vt:lpstr>
      <vt:lpstr>PowerPoint-presentatie</vt:lpstr>
      <vt:lpstr>Stability Analysis: Spectrum Approximation</vt:lpstr>
      <vt:lpstr>Stability Analysis: Spectrum Approximation</vt:lpstr>
      <vt:lpstr>Spectral discretization</vt:lpstr>
      <vt:lpstr>Example</vt:lpstr>
      <vt:lpstr>Stabilization by output feedback</vt:lpstr>
      <vt:lpstr>Controller Synthesis</vt:lpstr>
      <vt:lpstr>Preliminary results: spectral abscissa</vt:lpstr>
      <vt:lpstr>PowerPoint-presentatie</vt:lpstr>
      <vt:lpstr>Conclusions</vt:lpstr>
      <vt:lpstr>PowerPoint-presentatie</vt:lpstr>
      <vt:lpstr>Details on Control</vt:lpstr>
      <vt:lpstr>Choice of N</vt:lpstr>
      <vt:lpstr>Window interpretation</vt:lpstr>
      <vt:lpstr>Window interpretation</vt:lpstr>
      <vt:lpstr>Details on Regularization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 visterin</dc:creator>
  <cp:lastModifiedBy>Jasper Visterin</cp:lastModifiedBy>
  <cp:revision>405</cp:revision>
  <dcterms:created xsi:type="dcterms:W3CDTF">2017-09-13T11:47:32Z</dcterms:created>
  <dcterms:modified xsi:type="dcterms:W3CDTF">2026-09-17T19:15:27Z</dcterms:modified>
</cp:coreProperties>
</file>