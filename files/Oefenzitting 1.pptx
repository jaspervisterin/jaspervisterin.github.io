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org&amp;utm_campaign=imageinfo&amp;utm_content=thumbnail" ContentType="image/png"/>
  <Default Extension="org&amp;utm_campaign=parser&amp;utm_content=thumbnail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78" r:id="rId3"/>
    <p:sldId id="284" r:id="rId4"/>
    <p:sldId id="263" r:id="rId5"/>
    <p:sldId id="265" r:id="rId6"/>
    <p:sldId id="271" r:id="rId7"/>
    <p:sldId id="266" r:id="rId8"/>
    <p:sldId id="269" r:id="rId9"/>
    <p:sldId id="274" r:id="rId10"/>
    <p:sldId id="268" r:id="rId11"/>
    <p:sldId id="276" r:id="rId12"/>
    <p:sldId id="264" r:id="rId13"/>
    <p:sldId id="257" r:id="rId14"/>
    <p:sldId id="280" r:id="rId15"/>
    <p:sldId id="281" r:id="rId16"/>
    <p:sldId id="282" r:id="rId17"/>
    <p:sldId id="277" r:id="rId18"/>
    <p:sldId id="279" r:id="rId19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E9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404" autoAdjust="0"/>
  </p:normalViewPr>
  <p:slideViewPr>
    <p:cSldViewPr snapToGrid="0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105ED5-7521-4FF3-AE11-3E99554C1374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632B6C-0D5A-46F5-AB46-5D9C84F1EE9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5001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632B6C-0D5A-46F5-AB46-5D9C84F1EE9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0819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EE3DE-25C5-3A74-D508-43E637A09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C273991B-CFBF-9AAD-A6C2-DC16E07E3F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EDA16E7-5651-E251-5BAD-02D0846FE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C626B50-C7FF-1D52-F35C-6058BAC80F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632B6C-0D5A-46F5-AB46-5D9C84F1EE9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8051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Goede antwoorden zijn in dit geval</a:t>
            </a:r>
          </a:p>
          <a:p>
            <a:r>
              <a:rPr lang="nl-BE" dirty="0"/>
              <a:t>x -&gt; inwendig punt</a:t>
            </a:r>
          </a:p>
          <a:p>
            <a:r>
              <a:rPr lang="nl-BE" dirty="0"/>
              <a:t>y -&gt; randpunt</a:t>
            </a:r>
          </a:p>
          <a:p>
            <a:r>
              <a:rPr lang="nl-BE" dirty="0"/>
              <a:t>Z -&gt; uitwendig punt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632B6C-0D5A-46F5-AB46-5D9C84F1EE9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673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Goede antwoorden zijn</a:t>
            </a:r>
          </a:p>
          <a:p>
            <a:r>
              <a:rPr lang="nl-BE" dirty="0" err="1"/>
              <a:t>z</a:t>
            </a:r>
            <a:r>
              <a:rPr lang="nl-BE" dirty="0"/>
              <a:t> is een randpunt</a:t>
            </a:r>
          </a:p>
          <a:p>
            <a:r>
              <a:rPr lang="nl-BE" dirty="0" err="1"/>
              <a:t>z</a:t>
            </a:r>
            <a:r>
              <a:rPr lang="nl-BE" dirty="0"/>
              <a:t> is een geïsoleerd punt</a:t>
            </a:r>
          </a:p>
          <a:p>
            <a:r>
              <a:rPr lang="nl-BE" dirty="0"/>
              <a:t>Z is een afsluitingspunt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632B6C-0D5A-46F5-AB46-5D9C84F1EE9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7560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3E1FB6-E44E-2366-5F3E-BA0190E2B0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9EF6A35-4299-7A54-0F29-3B9445DA4D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C9D1166-F37E-655D-DD79-68B168BE3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E5BB5-81B4-4D79-985E-B8ABDA2962BE}" type="datetime1">
              <a:rPr lang="nl-BE" smtClean="0"/>
              <a:t>6/10/2026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5904690-F20F-578A-62B0-24CA2268F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94DF7AE-476C-975A-2CD4-D08E5C588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4E141-FDCF-4C09-A199-7A61473F33D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20041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85F822-10ED-CFCC-AFC8-522829A73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36CC069-E8FA-2646-556B-4C674EBDA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3051FBB-D215-63A1-0FD8-4695DCA1C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CCB42-53BE-4D21-8D84-BAD70E4F35B6}" type="datetime1">
              <a:rPr lang="nl-BE" smtClean="0"/>
              <a:t>6/10/2026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D567F67-76B3-126B-318D-BD07AD7D6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020C68A-CAD4-D42A-6BB6-A56C66395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4E141-FDCF-4C09-A199-7A61473F33D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155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8D7E0F-56EA-B225-C9FA-F95055436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54D598B-1567-5623-43A2-A4AE6FE0C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C670DA0-DD01-BB7F-6127-50969A8BF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7C547-E9F5-4CA1-A09A-CDB9C283D318}" type="datetime1">
              <a:rPr lang="nl-BE" smtClean="0"/>
              <a:t>6/10/2026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BAD2B02-F24C-FAA1-92E5-B3CC54899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F5AF803-D28B-EE76-8050-A82AB1519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4E141-FDCF-4C09-A199-7A61473F33D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94740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292F9A-E04A-A0BA-C5D9-66DF87CC7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61D2EBE-2A68-41E1-D7AB-F40197EA1B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688BE8F-5035-8ECB-F3E3-14060D112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8746E76-BD67-EE53-1681-5FC80A893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5023C-4E46-4E0B-9953-B0B484A3E15D}" type="datetime1">
              <a:rPr lang="nl-BE" smtClean="0"/>
              <a:t>6/10/2026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60D5723-6939-058E-452B-A31B76D7B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E0D8E3B-5786-9E8B-34EF-E082A861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4E141-FDCF-4C09-A199-7A61473F33D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34549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E3F39E-5B7D-C2E0-4C5F-9EBD17512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EFBFF59-162E-1583-580C-77351DBF5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AF5BF80-7191-7A9F-B5A7-23939AFFF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574A7EC-72A4-5343-A4EF-652D5BAF66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1CA4CF0F-A5E3-D8EF-3346-9EAD0AAF27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CC1E0D8C-9D2E-AB6D-5DAE-A9530ED6D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11DFF-EDEC-4E3D-A143-BA4E654284A2}" type="datetime1">
              <a:rPr lang="nl-BE" smtClean="0"/>
              <a:t>6/10/2026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35D7E86B-4778-57C6-FE6A-1C107DA28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0B55E5B3-5F61-2A07-3D59-3DA5BD420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4E141-FDCF-4C09-A199-7A61473F33D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45464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607BE9-1AC2-DDD0-36FA-7CE27F3C7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0A6B5BC-DE4B-DE37-6403-7496B0AE8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C355-220A-4CE5-AC21-376F41A5D118}" type="datetime1">
              <a:rPr lang="nl-BE" smtClean="0"/>
              <a:t>6/10/2026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66C595E-F39B-F846-2406-CFC598F0D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5E66D44-3E9C-6F5F-B45A-6E5CD36EA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4E141-FDCF-4C09-A199-7A61473F33D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93960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0D892200-6D8F-8279-1AB3-6A596254C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D5EA-CDC2-4BD5-A52C-60B860B4F343}" type="datetime1">
              <a:rPr lang="nl-BE" smtClean="0"/>
              <a:t>6/10/2026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CF418B1-C33C-90A3-1037-60C0F13F8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9DD8B79-178D-1AA7-0013-1576D7910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4E141-FDCF-4C09-A199-7A61473F33D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88920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E79F13-F42B-3680-59A4-2FF58F1C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6295BE2-651E-78A8-9D66-3BBD4CBCD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59A77AF-6CC1-D109-50BF-8E867DB7A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0277B58-532C-9CBA-E207-DB46DC89B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9827C-BC03-4EE0-9A85-0CEF28E93DF2}" type="datetime1">
              <a:rPr lang="nl-BE" smtClean="0"/>
              <a:t>6/10/2026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81AC704-6BB4-95E2-CCB3-E4D2F8582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2F856C2-3ABC-9B39-EA15-2D1D79F80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4E141-FDCF-4C09-A199-7A61473F33D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20627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E06F1-D43D-8062-7C75-266147464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37BBA7C1-04E2-D01C-E2EA-7FE469EE00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4B5DCDA-AEFC-C46F-2FDF-236FDC333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C3B1CAA-E019-A356-FA89-76BF7394B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635F-BF7C-46E2-A1EE-A841E25C897B}" type="datetime1">
              <a:rPr lang="nl-BE" smtClean="0"/>
              <a:t>6/10/2026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B35BF76-C48B-42CE-4E7C-EB126B4DD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AD26501-F111-7571-4BD8-9DA7E3390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4E141-FDCF-4C09-A199-7A61473F33D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06579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573152-AF9C-336E-1614-241CFA268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F706477-9ABC-98D9-CF9B-28489FE43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E2876F2-59F1-B757-0134-F10FAFA71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D468-1DF6-4F26-A378-9ABCFB870F99}" type="datetime1">
              <a:rPr lang="nl-BE" smtClean="0"/>
              <a:t>6/10/2026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21ADA89-B5AB-F983-7F17-A79404208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F9A7203-2331-99FF-BA38-8CBEE44D7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4E141-FDCF-4C09-A199-7A61473F33D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69710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D78F6944-8708-70C5-66A6-6C1353DD27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DF0DC1F9-506C-2B32-97EA-52A6EFAFBE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DBFF750-8538-B282-E5F6-E75B5E129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5A921-D370-490D-B9D7-9723C1CBC26A}" type="datetime1">
              <a:rPr lang="nl-BE" smtClean="0"/>
              <a:t>6/10/2026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49403BE-01BF-B8F5-CFE9-4761533AF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3C1BCFC-A256-1D6B-FE5A-DB5C679C7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4E141-FDCF-4C09-A199-7A61473F33D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70946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6A299C3-BD8F-DDBE-E20B-DC554AAE4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78AA47B-7E7C-0502-AA78-12BA93551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19CC617-33E9-8A0C-2C90-6AC1DF1FC8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40851-FECF-48F0-80BE-A810288BFBB6}" type="datetime1">
              <a:rPr lang="nl-BE" smtClean="0"/>
              <a:t>6/10/2026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15031CB-75E1-64C1-0003-C16112E44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nl-BE"/>
              <a:t>Oefenzittingen Analyse I - Jasper Visterin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5435D4E-54B4-E17F-ED7E-C2F067E6FE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F4E141-FDCF-4C09-A199-7A61473F33D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6849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ogebra.org/3d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jaspervisterin.github.io/teaching/analysis-2026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org&amp;utm_campaign=imageinfo&amp;utm_content=thumbnai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org&amp;utm_campaign=imageinfo&amp;utm_content=thumbnai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6.jpg"/><Relationship Id="rId2" Type="http://schemas.openxmlformats.org/officeDocument/2006/relationships/image" Target="../media/image22.org&amp;utm_campaign=parser&amp;utm_content=thumbnai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46EDDA-160F-ACC8-BAA8-BE329F21F3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Analyse I, </a:t>
            </a:r>
            <a:r>
              <a:rPr lang="en-GB" dirty="0" err="1"/>
              <a:t>Oefenzitting</a:t>
            </a:r>
            <a:r>
              <a:rPr lang="en-GB" dirty="0"/>
              <a:t> 1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AC92F39-0B86-45D7-CF47-7DB5F5D0CB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Jasper.Visterin@kuleuven.be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A4351B1-473E-EC21-5E49-54F4A59B0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146910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0A481A-5E22-841D-3981-D6685953B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Praktische zaken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C5D7715-68C6-C926-95DA-7EE3810BF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0042"/>
            <a:ext cx="10515600" cy="4636921"/>
          </a:xfrm>
        </p:spPr>
        <p:txBody>
          <a:bodyPr>
            <a:normAutofit/>
          </a:bodyPr>
          <a:lstStyle/>
          <a:p>
            <a:r>
              <a:rPr lang="en-GB" dirty="0" err="1"/>
              <a:t>Openboek</a:t>
            </a:r>
            <a:r>
              <a:rPr lang="en-GB" dirty="0"/>
              <a:t> examen</a:t>
            </a:r>
            <a:r>
              <a:rPr lang="en-BE" dirty="0"/>
              <a:t> </a:t>
            </a:r>
            <a:endParaRPr lang="en-GB" dirty="0"/>
          </a:p>
          <a:p>
            <a:r>
              <a:rPr lang="en-GB" dirty="0"/>
              <a:t>H</a:t>
            </a:r>
            <a:r>
              <a:rPr lang="en-BE" dirty="0" err="1"/>
              <a:t>andboek</a:t>
            </a:r>
            <a:r>
              <a:rPr lang="en-BE" dirty="0"/>
              <a:t>, slides, </a:t>
            </a:r>
            <a:r>
              <a:rPr lang="en-BE" dirty="0" err="1"/>
              <a:t>oefeningenbundel</a:t>
            </a:r>
            <a:r>
              <a:rPr lang="en-BE" dirty="0"/>
              <a:t> </a:t>
            </a:r>
            <a:endParaRPr lang="en-GB" dirty="0"/>
          </a:p>
          <a:p>
            <a:r>
              <a:rPr lang="en-GB" dirty="0"/>
              <a:t>A</a:t>
            </a:r>
            <a:r>
              <a:rPr lang="en-BE" dirty="0" err="1"/>
              <a:t>lle</a:t>
            </a:r>
            <a:r>
              <a:rPr lang="en-BE" dirty="0"/>
              <a:t> </a:t>
            </a:r>
            <a:r>
              <a:rPr lang="en-BE" dirty="0" err="1"/>
              <a:t>zelfgeschreven</a:t>
            </a:r>
            <a:r>
              <a:rPr lang="en-BE" dirty="0"/>
              <a:t> </a:t>
            </a:r>
            <a:r>
              <a:rPr lang="en-BE" dirty="0" err="1"/>
              <a:t>notities</a:t>
            </a:r>
            <a:endParaRPr lang="en-GB" dirty="0"/>
          </a:p>
          <a:p>
            <a:endParaRPr lang="en-GB" dirty="0"/>
          </a:p>
          <a:p>
            <a:r>
              <a:rPr lang="nl-BE" dirty="0"/>
              <a:t>Formularium op het einde van de oefeningenbundel</a:t>
            </a:r>
          </a:p>
          <a:p>
            <a:endParaRPr lang="nl-BE" dirty="0"/>
          </a:p>
          <a:p>
            <a:endParaRPr lang="nl-BE" dirty="0"/>
          </a:p>
          <a:p>
            <a:pPr lvl="1"/>
            <a:endParaRPr lang="nl-BE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57AA3178-D6C9-7DA0-105D-6606BB62F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269433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C868C-C0BE-5F91-A76F-C9F3B62AA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A3137D-C3C6-7FFB-46C0-46DE05264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Praktische zaken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1CF3F20-4199-F0AB-0259-72BF0965C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0042"/>
            <a:ext cx="10515600" cy="4636921"/>
          </a:xfrm>
        </p:spPr>
        <p:txBody>
          <a:bodyPr>
            <a:normAutofit/>
          </a:bodyPr>
          <a:lstStyle/>
          <a:p>
            <a:r>
              <a:rPr lang="en-GB" dirty="0" err="1"/>
              <a:t>Oefeningen</a:t>
            </a:r>
            <a:r>
              <a:rPr lang="en-GB" dirty="0"/>
              <a:t> examen!</a:t>
            </a:r>
          </a:p>
          <a:p>
            <a:r>
              <a:rPr lang="nl-BE" dirty="0" err="1"/>
              <a:t>Geogebra</a:t>
            </a:r>
            <a:r>
              <a:rPr lang="nl-BE" dirty="0"/>
              <a:t> 3D calculator</a:t>
            </a:r>
          </a:p>
          <a:p>
            <a:pPr lvl="1"/>
            <a:r>
              <a:rPr lang="nl-BE" dirty="0">
                <a:hlinkClick r:id="rId3"/>
              </a:rPr>
              <a:t>geogebra.org/3d</a:t>
            </a:r>
            <a:endParaRPr lang="nl-BE" dirty="0"/>
          </a:p>
          <a:p>
            <a:r>
              <a:rPr lang="nl-BE" dirty="0"/>
              <a:t>Slides komen beschikbaar op</a:t>
            </a:r>
          </a:p>
          <a:p>
            <a:pPr lvl="1"/>
            <a:r>
              <a:rPr lang="nl-BE" dirty="0">
                <a:hlinkClick r:id="rId4"/>
              </a:rPr>
              <a:t>jaspervisterin.github.io/teaching/analysis-2026</a:t>
            </a:r>
            <a:endParaRPr lang="nl-BE" dirty="0"/>
          </a:p>
          <a:p>
            <a:endParaRPr lang="nl-BE" dirty="0"/>
          </a:p>
          <a:p>
            <a:endParaRPr lang="nl-BE" dirty="0"/>
          </a:p>
          <a:p>
            <a:pPr lvl="1"/>
            <a:endParaRPr lang="nl-BE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2A0CEF0-EEFC-74C2-03BA-DB8AF3502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3423235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36CC69-0888-8438-1083-6E802BFBD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378"/>
            <a:ext cx="10515600" cy="1325563"/>
          </a:xfrm>
        </p:spPr>
        <p:txBody>
          <a:bodyPr/>
          <a:lstStyle/>
          <a:p>
            <a:r>
              <a:rPr lang="en-GB" dirty="0"/>
              <a:t>Even </a:t>
            </a:r>
            <a:r>
              <a:rPr lang="en-GB" dirty="0" err="1"/>
              <a:t>voorstellen</a:t>
            </a:r>
            <a:endParaRPr lang="en-GB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9B9BA88-8AAB-DB65-A59E-94687AFEC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6434"/>
            <a:ext cx="10515600" cy="4585907"/>
          </a:xfrm>
        </p:spPr>
        <p:txBody>
          <a:bodyPr/>
          <a:lstStyle/>
          <a:p>
            <a:r>
              <a:rPr lang="en-GB" dirty="0" err="1"/>
              <a:t>Doctoraatsstudent</a:t>
            </a:r>
            <a:endParaRPr lang="en-GB" dirty="0"/>
          </a:p>
          <a:p>
            <a:r>
              <a:rPr lang="en-GB" dirty="0" err="1"/>
              <a:t>Departement</a:t>
            </a:r>
            <a:r>
              <a:rPr lang="en-GB" dirty="0"/>
              <a:t> </a:t>
            </a:r>
            <a:r>
              <a:rPr lang="en-GB" dirty="0" err="1"/>
              <a:t>Computerwetenschappen</a:t>
            </a:r>
            <a:endParaRPr lang="en-GB" dirty="0"/>
          </a:p>
          <a:p>
            <a:endParaRPr lang="en-GB" dirty="0"/>
          </a:p>
          <a:p>
            <a:r>
              <a:rPr lang="en-GB" dirty="0" err="1"/>
              <a:t>Regeltechniek</a:t>
            </a:r>
            <a:endParaRPr lang="en-GB" dirty="0"/>
          </a:p>
          <a:p>
            <a:r>
              <a:rPr lang="en-GB" dirty="0" err="1"/>
              <a:t>Dynamische</a:t>
            </a:r>
            <a:r>
              <a:rPr lang="en-GB" dirty="0"/>
              <a:t> </a:t>
            </a:r>
            <a:r>
              <a:rPr lang="en-GB" dirty="0" err="1"/>
              <a:t>systemen</a:t>
            </a:r>
            <a:endParaRPr lang="en-GB" dirty="0"/>
          </a:p>
          <a:p>
            <a:r>
              <a:rPr lang="en-GB" dirty="0" err="1"/>
              <a:t>Optimalisatie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EDB6DCCD-3C54-E6A2-A655-64AA5CAD2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5770" y="158975"/>
            <a:ext cx="4018573" cy="3013930"/>
          </a:xfrm>
          <a:prstGeom prst="rect">
            <a:avLst/>
          </a:prstGeom>
        </p:spPr>
      </p:pic>
      <p:pic>
        <p:nvPicPr>
          <p:cNvPr id="8" name="Afbeelding 7" descr="Optimization Challenges in Deep Learning | by Tejovk | Medium">
            <a:extLst>
              <a:ext uri="{FF2B5EF4-FFF2-40B4-BE49-F238E27FC236}">
                <a16:creationId xmlns:a16="http://schemas.microsoft.com/office/drawing/2014/main" id="{5991DFD4-F285-25DE-A48F-2A914876A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089" y="3331020"/>
            <a:ext cx="3703320" cy="3435729"/>
          </a:xfrm>
          <a:prstGeom prst="rect">
            <a:avLst/>
          </a:prstGeom>
        </p:spPr>
      </p:pic>
      <p:pic>
        <p:nvPicPr>
          <p:cNvPr id="10" name="Afbeelding 9" descr="Control of Inverted Pendulum in a Cart using MPC - File Exchange - MATLAB  Central">
            <a:extLst>
              <a:ext uri="{FF2B5EF4-FFF2-40B4-BE49-F238E27FC236}">
                <a16:creationId xmlns:a16="http://schemas.microsoft.com/office/drawing/2014/main" id="{F4F54F0D-172A-8914-4FB5-60F88C1E0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4448" y="3785870"/>
            <a:ext cx="2296391" cy="2526030"/>
          </a:xfrm>
          <a:prstGeom prst="rect">
            <a:avLst/>
          </a:prstGeom>
        </p:spPr>
      </p:pic>
      <p:pic>
        <p:nvPicPr>
          <p:cNvPr id="14" name="Afbeelding 13" descr="Afbeelding met Kleurrijkheid, Graphics, schermopname, geel&#10;&#10;Door AI gegenereerde inhoud is mogelijk onjuist.">
            <a:extLst>
              <a:ext uri="{FF2B5EF4-FFF2-40B4-BE49-F238E27FC236}">
                <a16:creationId xmlns:a16="http://schemas.microsoft.com/office/drawing/2014/main" id="{688F0BC1-24E8-9764-AC71-03263C8149B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057" t="12205" r="21772" b="12433"/>
          <a:stretch>
            <a:fillRect/>
          </a:stretch>
        </p:blipFill>
        <p:spPr>
          <a:xfrm>
            <a:off x="1406865" y="4745828"/>
            <a:ext cx="1478968" cy="156607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043409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146C88-BD2A-B7D9-FC6C-6AE059614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Inleidende</a:t>
            </a:r>
            <a:r>
              <a:rPr lang="en-GB" dirty="0"/>
              <a:t> </a:t>
            </a:r>
            <a:r>
              <a:rPr lang="en-GB" dirty="0" err="1"/>
              <a:t>begrippen</a:t>
            </a:r>
            <a:endParaRPr lang="en-GB" dirty="0"/>
          </a:p>
        </p:txBody>
      </p:sp>
      <p:pic>
        <p:nvPicPr>
          <p:cNvPr id="10" name="Afbeelding 9" descr="https://upload.wikimedia.org/wikipedia/commons/thumb/b/ba/Interior_illustration.svg/960px-Interior_illustration.svg.png?utm_source=en.wikipedia.org&amp;utm_campaign=imageinfo&amp;utm_content=thumbnail">
            <a:extLst>
              <a:ext uri="{FF2B5EF4-FFF2-40B4-BE49-F238E27FC236}">
                <a16:creationId xmlns:a16="http://schemas.microsoft.com/office/drawing/2014/main" id="{88D0AD7B-2816-5AB6-79A4-53A22AA61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325" y="1564323"/>
            <a:ext cx="4735159" cy="4680902"/>
          </a:xfrm>
          <a:prstGeom prst="rect">
            <a:avLst/>
          </a:prstGeom>
        </p:spPr>
      </p:pic>
      <p:sp>
        <p:nvSpPr>
          <p:cNvPr id="11" name="Ovaal 10">
            <a:extLst>
              <a:ext uri="{FF2B5EF4-FFF2-40B4-BE49-F238E27FC236}">
                <a16:creationId xmlns:a16="http://schemas.microsoft.com/office/drawing/2014/main" id="{4CE9B934-6DA0-BFD4-FF51-DC5CD0F178BF}"/>
              </a:ext>
            </a:extLst>
          </p:cNvPr>
          <p:cNvSpPr/>
          <p:nvPr/>
        </p:nvSpPr>
        <p:spPr>
          <a:xfrm>
            <a:off x="2919411" y="4581435"/>
            <a:ext cx="1076325" cy="1083094"/>
          </a:xfrm>
          <a:prstGeom prst="ellipse">
            <a:avLst/>
          </a:prstGeom>
          <a:solidFill>
            <a:srgbClr val="BFE9BF"/>
          </a:solidFill>
          <a:ln w="28575">
            <a:solidFill>
              <a:schemeClr val="tx1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al 11">
            <a:extLst>
              <a:ext uri="{FF2B5EF4-FFF2-40B4-BE49-F238E27FC236}">
                <a16:creationId xmlns:a16="http://schemas.microsoft.com/office/drawing/2014/main" id="{1BF062E7-49ED-7DF5-05E5-16411259F640}"/>
              </a:ext>
            </a:extLst>
          </p:cNvPr>
          <p:cNvSpPr/>
          <p:nvPr/>
        </p:nvSpPr>
        <p:spPr>
          <a:xfrm flipH="1">
            <a:off x="3438524" y="5094407"/>
            <a:ext cx="57150" cy="5715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344F79F8-49F8-1EDF-B4EB-6F5A76437DC2}"/>
              </a:ext>
            </a:extLst>
          </p:cNvPr>
          <p:cNvSpPr txBox="1"/>
          <p:nvPr/>
        </p:nvSpPr>
        <p:spPr>
          <a:xfrm>
            <a:off x="3180733" y="5060772"/>
            <a:ext cx="514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1" dirty="0"/>
              <a:t>z</a:t>
            </a:r>
            <a:endParaRPr lang="en-GB" i="1" dirty="0"/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55FCCD84-B62D-71B1-9A2C-D89C7CF87260}"/>
              </a:ext>
            </a:extLst>
          </p:cNvPr>
          <p:cNvSpPr txBox="1"/>
          <p:nvPr/>
        </p:nvSpPr>
        <p:spPr>
          <a:xfrm>
            <a:off x="8486775" y="1866900"/>
            <a:ext cx="3238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Gegeven de </a:t>
            </a:r>
            <a:r>
              <a:rPr lang="fr-BE" dirty="0" err="1"/>
              <a:t>verzameling</a:t>
            </a:r>
            <a:r>
              <a:rPr lang="fr-BE" dirty="0"/>
              <a:t> </a:t>
            </a:r>
            <a:r>
              <a:rPr lang="fr-BE" i="1" dirty="0"/>
              <a:t>S</a:t>
            </a:r>
            <a:endParaRPr lang="en-GB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Wat is </a:t>
            </a:r>
            <a:r>
              <a:rPr lang="en-GB" i="1" dirty="0"/>
              <a:t>x</a:t>
            </a:r>
            <a:r>
              <a:rPr lang="en-GB" dirty="0"/>
              <a:t> 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Wat is </a:t>
            </a:r>
            <a:r>
              <a:rPr lang="en-GB" i="1" dirty="0"/>
              <a:t>y </a:t>
            </a:r>
            <a:r>
              <a:rPr lang="en-GB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Wat is </a:t>
            </a:r>
            <a:r>
              <a:rPr lang="en-GB" i="1" dirty="0"/>
              <a:t>z</a:t>
            </a:r>
            <a:r>
              <a:rPr lang="en-GB" dirty="0"/>
              <a:t> ? 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1EF9466-B001-5C7B-E87F-D3566D832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3212897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31B04-F43E-ED03-AAC7-AD288E72F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13621F-FFCB-3635-27D9-9F8B33E43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Inleidende</a:t>
            </a:r>
            <a:r>
              <a:rPr lang="en-GB" dirty="0"/>
              <a:t> </a:t>
            </a:r>
            <a:r>
              <a:rPr lang="en-GB" dirty="0" err="1"/>
              <a:t>begrippen</a:t>
            </a:r>
            <a:endParaRPr lang="en-GB" dirty="0"/>
          </a:p>
        </p:txBody>
      </p:sp>
      <p:pic>
        <p:nvPicPr>
          <p:cNvPr id="10" name="Afbeelding 9" descr="https://upload.wikimedia.org/wikipedia/commons/thumb/b/ba/Interior_illustration.svg/960px-Interior_illustration.svg.png?utm_source=en.wikipedia.org&amp;utm_campaign=imageinfo&amp;utm_content=thumbnail">
            <a:extLst>
              <a:ext uri="{FF2B5EF4-FFF2-40B4-BE49-F238E27FC236}">
                <a16:creationId xmlns:a16="http://schemas.microsoft.com/office/drawing/2014/main" id="{3EF09EE7-E066-D58D-1300-C51ED0221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325" y="1564323"/>
            <a:ext cx="4735159" cy="4680902"/>
          </a:xfrm>
          <a:prstGeom prst="rect">
            <a:avLst/>
          </a:prstGeom>
        </p:spPr>
      </p:pic>
      <p:sp>
        <p:nvSpPr>
          <p:cNvPr id="11" name="Ovaal 10">
            <a:extLst>
              <a:ext uri="{FF2B5EF4-FFF2-40B4-BE49-F238E27FC236}">
                <a16:creationId xmlns:a16="http://schemas.microsoft.com/office/drawing/2014/main" id="{43D6D75C-6462-1ED0-EF14-5C14FB141861}"/>
              </a:ext>
            </a:extLst>
          </p:cNvPr>
          <p:cNvSpPr/>
          <p:nvPr/>
        </p:nvSpPr>
        <p:spPr>
          <a:xfrm>
            <a:off x="2919411" y="4581435"/>
            <a:ext cx="1076325" cy="1083094"/>
          </a:xfrm>
          <a:prstGeom prst="ellipse">
            <a:avLst/>
          </a:prstGeom>
          <a:solidFill>
            <a:srgbClr val="BFE9BF"/>
          </a:solidFill>
          <a:ln w="28575">
            <a:solidFill>
              <a:schemeClr val="tx1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al 11">
            <a:extLst>
              <a:ext uri="{FF2B5EF4-FFF2-40B4-BE49-F238E27FC236}">
                <a16:creationId xmlns:a16="http://schemas.microsoft.com/office/drawing/2014/main" id="{10F2070F-CB62-271A-63F9-E19148308DAE}"/>
              </a:ext>
            </a:extLst>
          </p:cNvPr>
          <p:cNvSpPr/>
          <p:nvPr/>
        </p:nvSpPr>
        <p:spPr>
          <a:xfrm flipH="1">
            <a:off x="3438524" y="5094407"/>
            <a:ext cx="57150" cy="5715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010CEB6A-F10B-DB01-2AB9-E4A2ECF7B54B}"/>
              </a:ext>
            </a:extLst>
          </p:cNvPr>
          <p:cNvSpPr txBox="1"/>
          <p:nvPr/>
        </p:nvSpPr>
        <p:spPr>
          <a:xfrm>
            <a:off x="3180733" y="5060772"/>
            <a:ext cx="514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1" dirty="0"/>
              <a:t>z</a:t>
            </a:r>
            <a:endParaRPr lang="en-GB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kstvak 17">
                <a:extLst>
                  <a:ext uri="{FF2B5EF4-FFF2-40B4-BE49-F238E27FC236}">
                    <a16:creationId xmlns:a16="http://schemas.microsoft.com/office/drawing/2014/main" id="{9FC2F231-F72A-27B1-DDBD-C629D20EDE0B}"/>
                  </a:ext>
                </a:extLst>
              </p:cNvPr>
              <p:cNvSpPr txBox="1"/>
              <p:nvPr/>
            </p:nvSpPr>
            <p:spPr>
              <a:xfrm>
                <a:off x="8334376" y="1786463"/>
                <a:ext cx="287655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BE" dirty="0"/>
                  <a:t>Stel nu </a:t>
                </a:r>
                <a:r>
                  <a:rPr lang="fr-BE" dirty="0" err="1"/>
                  <a:t>dat</a:t>
                </a:r>
                <a:r>
                  <a:rPr lang="fr-BE" dirty="0"/>
                  <a:t> </a:t>
                </a:r>
                <a14:m>
                  <m:oMath xmlns:m="http://schemas.openxmlformats.org/officeDocument/2006/math">
                    <m:r>
                      <a:rPr lang="fr-BE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fr-BE" dirty="0"/>
                  <a:t> </a:t>
                </a:r>
                <a:r>
                  <a:rPr lang="fr-BE" dirty="0" err="1"/>
                  <a:t>deeluitmaakt</a:t>
                </a:r>
                <a:r>
                  <a:rPr lang="fr-BE" dirty="0"/>
                  <a:t> van de </a:t>
                </a:r>
                <a:r>
                  <a:rPr lang="fr-BE" dirty="0" err="1"/>
                  <a:t>verzameling</a:t>
                </a:r>
                <a:r>
                  <a:rPr lang="fr-BE" dirty="0"/>
                  <a:t>  </a:t>
                </a:r>
              </a:p>
              <a:p>
                <a:endParaRPr lang="fr-BE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Wat is </a:t>
                </a:r>
                <a:r>
                  <a:rPr lang="en-GB" i="1" dirty="0"/>
                  <a:t>z</a:t>
                </a:r>
                <a:r>
                  <a:rPr lang="en-GB" dirty="0"/>
                  <a:t> ? </a:t>
                </a:r>
              </a:p>
            </p:txBody>
          </p:sp>
        </mc:Choice>
        <mc:Fallback xmlns="">
          <p:sp>
            <p:nvSpPr>
              <p:cNvPr id="18" name="Tekstvak 17">
                <a:extLst>
                  <a:ext uri="{FF2B5EF4-FFF2-40B4-BE49-F238E27FC236}">
                    <a16:creationId xmlns:a16="http://schemas.microsoft.com/office/drawing/2014/main" id="{9FC2F231-F72A-27B1-DDBD-C629D20EDE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4376" y="1786463"/>
                <a:ext cx="2876550" cy="1200329"/>
              </a:xfrm>
              <a:prstGeom prst="rect">
                <a:avLst/>
              </a:prstGeom>
              <a:blipFill>
                <a:blip r:embed="rId4"/>
                <a:stretch>
                  <a:fillRect l="-1695" t="-2030" b="-76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867FA8C-6AFF-105C-5D27-9483B778B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1573487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1AD16B-8A76-C94A-4090-F7BEC6D05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875"/>
            <a:ext cx="10515600" cy="1076325"/>
          </a:xfrm>
        </p:spPr>
        <p:txBody>
          <a:bodyPr/>
          <a:lstStyle/>
          <a:p>
            <a:r>
              <a:rPr lang="en-GB" dirty="0" err="1"/>
              <a:t>Inleidende</a:t>
            </a:r>
            <a:r>
              <a:rPr lang="en-GB" dirty="0"/>
              <a:t> </a:t>
            </a:r>
            <a:r>
              <a:rPr lang="en-GB" dirty="0" err="1"/>
              <a:t>begrippen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0F0EC25E-6643-51D0-D316-B8762C81CA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19200"/>
                <a:ext cx="10515600" cy="495776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⊂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0F0EC25E-6643-51D0-D316-B8762C81CA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19200"/>
                <a:ext cx="10515600" cy="49577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Rechte verbindingslijn met pijl 4">
            <a:extLst>
              <a:ext uri="{FF2B5EF4-FFF2-40B4-BE49-F238E27FC236}">
                <a16:creationId xmlns:a16="http://schemas.microsoft.com/office/drawing/2014/main" id="{745B5624-E5F5-F9D5-83FD-D76BE84C7372}"/>
              </a:ext>
            </a:extLst>
          </p:cNvPr>
          <p:cNvCxnSpPr/>
          <p:nvPr/>
        </p:nvCxnSpPr>
        <p:spPr>
          <a:xfrm>
            <a:off x="1143000" y="2162175"/>
            <a:ext cx="103441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Rechte verbindingslijn 6">
            <a:extLst>
              <a:ext uri="{FF2B5EF4-FFF2-40B4-BE49-F238E27FC236}">
                <a16:creationId xmlns:a16="http://schemas.microsoft.com/office/drawing/2014/main" id="{C698D97D-47D2-CFB3-3D1E-721B257C8AD7}"/>
              </a:ext>
            </a:extLst>
          </p:cNvPr>
          <p:cNvCxnSpPr/>
          <p:nvPr/>
        </p:nvCxnSpPr>
        <p:spPr>
          <a:xfrm>
            <a:off x="4171950" y="2143125"/>
            <a:ext cx="1714500" cy="0"/>
          </a:xfrm>
          <a:prstGeom prst="line">
            <a:avLst/>
          </a:prstGeom>
          <a:ln w="762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" name="Ovaal 7">
            <a:extLst>
              <a:ext uri="{FF2B5EF4-FFF2-40B4-BE49-F238E27FC236}">
                <a16:creationId xmlns:a16="http://schemas.microsoft.com/office/drawing/2014/main" id="{C4C34446-58AF-8338-07FD-0DE244B77A87}"/>
              </a:ext>
            </a:extLst>
          </p:cNvPr>
          <p:cNvSpPr/>
          <p:nvPr/>
        </p:nvSpPr>
        <p:spPr>
          <a:xfrm>
            <a:off x="4062412" y="2033587"/>
            <a:ext cx="219075" cy="2190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al 9">
            <a:extLst>
              <a:ext uri="{FF2B5EF4-FFF2-40B4-BE49-F238E27FC236}">
                <a16:creationId xmlns:a16="http://schemas.microsoft.com/office/drawing/2014/main" id="{54B7F8A6-D0A4-56CA-637E-A538E764452B}"/>
              </a:ext>
            </a:extLst>
          </p:cNvPr>
          <p:cNvSpPr/>
          <p:nvPr/>
        </p:nvSpPr>
        <p:spPr>
          <a:xfrm>
            <a:off x="5776912" y="2033587"/>
            <a:ext cx="219075" cy="219075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kstvak 10">
                <a:extLst>
                  <a:ext uri="{FF2B5EF4-FFF2-40B4-BE49-F238E27FC236}">
                    <a16:creationId xmlns:a16="http://schemas.microsoft.com/office/drawing/2014/main" id="{B257F172-E524-DEE1-3911-0340677E3245}"/>
                  </a:ext>
                </a:extLst>
              </p:cNvPr>
              <p:cNvSpPr txBox="1"/>
              <p:nvPr/>
            </p:nvSpPr>
            <p:spPr>
              <a:xfrm>
                <a:off x="4062412" y="2336006"/>
                <a:ext cx="1747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kstvak 10">
                <a:extLst>
                  <a:ext uri="{FF2B5EF4-FFF2-40B4-BE49-F238E27FC236}">
                    <a16:creationId xmlns:a16="http://schemas.microsoft.com/office/drawing/2014/main" id="{B257F172-E524-DEE1-3911-0340677E3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12" y="2336006"/>
                <a:ext cx="174728" cy="276999"/>
              </a:xfrm>
              <a:prstGeom prst="rect">
                <a:avLst/>
              </a:prstGeom>
              <a:blipFill>
                <a:blip r:embed="rId3"/>
                <a:stretch>
                  <a:fillRect l="-31034" r="-34483" b="-6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kstvak 12">
                <a:extLst>
                  <a:ext uri="{FF2B5EF4-FFF2-40B4-BE49-F238E27FC236}">
                    <a16:creationId xmlns:a16="http://schemas.microsoft.com/office/drawing/2014/main" id="{109CFBB8-9D66-D4B6-D793-3B22F728AC52}"/>
                  </a:ext>
                </a:extLst>
              </p:cNvPr>
              <p:cNvSpPr txBox="1"/>
              <p:nvPr/>
            </p:nvSpPr>
            <p:spPr>
              <a:xfrm>
                <a:off x="5776912" y="2336005"/>
                <a:ext cx="1747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kstvak 12">
                <a:extLst>
                  <a:ext uri="{FF2B5EF4-FFF2-40B4-BE49-F238E27FC236}">
                    <a16:creationId xmlns:a16="http://schemas.microsoft.com/office/drawing/2014/main" id="{109CFBB8-9D66-D4B6-D793-3B22F728A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912" y="2336005"/>
                <a:ext cx="174728" cy="276999"/>
              </a:xfrm>
              <a:prstGeom prst="rect">
                <a:avLst/>
              </a:prstGeom>
              <a:blipFill>
                <a:blip r:embed="rId4"/>
                <a:stretch>
                  <a:fillRect l="-35714" r="-35714" b="-6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el 13">
                <a:extLst>
                  <a:ext uri="{FF2B5EF4-FFF2-40B4-BE49-F238E27FC236}">
                    <a16:creationId xmlns:a16="http://schemas.microsoft.com/office/drawing/2014/main" id="{1CFDF539-1C36-1A0B-F6E1-1E787DAB10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7556330"/>
                  </p:ext>
                </p:extLst>
              </p:nvPr>
            </p:nvGraphicFramePr>
            <p:xfrm>
              <a:off x="374650" y="3219451"/>
              <a:ext cx="5054600" cy="22250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527300">
                      <a:extLst>
                        <a:ext uri="{9D8B030D-6E8A-4147-A177-3AD203B41FA5}">
                          <a16:colId xmlns:a16="http://schemas.microsoft.com/office/drawing/2014/main" val="4119438424"/>
                        </a:ext>
                      </a:extLst>
                    </a:gridCol>
                    <a:gridCol w="2527300">
                      <a:extLst>
                        <a:ext uri="{9D8B030D-6E8A-4147-A177-3AD203B41FA5}">
                          <a16:colId xmlns:a16="http://schemas.microsoft.com/office/drawing/2014/main" val="24368544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err="1"/>
                            <a:t>Bovengrens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["/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2,+∞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2765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err="1"/>
                            <a:t>Ondergrens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endChr m:val="]"/>
                                    <m:ctrlPr>
                                      <a:rPr lang="fr-B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BE" b="0" i="1" smtClean="0">
                                        <a:latin typeface="Cambria Math" panose="02040503050406030204" pitchFamily="18" charset="0"/>
                                      </a:rPr>
                                      <m:t>−∞,1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4189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Infimum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B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30031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Supremum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BE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53075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Minimum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B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5494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Maximum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BE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94137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el 13">
                <a:extLst>
                  <a:ext uri="{FF2B5EF4-FFF2-40B4-BE49-F238E27FC236}">
                    <a16:creationId xmlns:a16="http://schemas.microsoft.com/office/drawing/2014/main" id="{1CFDF539-1C36-1A0B-F6E1-1E787DAB10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7556330"/>
                  </p:ext>
                </p:extLst>
              </p:nvPr>
            </p:nvGraphicFramePr>
            <p:xfrm>
              <a:off x="374650" y="3219451"/>
              <a:ext cx="5054600" cy="22250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527300">
                      <a:extLst>
                        <a:ext uri="{9D8B030D-6E8A-4147-A177-3AD203B41FA5}">
                          <a16:colId xmlns:a16="http://schemas.microsoft.com/office/drawing/2014/main" val="4119438424"/>
                        </a:ext>
                      </a:extLst>
                    </a:gridCol>
                    <a:gridCol w="2527300">
                      <a:extLst>
                        <a:ext uri="{9D8B030D-6E8A-4147-A177-3AD203B41FA5}">
                          <a16:colId xmlns:a16="http://schemas.microsoft.com/office/drawing/2014/main" val="24368544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err="1"/>
                            <a:t>Bovengrens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>
                        <a:blipFill>
                          <a:blip r:embed="rId5"/>
                          <a:stretch>
                            <a:fillRect l="-100241" t="-6557" r="-482" b="-5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42765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err="1"/>
                            <a:t>Ondergrens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>
                        <a:blipFill>
                          <a:blip r:embed="rId5"/>
                          <a:stretch>
                            <a:fillRect l="-100241" t="-106557" r="-482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4189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Infimum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>
                        <a:blipFill>
                          <a:blip r:embed="rId5"/>
                          <a:stretch>
                            <a:fillRect l="-100241" t="-206557" r="-482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30031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Supremum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>
                        <a:blipFill>
                          <a:blip r:embed="rId5"/>
                          <a:stretch>
                            <a:fillRect l="-100241" t="-306557" r="-482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53075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Minimum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>
                        <a:blipFill>
                          <a:blip r:embed="rId5"/>
                          <a:stretch>
                            <a:fillRect l="-100241" t="-406557" r="-482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5494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Maximum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>
                        <a:blipFill>
                          <a:blip r:embed="rId5"/>
                          <a:stretch>
                            <a:fillRect l="-100241" t="-506557" r="-482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941371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el 15">
                <a:extLst>
                  <a:ext uri="{FF2B5EF4-FFF2-40B4-BE49-F238E27FC236}">
                    <a16:creationId xmlns:a16="http://schemas.microsoft.com/office/drawing/2014/main" id="{F4A0EA51-AC0E-CE9C-CF75-BB74010F2C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6878763"/>
                  </p:ext>
                </p:extLst>
              </p:nvPr>
            </p:nvGraphicFramePr>
            <p:xfrm>
              <a:off x="6762752" y="3219451"/>
              <a:ext cx="5054600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527300">
                      <a:extLst>
                        <a:ext uri="{9D8B030D-6E8A-4147-A177-3AD203B41FA5}">
                          <a16:colId xmlns:a16="http://schemas.microsoft.com/office/drawing/2014/main" val="4119438424"/>
                        </a:ext>
                      </a:extLst>
                    </a:gridCol>
                    <a:gridCol w="2527300">
                      <a:extLst>
                        <a:ext uri="{9D8B030D-6E8A-4147-A177-3AD203B41FA5}">
                          <a16:colId xmlns:a16="http://schemas.microsoft.com/office/drawing/2014/main" val="24368544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err="1"/>
                            <a:t>Inwendige</a:t>
                          </a:r>
                          <a:r>
                            <a:rPr lang="en-GB" dirty="0"/>
                            <a:t> </a:t>
                          </a:r>
                          <a:r>
                            <a:rPr lang="en-GB" dirty="0" err="1"/>
                            <a:t>punten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fr-B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BE" b="0" i="1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2765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err="1"/>
                            <a:t>Uitwendige</a:t>
                          </a:r>
                          <a:r>
                            <a:rPr lang="en-GB" dirty="0"/>
                            <a:t> </a:t>
                          </a:r>
                          <a:r>
                            <a:rPr lang="en-GB" dirty="0" err="1"/>
                            <a:t>punten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fr-B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BE" b="0" i="1" smtClean="0">
                                        <a:latin typeface="Cambria Math" panose="02040503050406030204" pitchFamily="18" charset="0"/>
                                      </a:rPr>
                                      <m:t>−∞,1</m:t>
                                    </m:r>
                                  </m:e>
                                </m:d>
                                <m:r>
                                  <a:rPr lang="fr-B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∪</m:t>
                                </m:r>
                                <m:d>
                                  <m:dPr>
                                    <m:ctrlPr>
                                      <a:rPr lang="fr-B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B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2,+∞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4189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err="1"/>
                            <a:t>Randpunten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fr-B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BE" b="0" i="1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30031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el 15">
                <a:extLst>
                  <a:ext uri="{FF2B5EF4-FFF2-40B4-BE49-F238E27FC236}">
                    <a16:creationId xmlns:a16="http://schemas.microsoft.com/office/drawing/2014/main" id="{F4A0EA51-AC0E-CE9C-CF75-BB74010F2C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6878763"/>
                  </p:ext>
                </p:extLst>
              </p:nvPr>
            </p:nvGraphicFramePr>
            <p:xfrm>
              <a:off x="6762752" y="3219451"/>
              <a:ext cx="5054600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527300">
                      <a:extLst>
                        <a:ext uri="{9D8B030D-6E8A-4147-A177-3AD203B41FA5}">
                          <a16:colId xmlns:a16="http://schemas.microsoft.com/office/drawing/2014/main" val="4119438424"/>
                        </a:ext>
                      </a:extLst>
                    </a:gridCol>
                    <a:gridCol w="2527300">
                      <a:extLst>
                        <a:ext uri="{9D8B030D-6E8A-4147-A177-3AD203B41FA5}">
                          <a16:colId xmlns:a16="http://schemas.microsoft.com/office/drawing/2014/main" val="24368544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err="1"/>
                            <a:t>Inwendige</a:t>
                          </a:r>
                          <a:r>
                            <a:rPr lang="en-GB" dirty="0"/>
                            <a:t> </a:t>
                          </a:r>
                          <a:r>
                            <a:rPr lang="en-GB" dirty="0" err="1"/>
                            <a:t>punten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>
                        <a:blipFill>
                          <a:blip r:embed="rId6"/>
                          <a:stretch>
                            <a:fillRect l="-100241" t="-6557" r="-482" b="-2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42765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err="1"/>
                            <a:t>Uitwendige</a:t>
                          </a:r>
                          <a:r>
                            <a:rPr lang="en-GB" dirty="0"/>
                            <a:t> </a:t>
                          </a:r>
                          <a:r>
                            <a:rPr lang="en-GB" dirty="0" err="1"/>
                            <a:t>punten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>
                        <a:blipFill>
                          <a:blip r:embed="rId6"/>
                          <a:stretch>
                            <a:fillRect l="-100241" t="-106557" r="-482" b="-1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4189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err="1"/>
                            <a:t>Randpunten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>
                        <a:blipFill>
                          <a:blip r:embed="rId6"/>
                          <a:stretch>
                            <a:fillRect l="-100241" t="-206557" r="-482" b="-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300314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el 16">
                <a:extLst>
                  <a:ext uri="{FF2B5EF4-FFF2-40B4-BE49-F238E27FC236}">
                    <a16:creationId xmlns:a16="http://schemas.microsoft.com/office/drawing/2014/main" id="{A3775D09-9671-25D7-FC1B-31A7602149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671405"/>
                  </p:ext>
                </p:extLst>
              </p:nvPr>
            </p:nvGraphicFramePr>
            <p:xfrm>
              <a:off x="6762752" y="4888231"/>
              <a:ext cx="5054600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527300">
                      <a:extLst>
                        <a:ext uri="{9D8B030D-6E8A-4147-A177-3AD203B41FA5}">
                          <a16:colId xmlns:a16="http://schemas.microsoft.com/office/drawing/2014/main" val="2741737364"/>
                        </a:ext>
                      </a:extLst>
                    </a:gridCol>
                    <a:gridCol w="2527300">
                      <a:extLst>
                        <a:ext uri="{9D8B030D-6E8A-4147-A177-3AD203B41FA5}">
                          <a16:colId xmlns:a16="http://schemas.microsoft.com/office/drawing/2014/main" val="28415817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err="1"/>
                            <a:t>Ophopingspunten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fr-B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BE" b="0" i="1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586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err="1"/>
                            <a:t>Geïsoleerd</a:t>
                          </a:r>
                          <a:r>
                            <a:rPr lang="en-GB" dirty="0"/>
                            <a:t> </a:t>
                          </a:r>
                          <a:r>
                            <a:rPr lang="en-GB" dirty="0" err="1"/>
                            <a:t>punten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GB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92458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err="1"/>
                            <a:t>Afsluitingspunten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fr-B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BE" b="0" i="1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0036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el 16">
                <a:extLst>
                  <a:ext uri="{FF2B5EF4-FFF2-40B4-BE49-F238E27FC236}">
                    <a16:creationId xmlns:a16="http://schemas.microsoft.com/office/drawing/2014/main" id="{A3775D09-9671-25D7-FC1B-31A7602149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671405"/>
                  </p:ext>
                </p:extLst>
              </p:nvPr>
            </p:nvGraphicFramePr>
            <p:xfrm>
              <a:off x="6762752" y="4888231"/>
              <a:ext cx="5054600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527300">
                      <a:extLst>
                        <a:ext uri="{9D8B030D-6E8A-4147-A177-3AD203B41FA5}">
                          <a16:colId xmlns:a16="http://schemas.microsoft.com/office/drawing/2014/main" val="2741737364"/>
                        </a:ext>
                      </a:extLst>
                    </a:gridCol>
                    <a:gridCol w="2527300">
                      <a:extLst>
                        <a:ext uri="{9D8B030D-6E8A-4147-A177-3AD203B41FA5}">
                          <a16:colId xmlns:a16="http://schemas.microsoft.com/office/drawing/2014/main" val="28415817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err="1"/>
                            <a:t>Ophopingspunten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>
                        <a:blipFill>
                          <a:blip r:embed="rId7"/>
                          <a:stretch>
                            <a:fillRect l="-100241" t="-6557" r="-482" b="-2278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586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err="1"/>
                            <a:t>Geïsoleerd</a:t>
                          </a:r>
                          <a:r>
                            <a:rPr lang="en-GB" dirty="0"/>
                            <a:t> </a:t>
                          </a:r>
                          <a:r>
                            <a:rPr lang="en-GB" dirty="0" err="1"/>
                            <a:t>punten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>
                        <a:blipFill>
                          <a:blip r:embed="rId7"/>
                          <a:stretch>
                            <a:fillRect l="-100241" t="-104839" r="-482" b="-1241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2458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err="1"/>
                            <a:t>Afsluitingspunten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>
                        <a:blipFill>
                          <a:blip r:embed="rId7"/>
                          <a:stretch>
                            <a:fillRect l="-100241" t="-208197" r="-482" b="-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00360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731EA01-0965-2399-E1E7-8758AF584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3458251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BEE2C5-9907-5AA5-DDDF-B3A226E36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err="1"/>
              <a:t>Afsluitingspunten</a:t>
            </a:r>
            <a:r>
              <a:rPr lang="fr-BE" dirty="0"/>
              <a:t>?</a:t>
            </a:r>
            <a:endParaRPr lang="en-GB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ED77FE6-BCD7-1714-9D40-A4A139EDD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5191125"/>
          </a:xfrm>
        </p:spPr>
        <p:txBody>
          <a:bodyPr>
            <a:normAutofit/>
          </a:bodyPr>
          <a:lstStyle/>
          <a:p>
            <a:r>
              <a:rPr lang="fr-BE" i="1" dirty="0"/>
              <a:t>Hoe </a:t>
            </a:r>
            <a:r>
              <a:rPr lang="fr-BE" i="1" dirty="0" err="1"/>
              <a:t>klein</a:t>
            </a:r>
            <a:r>
              <a:rPr lang="fr-BE" i="1" dirty="0"/>
              <a:t> </a:t>
            </a:r>
            <a:r>
              <a:rPr lang="fr-BE" i="1" dirty="0" err="1"/>
              <a:t>balletje</a:t>
            </a:r>
            <a:r>
              <a:rPr lang="fr-BE" i="1" dirty="0"/>
              <a:t> rond z </a:t>
            </a:r>
            <a:r>
              <a:rPr lang="fr-BE" i="1" dirty="0" err="1"/>
              <a:t>ook</a:t>
            </a:r>
            <a:r>
              <a:rPr lang="fr-BE" i="1" dirty="0"/>
              <a:t> </a:t>
            </a:r>
            <a:r>
              <a:rPr lang="fr-BE" i="1" dirty="0" err="1"/>
              <a:t>is</a:t>
            </a:r>
            <a:endParaRPr lang="fr-BE" i="1" dirty="0"/>
          </a:p>
          <a:p>
            <a:r>
              <a:rPr lang="fr-BE" i="1" dirty="0"/>
              <a:t>Het </a:t>
            </a:r>
            <a:r>
              <a:rPr lang="fr-BE" i="1" dirty="0" err="1"/>
              <a:t>is</a:t>
            </a:r>
            <a:r>
              <a:rPr lang="fr-BE" i="1" dirty="0"/>
              <a:t> </a:t>
            </a:r>
            <a:r>
              <a:rPr lang="fr-BE" i="1" dirty="0" err="1"/>
              <a:t>een</a:t>
            </a:r>
            <a:r>
              <a:rPr lang="fr-BE" i="1" dirty="0"/>
              <a:t> </a:t>
            </a:r>
            <a:r>
              <a:rPr lang="fr-BE" i="1" dirty="0" err="1"/>
              <a:t>afsluitingspunt</a:t>
            </a:r>
            <a:r>
              <a:rPr lang="fr-BE" i="1" dirty="0"/>
              <a:t> van de </a:t>
            </a:r>
            <a:r>
              <a:rPr lang="fr-BE" i="1" dirty="0" err="1"/>
              <a:t>verzameling</a:t>
            </a:r>
            <a:r>
              <a:rPr lang="fr-BE" i="1" dirty="0"/>
              <a:t> </a:t>
            </a:r>
            <a:r>
              <a:rPr lang="fr-BE" i="1" dirty="0" err="1"/>
              <a:t>als</a:t>
            </a:r>
            <a:r>
              <a:rPr lang="fr-BE" i="1" dirty="0"/>
              <a:t>…</a:t>
            </a:r>
          </a:p>
          <a:p>
            <a:r>
              <a:rPr lang="fr-BE" b="1" dirty="0" err="1"/>
              <a:t>Deze</a:t>
            </a:r>
            <a:r>
              <a:rPr lang="fr-BE" b="1" dirty="0"/>
              <a:t> </a:t>
            </a:r>
            <a:r>
              <a:rPr lang="fr-BE" b="1" dirty="0" err="1"/>
              <a:t>omgeving</a:t>
            </a:r>
            <a:r>
              <a:rPr lang="fr-BE" b="1" dirty="0"/>
              <a:t> </a:t>
            </a:r>
            <a:r>
              <a:rPr lang="fr-BE" b="1" dirty="0" err="1"/>
              <a:t>altijd</a:t>
            </a:r>
            <a:r>
              <a:rPr lang="fr-BE" b="1" dirty="0"/>
              <a:t> </a:t>
            </a:r>
            <a:r>
              <a:rPr lang="fr-BE" b="1" dirty="0" err="1"/>
              <a:t>een</a:t>
            </a:r>
            <a:r>
              <a:rPr lang="fr-BE" b="1" dirty="0"/>
              <a:t> punt van de </a:t>
            </a:r>
            <a:r>
              <a:rPr lang="fr-BE" b="1" dirty="0" err="1"/>
              <a:t>verzameling</a:t>
            </a:r>
            <a:r>
              <a:rPr lang="fr-BE" b="1" dirty="0"/>
              <a:t> </a:t>
            </a:r>
            <a:r>
              <a:rPr lang="fr-BE" b="1" dirty="0" err="1"/>
              <a:t>bevat</a:t>
            </a:r>
            <a:endParaRPr lang="fr-BE" b="1" dirty="0"/>
          </a:p>
          <a:p>
            <a:endParaRPr lang="fr-BE" dirty="0"/>
          </a:p>
          <a:p>
            <a:r>
              <a:rPr lang="fr-BE" i="1" dirty="0"/>
              <a:t>Dus </a:t>
            </a:r>
            <a:r>
              <a:rPr lang="fr-BE" i="1" dirty="0" err="1"/>
              <a:t>als</a:t>
            </a:r>
            <a:r>
              <a:rPr lang="fr-BE" i="1" dirty="0"/>
              <a:t> z in de </a:t>
            </a:r>
            <a:r>
              <a:rPr lang="fr-BE" i="1" dirty="0" err="1"/>
              <a:t>verzameling</a:t>
            </a:r>
            <a:r>
              <a:rPr lang="fr-BE" i="1" dirty="0"/>
              <a:t> </a:t>
            </a:r>
            <a:r>
              <a:rPr lang="fr-BE" i="1" dirty="0" err="1"/>
              <a:t>zit</a:t>
            </a:r>
            <a:r>
              <a:rPr lang="fr-BE" i="1" dirty="0"/>
              <a:t> dan …</a:t>
            </a:r>
          </a:p>
          <a:p>
            <a:r>
              <a:rPr lang="fr-BE" b="1" dirty="0" err="1"/>
              <a:t>zal</a:t>
            </a:r>
            <a:r>
              <a:rPr lang="fr-BE" b="1" dirty="0"/>
              <a:t> </a:t>
            </a:r>
            <a:r>
              <a:rPr lang="fr-BE" b="1" dirty="0" err="1"/>
              <a:t>deze</a:t>
            </a:r>
            <a:r>
              <a:rPr lang="fr-BE" b="1" dirty="0"/>
              <a:t> </a:t>
            </a:r>
            <a:r>
              <a:rPr lang="fr-BE" b="1" dirty="0" err="1"/>
              <a:t>altijd</a:t>
            </a:r>
            <a:r>
              <a:rPr lang="fr-BE" b="1" dirty="0"/>
              <a:t> </a:t>
            </a:r>
            <a:r>
              <a:rPr lang="fr-BE" b="1" dirty="0" err="1"/>
              <a:t>een</a:t>
            </a:r>
            <a:r>
              <a:rPr lang="fr-BE" b="1" dirty="0"/>
              <a:t> </a:t>
            </a:r>
            <a:r>
              <a:rPr lang="fr-BE" b="1" dirty="0" err="1"/>
              <a:t>afsluitingspunt</a:t>
            </a:r>
            <a:r>
              <a:rPr lang="fr-BE" b="1" dirty="0"/>
              <a:t> </a:t>
            </a:r>
            <a:r>
              <a:rPr lang="fr-BE" b="1" dirty="0" err="1"/>
              <a:t>zijn</a:t>
            </a:r>
          </a:p>
          <a:p>
            <a:endParaRPr lang="fr-BE" dirty="0"/>
          </a:p>
        </p:txBody>
      </p:sp>
      <p:sp>
        <p:nvSpPr>
          <p:cNvPr id="5" name="Ovaal 4">
            <a:extLst>
              <a:ext uri="{FF2B5EF4-FFF2-40B4-BE49-F238E27FC236}">
                <a16:creationId xmlns:a16="http://schemas.microsoft.com/office/drawing/2014/main" id="{C8BEB2E1-873B-6A72-AB0D-C6B1B26B43DC}"/>
              </a:ext>
            </a:extLst>
          </p:cNvPr>
          <p:cNvSpPr/>
          <p:nvPr/>
        </p:nvSpPr>
        <p:spPr>
          <a:xfrm>
            <a:off x="9929811" y="675063"/>
            <a:ext cx="1076325" cy="1083094"/>
          </a:xfrm>
          <a:prstGeom prst="ellipse">
            <a:avLst/>
          </a:prstGeom>
          <a:solidFill>
            <a:srgbClr val="BFE9BF"/>
          </a:solidFill>
          <a:ln w="28575">
            <a:solidFill>
              <a:schemeClr val="tx1"/>
            </a:solidFill>
            <a:prstDash val="lg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al 6">
            <a:extLst>
              <a:ext uri="{FF2B5EF4-FFF2-40B4-BE49-F238E27FC236}">
                <a16:creationId xmlns:a16="http://schemas.microsoft.com/office/drawing/2014/main" id="{37D2EF4C-96BC-2F4B-62B2-22C53ED22534}"/>
              </a:ext>
            </a:extLst>
          </p:cNvPr>
          <p:cNvSpPr/>
          <p:nvPr/>
        </p:nvSpPr>
        <p:spPr>
          <a:xfrm flipH="1">
            <a:off x="10448924" y="1188035"/>
            <a:ext cx="57150" cy="5715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4CF71C5F-A764-5A45-8D91-C92FA56D39E9}"/>
              </a:ext>
            </a:extLst>
          </p:cNvPr>
          <p:cNvSpPr txBox="1"/>
          <p:nvPr/>
        </p:nvSpPr>
        <p:spPr>
          <a:xfrm>
            <a:off x="10191133" y="1154400"/>
            <a:ext cx="514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1" dirty="0"/>
              <a:t>z</a:t>
            </a:r>
            <a:endParaRPr lang="en-GB" i="1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20E9D5D1-D458-C4E7-3F61-7B54CBE24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4098612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FD567-AB31-1688-B7CB-8B4ED6A64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0EE749-D0D1-DA91-A93E-4F6E02FC5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err="1"/>
              <a:t>Afsluitingspunten</a:t>
            </a:r>
            <a:r>
              <a:rPr lang="fr-BE" dirty="0"/>
              <a:t>?</a:t>
            </a:r>
            <a:endParaRPr lang="en-GB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DB8868B-5E86-E453-CA3D-C017A030D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7493"/>
            <a:ext cx="10515600" cy="4401431"/>
          </a:xfrm>
        </p:spPr>
        <p:txBody>
          <a:bodyPr>
            <a:normAutofit/>
          </a:bodyPr>
          <a:lstStyle/>
          <a:p>
            <a:r>
              <a:rPr lang="fr-BE" dirty="0"/>
              <a:t>Kan </a:t>
            </a:r>
            <a:r>
              <a:rPr lang="fr-BE" dirty="0" err="1"/>
              <a:t>een</a:t>
            </a:r>
            <a:r>
              <a:rPr lang="fr-BE" dirty="0"/>
              <a:t> punt </a:t>
            </a:r>
            <a:r>
              <a:rPr lang="fr-BE" dirty="0" err="1"/>
              <a:t>buiten</a:t>
            </a:r>
            <a:r>
              <a:rPr lang="fr-BE" dirty="0"/>
              <a:t> de </a:t>
            </a:r>
            <a:r>
              <a:rPr lang="fr-BE" dirty="0" err="1"/>
              <a:t>verzameling</a:t>
            </a:r>
            <a:r>
              <a:rPr lang="fr-BE" dirty="0"/>
              <a:t> </a:t>
            </a:r>
            <a:r>
              <a:rPr lang="fr-BE" dirty="0" err="1"/>
              <a:t>een</a:t>
            </a:r>
            <a:r>
              <a:rPr lang="fr-BE" dirty="0"/>
              <a:t> </a:t>
            </a:r>
            <a:r>
              <a:rPr lang="fr-BE" dirty="0" err="1"/>
              <a:t>afsluitingspunt</a:t>
            </a:r>
            <a:r>
              <a:rPr lang="fr-BE" dirty="0"/>
              <a:t> </a:t>
            </a:r>
            <a:r>
              <a:rPr lang="fr-BE" dirty="0" err="1"/>
              <a:t>zijn</a:t>
            </a:r>
            <a:r>
              <a:rPr lang="fr-BE" dirty="0"/>
              <a:t>?</a:t>
            </a:r>
          </a:p>
          <a:p>
            <a:endParaRPr lang="fr-BE" dirty="0"/>
          </a:p>
          <a:p>
            <a:endParaRPr lang="fr-BE" b="1" dirty="0"/>
          </a:p>
          <a:p>
            <a:endParaRPr lang="fr-BE" b="1" dirty="0"/>
          </a:p>
          <a:p>
            <a:endParaRPr lang="fr-BE" dirty="0"/>
          </a:p>
        </p:txBody>
      </p:sp>
      <p:sp>
        <p:nvSpPr>
          <p:cNvPr id="5" name="Ovaal 4">
            <a:extLst>
              <a:ext uri="{FF2B5EF4-FFF2-40B4-BE49-F238E27FC236}">
                <a16:creationId xmlns:a16="http://schemas.microsoft.com/office/drawing/2014/main" id="{D4F04A89-69B1-2C9D-7289-9A4AA5DB6DAE}"/>
              </a:ext>
            </a:extLst>
          </p:cNvPr>
          <p:cNvSpPr/>
          <p:nvPr/>
        </p:nvSpPr>
        <p:spPr>
          <a:xfrm>
            <a:off x="9929811" y="675063"/>
            <a:ext cx="1076325" cy="1083094"/>
          </a:xfrm>
          <a:prstGeom prst="ellipse">
            <a:avLst/>
          </a:prstGeom>
          <a:solidFill>
            <a:srgbClr val="BFE9BF"/>
          </a:solidFill>
          <a:ln w="28575">
            <a:solidFill>
              <a:schemeClr val="tx1"/>
            </a:solidFill>
            <a:prstDash val="lg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al 6">
            <a:extLst>
              <a:ext uri="{FF2B5EF4-FFF2-40B4-BE49-F238E27FC236}">
                <a16:creationId xmlns:a16="http://schemas.microsoft.com/office/drawing/2014/main" id="{AF3D90F0-B84B-111C-83C5-BC7ADBEC7299}"/>
              </a:ext>
            </a:extLst>
          </p:cNvPr>
          <p:cNvSpPr/>
          <p:nvPr/>
        </p:nvSpPr>
        <p:spPr>
          <a:xfrm flipH="1">
            <a:off x="10448924" y="1188035"/>
            <a:ext cx="57150" cy="5715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AF3D21AF-2385-9EBB-0D26-D69A9FF59174}"/>
              </a:ext>
            </a:extLst>
          </p:cNvPr>
          <p:cNvSpPr txBox="1"/>
          <p:nvPr/>
        </p:nvSpPr>
        <p:spPr>
          <a:xfrm>
            <a:off x="10191133" y="1154400"/>
            <a:ext cx="514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1" dirty="0"/>
              <a:t>z</a:t>
            </a:r>
            <a:endParaRPr lang="en-GB" i="1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50E2B5B9-1392-1274-0D93-91CBBC76A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382953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566-E4B0-D69C-A1D4-C7D5ED3ED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1738B3-3668-4D9E-7591-3391A6393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875"/>
            <a:ext cx="10515600" cy="1076325"/>
          </a:xfrm>
        </p:spPr>
        <p:txBody>
          <a:bodyPr/>
          <a:lstStyle/>
          <a:p>
            <a:r>
              <a:rPr lang="en-GB" dirty="0" err="1"/>
              <a:t>Inleidende</a:t>
            </a:r>
            <a:r>
              <a:rPr lang="en-GB" dirty="0"/>
              <a:t> </a:t>
            </a:r>
            <a:r>
              <a:rPr lang="en-GB" dirty="0" err="1"/>
              <a:t>begrippen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34CF5EB4-327A-913A-2288-5B2B274FA1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57550" y="388144"/>
                <a:ext cx="10515600" cy="260508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 | 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ℕ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34CF5EB4-327A-913A-2288-5B2B274FA1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57550" y="388144"/>
                <a:ext cx="10515600" cy="260508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Rechte verbindingslijn met pijl 4">
            <a:extLst>
              <a:ext uri="{FF2B5EF4-FFF2-40B4-BE49-F238E27FC236}">
                <a16:creationId xmlns:a16="http://schemas.microsoft.com/office/drawing/2014/main" id="{A0E8F3F0-C240-9516-0A71-AE3C17831BE4}"/>
              </a:ext>
            </a:extLst>
          </p:cNvPr>
          <p:cNvCxnSpPr/>
          <p:nvPr/>
        </p:nvCxnSpPr>
        <p:spPr>
          <a:xfrm>
            <a:off x="1143000" y="2162175"/>
            <a:ext cx="103441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kstvak 10">
                <a:extLst>
                  <a:ext uri="{FF2B5EF4-FFF2-40B4-BE49-F238E27FC236}">
                    <a16:creationId xmlns:a16="http://schemas.microsoft.com/office/drawing/2014/main" id="{850B2579-724A-4DC7-B31C-F51D886BAEC8}"/>
                  </a:ext>
                </a:extLst>
              </p:cNvPr>
              <p:cNvSpPr txBox="1"/>
              <p:nvPr/>
            </p:nvSpPr>
            <p:spPr>
              <a:xfrm>
                <a:off x="3833812" y="2342375"/>
                <a:ext cx="1747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kstvak 10">
                <a:extLst>
                  <a:ext uri="{FF2B5EF4-FFF2-40B4-BE49-F238E27FC236}">
                    <a16:creationId xmlns:a16="http://schemas.microsoft.com/office/drawing/2014/main" id="{850B2579-724A-4DC7-B31C-F51D886BA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3812" y="2342375"/>
                <a:ext cx="174728" cy="276999"/>
              </a:xfrm>
              <a:prstGeom prst="rect">
                <a:avLst/>
              </a:prstGeom>
              <a:blipFill>
                <a:blip r:embed="rId3"/>
                <a:stretch>
                  <a:fillRect l="-34483" r="-31034" b="-6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6A6827AB-32D4-C1B7-F8E7-DCE3C31D949C}"/>
                  </a:ext>
                </a:extLst>
              </p:cNvPr>
              <p:cNvSpPr txBox="1"/>
              <p:nvPr/>
            </p:nvSpPr>
            <p:spPr>
              <a:xfrm>
                <a:off x="8101012" y="2351900"/>
                <a:ext cx="1747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6A6827AB-32D4-C1B7-F8E7-DCE3C31D9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1012" y="2351900"/>
                <a:ext cx="174728" cy="276999"/>
              </a:xfrm>
              <a:prstGeom prst="rect">
                <a:avLst/>
              </a:prstGeom>
              <a:blipFill>
                <a:blip r:embed="rId4"/>
                <a:stretch>
                  <a:fillRect l="-34483" r="-31034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al 13">
            <a:extLst>
              <a:ext uri="{FF2B5EF4-FFF2-40B4-BE49-F238E27FC236}">
                <a16:creationId xmlns:a16="http://schemas.microsoft.com/office/drawing/2014/main" id="{3BFC69DC-1C1A-2981-6A74-BD135B03D9DF}"/>
              </a:ext>
            </a:extLst>
          </p:cNvPr>
          <p:cNvSpPr/>
          <p:nvPr/>
        </p:nvSpPr>
        <p:spPr>
          <a:xfrm>
            <a:off x="8158162" y="2131121"/>
            <a:ext cx="62106" cy="6210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al 19">
            <a:extLst>
              <a:ext uri="{FF2B5EF4-FFF2-40B4-BE49-F238E27FC236}">
                <a16:creationId xmlns:a16="http://schemas.microsoft.com/office/drawing/2014/main" id="{AB4DD7C6-AA5D-9E81-4065-0EADD7B62E6B}"/>
              </a:ext>
            </a:extLst>
          </p:cNvPr>
          <p:cNvSpPr/>
          <p:nvPr/>
        </p:nvSpPr>
        <p:spPr>
          <a:xfrm>
            <a:off x="6064947" y="2131121"/>
            <a:ext cx="62106" cy="6210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al 21">
            <a:extLst>
              <a:ext uri="{FF2B5EF4-FFF2-40B4-BE49-F238E27FC236}">
                <a16:creationId xmlns:a16="http://schemas.microsoft.com/office/drawing/2014/main" id="{B6578858-021B-E375-8869-C5E0B03EAAE5}"/>
              </a:ext>
            </a:extLst>
          </p:cNvPr>
          <p:cNvSpPr/>
          <p:nvPr/>
        </p:nvSpPr>
        <p:spPr>
          <a:xfrm>
            <a:off x="5224462" y="2131121"/>
            <a:ext cx="62106" cy="6210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al 23">
            <a:extLst>
              <a:ext uri="{FF2B5EF4-FFF2-40B4-BE49-F238E27FC236}">
                <a16:creationId xmlns:a16="http://schemas.microsoft.com/office/drawing/2014/main" id="{7250728F-11F5-EC3F-14F2-B6CB11EA04F9}"/>
              </a:ext>
            </a:extLst>
          </p:cNvPr>
          <p:cNvSpPr/>
          <p:nvPr/>
        </p:nvSpPr>
        <p:spPr>
          <a:xfrm>
            <a:off x="4860227" y="2131121"/>
            <a:ext cx="62106" cy="6210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al 33">
            <a:extLst>
              <a:ext uri="{FF2B5EF4-FFF2-40B4-BE49-F238E27FC236}">
                <a16:creationId xmlns:a16="http://schemas.microsoft.com/office/drawing/2014/main" id="{1ECE8151-57ED-048A-02B3-B2A46D9E9D69}"/>
              </a:ext>
            </a:extLst>
          </p:cNvPr>
          <p:cNvSpPr/>
          <p:nvPr/>
        </p:nvSpPr>
        <p:spPr>
          <a:xfrm>
            <a:off x="4604194" y="2133598"/>
            <a:ext cx="62106" cy="6210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al 35">
            <a:extLst>
              <a:ext uri="{FF2B5EF4-FFF2-40B4-BE49-F238E27FC236}">
                <a16:creationId xmlns:a16="http://schemas.microsoft.com/office/drawing/2014/main" id="{5AEA2DF3-C7FF-221A-E5A3-29ADA887A181}"/>
              </a:ext>
            </a:extLst>
          </p:cNvPr>
          <p:cNvSpPr/>
          <p:nvPr/>
        </p:nvSpPr>
        <p:spPr>
          <a:xfrm>
            <a:off x="4476178" y="2131121"/>
            <a:ext cx="62106" cy="6210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al 37">
            <a:extLst>
              <a:ext uri="{FF2B5EF4-FFF2-40B4-BE49-F238E27FC236}">
                <a16:creationId xmlns:a16="http://schemas.microsoft.com/office/drawing/2014/main" id="{4956EEAC-D052-6807-0834-170D156A5FE5}"/>
              </a:ext>
            </a:extLst>
          </p:cNvPr>
          <p:cNvSpPr/>
          <p:nvPr/>
        </p:nvSpPr>
        <p:spPr>
          <a:xfrm>
            <a:off x="4369496" y="2131121"/>
            <a:ext cx="62106" cy="6210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Ovaal 39">
            <a:extLst>
              <a:ext uri="{FF2B5EF4-FFF2-40B4-BE49-F238E27FC236}">
                <a16:creationId xmlns:a16="http://schemas.microsoft.com/office/drawing/2014/main" id="{2AE3C2BD-C4DC-4AC0-793D-D81FD7B79DB9}"/>
              </a:ext>
            </a:extLst>
          </p:cNvPr>
          <p:cNvSpPr/>
          <p:nvPr/>
        </p:nvSpPr>
        <p:spPr>
          <a:xfrm>
            <a:off x="4262814" y="2131121"/>
            <a:ext cx="62106" cy="6210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Ovaal 41">
            <a:extLst>
              <a:ext uri="{FF2B5EF4-FFF2-40B4-BE49-F238E27FC236}">
                <a16:creationId xmlns:a16="http://schemas.microsoft.com/office/drawing/2014/main" id="{F603E4F9-B448-6DF7-6BBC-5B981EDBCD07}"/>
              </a:ext>
            </a:extLst>
          </p:cNvPr>
          <p:cNvSpPr/>
          <p:nvPr/>
        </p:nvSpPr>
        <p:spPr>
          <a:xfrm>
            <a:off x="4183952" y="2131121"/>
            <a:ext cx="62106" cy="6210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Ovaal 45">
            <a:extLst>
              <a:ext uri="{FF2B5EF4-FFF2-40B4-BE49-F238E27FC236}">
                <a16:creationId xmlns:a16="http://schemas.microsoft.com/office/drawing/2014/main" id="{81F253A3-6423-A197-EBCB-5EDE5D21F254}"/>
              </a:ext>
            </a:extLst>
          </p:cNvPr>
          <p:cNvSpPr/>
          <p:nvPr/>
        </p:nvSpPr>
        <p:spPr>
          <a:xfrm>
            <a:off x="4127566" y="2131121"/>
            <a:ext cx="62106" cy="6210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Ovaal 47">
            <a:extLst>
              <a:ext uri="{FF2B5EF4-FFF2-40B4-BE49-F238E27FC236}">
                <a16:creationId xmlns:a16="http://schemas.microsoft.com/office/drawing/2014/main" id="{06D28361-42BA-CF46-0685-E0962ECFC9E3}"/>
              </a:ext>
            </a:extLst>
          </p:cNvPr>
          <p:cNvSpPr/>
          <p:nvPr/>
        </p:nvSpPr>
        <p:spPr>
          <a:xfrm>
            <a:off x="4059739" y="2131121"/>
            <a:ext cx="62106" cy="6210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al 49">
            <a:extLst>
              <a:ext uri="{FF2B5EF4-FFF2-40B4-BE49-F238E27FC236}">
                <a16:creationId xmlns:a16="http://schemas.microsoft.com/office/drawing/2014/main" id="{F499D699-5072-3AE8-EA79-7D1FC50DE9A8}"/>
              </a:ext>
            </a:extLst>
          </p:cNvPr>
          <p:cNvSpPr/>
          <p:nvPr/>
        </p:nvSpPr>
        <p:spPr>
          <a:xfrm>
            <a:off x="4002785" y="2131121"/>
            <a:ext cx="62106" cy="6210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Ovaal 51">
            <a:extLst>
              <a:ext uri="{FF2B5EF4-FFF2-40B4-BE49-F238E27FC236}">
                <a16:creationId xmlns:a16="http://schemas.microsoft.com/office/drawing/2014/main" id="{C5780188-5F84-267A-67D6-39D72D3924D2}"/>
              </a:ext>
            </a:extLst>
          </p:cNvPr>
          <p:cNvSpPr/>
          <p:nvPr/>
        </p:nvSpPr>
        <p:spPr>
          <a:xfrm>
            <a:off x="3955351" y="2131121"/>
            <a:ext cx="62106" cy="6210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4" name="Tabel 53">
                <a:extLst>
                  <a:ext uri="{FF2B5EF4-FFF2-40B4-BE49-F238E27FC236}">
                    <a16:creationId xmlns:a16="http://schemas.microsoft.com/office/drawing/2014/main" id="{703A16B8-9954-8A2D-237F-40824B2AC9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7985817"/>
                  </p:ext>
                </p:extLst>
              </p:nvPr>
            </p:nvGraphicFramePr>
            <p:xfrm>
              <a:off x="374650" y="3219451"/>
              <a:ext cx="5054600" cy="22250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527300">
                      <a:extLst>
                        <a:ext uri="{9D8B030D-6E8A-4147-A177-3AD203B41FA5}">
                          <a16:colId xmlns:a16="http://schemas.microsoft.com/office/drawing/2014/main" val="4119438424"/>
                        </a:ext>
                      </a:extLst>
                    </a:gridCol>
                    <a:gridCol w="2527300">
                      <a:extLst>
                        <a:ext uri="{9D8B030D-6E8A-4147-A177-3AD203B41FA5}">
                          <a16:colId xmlns:a16="http://schemas.microsoft.com/office/drawing/2014/main" val="24368544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err="1"/>
                            <a:t>Bovengrens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["/>
                                    <m:ctrlPr>
                                      <a:rPr lang="fr-B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BE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,+∞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2765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err="1"/>
                            <a:t>Ondergrens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endChr m:val="]"/>
                                    <m:ctrlPr>
                                      <a:rPr lang="fr-B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BE" b="0" i="1" smtClean="0">
                                        <a:latin typeface="Cambria Math" panose="02040503050406030204" pitchFamily="18" charset="0"/>
                                      </a:rPr>
                                      <m:t>−∞,0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4189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Infimum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BE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30031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Supremum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B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53075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Minimum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BE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5494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Maximum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B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94137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4" name="Tabel 53">
                <a:extLst>
                  <a:ext uri="{FF2B5EF4-FFF2-40B4-BE49-F238E27FC236}">
                    <a16:creationId xmlns:a16="http://schemas.microsoft.com/office/drawing/2014/main" id="{703A16B8-9954-8A2D-237F-40824B2AC9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7985817"/>
                  </p:ext>
                </p:extLst>
              </p:nvPr>
            </p:nvGraphicFramePr>
            <p:xfrm>
              <a:off x="374650" y="3219451"/>
              <a:ext cx="5054600" cy="22250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527300">
                      <a:extLst>
                        <a:ext uri="{9D8B030D-6E8A-4147-A177-3AD203B41FA5}">
                          <a16:colId xmlns:a16="http://schemas.microsoft.com/office/drawing/2014/main" val="4119438424"/>
                        </a:ext>
                      </a:extLst>
                    </a:gridCol>
                    <a:gridCol w="2527300">
                      <a:extLst>
                        <a:ext uri="{9D8B030D-6E8A-4147-A177-3AD203B41FA5}">
                          <a16:colId xmlns:a16="http://schemas.microsoft.com/office/drawing/2014/main" val="24368544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err="1"/>
                            <a:t>Bovengrens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>
                        <a:blipFill>
                          <a:blip r:embed="rId5"/>
                          <a:stretch>
                            <a:fillRect l="-100241" t="-6557" r="-482" b="-5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42765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err="1"/>
                            <a:t>Ondergrens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>
                        <a:blipFill>
                          <a:blip r:embed="rId5"/>
                          <a:stretch>
                            <a:fillRect l="-100241" t="-106557" r="-482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4189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Infimum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>
                        <a:blipFill>
                          <a:blip r:embed="rId5"/>
                          <a:stretch>
                            <a:fillRect l="-100241" t="-206557" r="-482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30031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Supremum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>
                        <a:blipFill>
                          <a:blip r:embed="rId5"/>
                          <a:stretch>
                            <a:fillRect l="-100241" t="-306557" r="-482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53075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Minimum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>
                        <a:blipFill>
                          <a:blip r:embed="rId5"/>
                          <a:stretch>
                            <a:fillRect l="-100241" t="-406557" r="-482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5494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Maximum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>
                        <a:blipFill>
                          <a:blip r:embed="rId5"/>
                          <a:stretch>
                            <a:fillRect l="-100241" t="-506557" r="-482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941371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6" name="Tabel 55">
                <a:extLst>
                  <a:ext uri="{FF2B5EF4-FFF2-40B4-BE49-F238E27FC236}">
                    <a16:creationId xmlns:a16="http://schemas.microsoft.com/office/drawing/2014/main" id="{5F842ED0-C88D-30C3-19A5-F1B96E14DD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191360"/>
                  </p:ext>
                </p:extLst>
              </p:nvPr>
            </p:nvGraphicFramePr>
            <p:xfrm>
              <a:off x="6762752" y="3219451"/>
              <a:ext cx="5054600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527300">
                      <a:extLst>
                        <a:ext uri="{9D8B030D-6E8A-4147-A177-3AD203B41FA5}">
                          <a16:colId xmlns:a16="http://schemas.microsoft.com/office/drawing/2014/main" val="4119438424"/>
                        </a:ext>
                      </a:extLst>
                    </a:gridCol>
                    <a:gridCol w="2527300">
                      <a:extLst>
                        <a:ext uri="{9D8B030D-6E8A-4147-A177-3AD203B41FA5}">
                          <a16:colId xmlns:a16="http://schemas.microsoft.com/office/drawing/2014/main" val="24368544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err="1"/>
                            <a:t>Inwendige</a:t>
                          </a:r>
                          <a:r>
                            <a:rPr lang="en-GB" dirty="0"/>
                            <a:t> </a:t>
                          </a:r>
                          <a:r>
                            <a:rPr lang="en-GB" dirty="0" err="1"/>
                            <a:t>punten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GB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2765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err="1"/>
                            <a:t>Uitwendige</a:t>
                          </a:r>
                          <a:r>
                            <a:rPr lang="en-GB" dirty="0"/>
                            <a:t> </a:t>
                          </a:r>
                          <a:r>
                            <a:rPr lang="en-GB" dirty="0" err="1"/>
                            <a:t>punten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GB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ℝ</m:t>
                                </m:r>
                                <m:r>
                                  <a:rPr lang="fr-B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\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fr-B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B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4189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err="1"/>
                            <a:t>Randpunten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acc>
                                  <m:accPr>
                                    <m:chr m:val="̅"/>
                                    <m:ctrlPr>
                                      <a:rPr lang="fr-B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BE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</m:acc>
                                <m:r>
                                  <a:rPr lang="fr-BE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BE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fr-B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∪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fr-B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B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30031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6" name="Tabel 55">
                <a:extLst>
                  <a:ext uri="{FF2B5EF4-FFF2-40B4-BE49-F238E27FC236}">
                    <a16:creationId xmlns:a16="http://schemas.microsoft.com/office/drawing/2014/main" id="{5F842ED0-C88D-30C3-19A5-F1B96E14DD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191360"/>
                  </p:ext>
                </p:extLst>
              </p:nvPr>
            </p:nvGraphicFramePr>
            <p:xfrm>
              <a:off x="6762752" y="3219451"/>
              <a:ext cx="5054600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527300">
                      <a:extLst>
                        <a:ext uri="{9D8B030D-6E8A-4147-A177-3AD203B41FA5}">
                          <a16:colId xmlns:a16="http://schemas.microsoft.com/office/drawing/2014/main" val="4119438424"/>
                        </a:ext>
                      </a:extLst>
                    </a:gridCol>
                    <a:gridCol w="2527300">
                      <a:extLst>
                        <a:ext uri="{9D8B030D-6E8A-4147-A177-3AD203B41FA5}">
                          <a16:colId xmlns:a16="http://schemas.microsoft.com/office/drawing/2014/main" val="24368544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err="1"/>
                            <a:t>Inwendige</a:t>
                          </a:r>
                          <a:r>
                            <a:rPr lang="en-GB" dirty="0"/>
                            <a:t> </a:t>
                          </a:r>
                          <a:r>
                            <a:rPr lang="en-GB" dirty="0" err="1"/>
                            <a:t>punten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>
                        <a:blipFill>
                          <a:blip r:embed="rId6"/>
                          <a:stretch>
                            <a:fillRect l="-100241" t="-6557" r="-482" b="-2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42765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err="1"/>
                            <a:t>Uitwendige</a:t>
                          </a:r>
                          <a:r>
                            <a:rPr lang="en-GB" dirty="0"/>
                            <a:t> </a:t>
                          </a:r>
                          <a:r>
                            <a:rPr lang="en-GB" dirty="0" err="1"/>
                            <a:t>punten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>
                        <a:blipFill>
                          <a:blip r:embed="rId6"/>
                          <a:stretch>
                            <a:fillRect l="-100241" t="-106557" r="-482" b="-1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4189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err="1"/>
                            <a:t>Randpunten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>
                        <a:blipFill>
                          <a:blip r:embed="rId6"/>
                          <a:stretch>
                            <a:fillRect l="-100241" t="-206557" r="-482" b="-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300314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8" name="Tabel 57">
                <a:extLst>
                  <a:ext uri="{FF2B5EF4-FFF2-40B4-BE49-F238E27FC236}">
                    <a16:creationId xmlns:a16="http://schemas.microsoft.com/office/drawing/2014/main" id="{DE63A5E8-3FC9-DA45-C5FC-3BFFF44E19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5119685"/>
                  </p:ext>
                </p:extLst>
              </p:nvPr>
            </p:nvGraphicFramePr>
            <p:xfrm>
              <a:off x="6762752" y="4888231"/>
              <a:ext cx="5054600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527300">
                      <a:extLst>
                        <a:ext uri="{9D8B030D-6E8A-4147-A177-3AD203B41FA5}">
                          <a16:colId xmlns:a16="http://schemas.microsoft.com/office/drawing/2014/main" val="2741737364"/>
                        </a:ext>
                      </a:extLst>
                    </a:gridCol>
                    <a:gridCol w="2527300">
                      <a:extLst>
                        <a:ext uri="{9D8B030D-6E8A-4147-A177-3AD203B41FA5}">
                          <a16:colId xmlns:a16="http://schemas.microsoft.com/office/drawing/2014/main" val="28415817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err="1"/>
                            <a:t>Ophopingspunten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BE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586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err="1"/>
                            <a:t>Geïsoleerd</a:t>
                          </a:r>
                          <a:r>
                            <a:rPr lang="en-GB" dirty="0"/>
                            <a:t> </a:t>
                          </a:r>
                          <a:r>
                            <a:rPr lang="en-GB" dirty="0" err="1"/>
                            <a:t>punten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fr-B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92458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err="1"/>
                            <a:t>Afsluitingspunten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fr-BE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fr-B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∪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fr-B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B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0036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8" name="Tabel 57">
                <a:extLst>
                  <a:ext uri="{FF2B5EF4-FFF2-40B4-BE49-F238E27FC236}">
                    <a16:creationId xmlns:a16="http://schemas.microsoft.com/office/drawing/2014/main" id="{DE63A5E8-3FC9-DA45-C5FC-3BFFF44E19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5119685"/>
                  </p:ext>
                </p:extLst>
              </p:nvPr>
            </p:nvGraphicFramePr>
            <p:xfrm>
              <a:off x="6762752" y="4888231"/>
              <a:ext cx="5054600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527300">
                      <a:extLst>
                        <a:ext uri="{9D8B030D-6E8A-4147-A177-3AD203B41FA5}">
                          <a16:colId xmlns:a16="http://schemas.microsoft.com/office/drawing/2014/main" val="2741737364"/>
                        </a:ext>
                      </a:extLst>
                    </a:gridCol>
                    <a:gridCol w="2527300">
                      <a:extLst>
                        <a:ext uri="{9D8B030D-6E8A-4147-A177-3AD203B41FA5}">
                          <a16:colId xmlns:a16="http://schemas.microsoft.com/office/drawing/2014/main" val="28415817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err="1"/>
                            <a:t>Ophopingspunten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>
                        <a:blipFill>
                          <a:blip r:embed="rId7"/>
                          <a:stretch>
                            <a:fillRect l="-100241" t="-6557" r="-482" b="-2278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586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err="1"/>
                            <a:t>Geïsoleerd</a:t>
                          </a:r>
                          <a:r>
                            <a:rPr lang="en-GB" dirty="0"/>
                            <a:t> </a:t>
                          </a:r>
                          <a:r>
                            <a:rPr lang="en-GB" dirty="0" err="1"/>
                            <a:t>punten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>
                        <a:blipFill>
                          <a:blip r:embed="rId7"/>
                          <a:stretch>
                            <a:fillRect l="-100241" t="-104839" r="-482" b="-1241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2458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err="1"/>
                            <a:t>Afsluitingspunten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>
                        <a:blipFill>
                          <a:blip r:embed="rId7"/>
                          <a:stretch>
                            <a:fillRect l="-100241" t="-208197" r="-482" b="-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003600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60" name="Rechte verbindingslijn 59">
            <a:extLst>
              <a:ext uri="{FF2B5EF4-FFF2-40B4-BE49-F238E27FC236}">
                <a16:creationId xmlns:a16="http://schemas.microsoft.com/office/drawing/2014/main" id="{E632DBE8-6158-B6C6-45D6-A2B4ED4E05B2}"/>
              </a:ext>
            </a:extLst>
          </p:cNvPr>
          <p:cNvCxnSpPr>
            <a:cxnSpLocks/>
          </p:cNvCxnSpPr>
          <p:nvPr/>
        </p:nvCxnSpPr>
        <p:spPr>
          <a:xfrm>
            <a:off x="3924300" y="2066925"/>
            <a:ext cx="0" cy="17621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25096D98-3D67-956A-A956-9DDE2502F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509935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24" grpId="0" animBg="1"/>
      <p:bldP spid="34" grpId="0" animBg="1"/>
      <p:bldP spid="36" grpId="0" animBg="1"/>
      <p:bldP spid="38" grpId="0" animBg="1"/>
      <p:bldP spid="40" grpId="0" animBg="1"/>
      <p:bldP spid="42" grpId="0" animBg="1"/>
      <p:bldP spid="46" grpId="0" animBg="1"/>
      <p:bldP spid="48" grpId="0" animBg="1"/>
      <p:bldP spid="50" grpId="0" animBg="1"/>
      <p:bldP spid="5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97513-7813-E627-F2FF-E049EFBE3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532FEE-165E-D353-808B-EA6FF1FB6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err="1"/>
              <a:t>Afsluitingspunten</a:t>
            </a:r>
            <a:r>
              <a:rPr lang="fr-BE" dirty="0"/>
              <a:t>?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95F882A1-30B8-AA86-C266-6D991CB92C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396691"/>
                <a:ext cx="10515600" cy="4242234"/>
              </a:xfrm>
            </p:spPr>
            <p:txBody>
              <a:bodyPr>
                <a:normAutofit/>
              </a:bodyPr>
              <a:lstStyle/>
              <a:p>
                <a:r>
                  <a:rPr lang="fr-BE" dirty="0"/>
                  <a:t>Kan </a:t>
                </a:r>
                <a:r>
                  <a:rPr lang="fr-BE" dirty="0" err="1"/>
                  <a:t>een</a:t>
                </a:r>
                <a:r>
                  <a:rPr lang="fr-BE" dirty="0"/>
                  <a:t> punt </a:t>
                </a:r>
                <a:r>
                  <a:rPr lang="fr-BE" dirty="0" err="1"/>
                  <a:t>buiten</a:t>
                </a:r>
                <a:r>
                  <a:rPr lang="fr-BE" dirty="0"/>
                  <a:t> de </a:t>
                </a:r>
                <a:r>
                  <a:rPr lang="fr-BE" dirty="0" err="1"/>
                  <a:t>verzameling</a:t>
                </a:r>
                <a:r>
                  <a:rPr lang="fr-BE" dirty="0"/>
                  <a:t> </a:t>
                </a:r>
                <a:r>
                  <a:rPr lang="fr-BE" dirty="0" err="1"/>
                  <a:t>een</a:t>
                </a:r>
                <a:r>
                  <a:rPr lang="fr-BE" dirty="0"/>
                  <a:t> </a:t>
                </a:r>
                <a:r>
                  <a:rPr lang="fr-BE" dirty="0" err="1"/>
                  <a:t>afsluitingspunt</a:t>
                </a:r>
                <a:r>
                  <a:rPr lang="fr-BE" dirty="0"/>
                  <a:t> </a:t>
                </a:r>
                <a:r>
                  <a:rPr lang="fr-BE" dirty="0" err="1"/>
                  <a:t>zijn</a:t>
                </a:r>
                <a:r>
                  <a:rPr lang="fr-BE" dirty="0"/>
                  <a:t>?</a:t>
                </a:r>
              </a:p>
              <a:p>
                <a:pPr marL="0" indent="0">
                  <a:buNone/>
                </a:pPr>
                <a:endParaRPr lang="fr-BE" dirty="0"/>
              </a:p>
              <a:p>
                <a:r>
                  <a:rPr lang="fr-BE" dirty="0" err="1"/>
                  <a:t>Voorbeeld</a:t>
                </a:r>
                <a:r>
                  <a:rPr lang="fr-BE" dirty="0"/>
                  <a:t> </a:t>
                </a:r>
                <a:r>
                  <a:rPr lang="fr-BE" dirty="0" err="1"/>
                  <a:t>vorige</a:t>
                </a:r>
                <a:r>
                  <a:rPr lang="fr-BE" dirty="0"/>
                  <a:t> slide</a:t>
                </a:r>
                <a:endParaRPr lang="en-GB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fr-BE" dirty="0"/>
                  <a:t> </a:t>
                </a:r>
                <a:r>
                  <a:rPr lang="fr-BE" dirty="0" err="1"/>
                  <a:t>heeft</a:t>
                </a:r>
                <a:r>
                  <a:rPr lang="fr-BE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BE" dirty="0"/>
                  <a:t> 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fr-BE" dirty="0"/>
                  <a:t> </a:t>
                </a:r>
                <a:r>
                  <a:rPr lang="fr-BE" dirty="0" err="1"/>
                  <a:t>als</a:t>
                </a:r>
                <a:r>
                  <a:rPr lang="fr-BE" dirty="0"/>
                  <a:t> </a:t>
                </a:r>
                <a:r>
                  <a:rPr lang="fr-BE" dirty="0" err="1"/>
                  <a:t>randpunten</a:t>
                </a:r>
                <a:r>
                  <a:rPr lang="fr-BE" dirty="0"/>
                  <a:t> ( dus </a:t>
                </a:r>
                <a:r>
                  <a:rPr lang="fr-BE" dirty="0" err="1"/>
                  <a:t>ook</a:t>
                </a:r>
                <a:r>
                  <a:rPr lang="fr-BE" dirty="0"/>
                  <a:t> </a:t>
                </a:r>
                <a:r>
                  <a:rPr lang="fr-BE" dirty="0" err="1"/>
                  <a:t>afsluitingspunten</a:t>
                </a:r>
                <a:r>
                  <a:rPr lang="fr-BE" dirty="0"/>
                  <a:t> )</a:t>
                </a:r>
              </a:p>
              <a:p>
                <a:endParaRPr lang="fr-BE" dirty="0"/>
              </a:p>
              <a:p>
                <a:r>
                  <a:rPr lang="fr-BE" dirty="0" err="1"/>
                  <a:t>Afsluitingspunten</a:t>
                </a:r>
                <a:r>
                  <a:rPr lang="fr-BE" dirty="0"/>
                  <a:t> = </a:t>
                </a:r>
                <a:r>
                  <a:rPr lang="fr-BE" dirty="0" err="1"/>
                  <a:t>Inwendige</a:t>
                </a:r>
                <a:r>
                  <a:rPr lang="fr-BE" dirty="0"/>
                  <a:t> </a:t>
                </a:r>
                <a:r>
                  <a:rPr lang="fr-BE" dirty="0" err="1"/>
                  <a:t>punten</a:t>
                </a:r>
                <a:r>
                  <a:rPr lang="fr-BE" dirty="0"/>
                  <a:t> + </a:t>
                </a:r>
                <a:r>
                  <a:rPr lang="fr-BE" dirty="0" err="1"/>
                  <a:t>randpunten</a:t>
                </a:r>
                <a:endParaRPr lang="fr-BE" dirty="0"/>
              </a:p>
              <a:p>
                <a:r>
                  <a:rPr lang="fr-BE" dirty="0" err="1"/>
                  <a:t>Afsluitingspunten</a:t>
                </a:r>
                <a:r>
                  <a:rPr lang="fr-BE" dirty="0"/>
                  <a:t> = </a:t>
                </a:r>
                <a:r>
                  <a:rPr lang="fr-BE" dirty="0" err="1"/>
                  <a:t>ophopingspunten</a:t>
                </a:r>
                <a:r>
                  <a:rPr lang="fr-BE" dirty="0"/>
                  <a:t> + </a:t>
                </a:r>
                <a:r>
                  <a:rPr lang="fr-BE" dirty="0" err="1"/>
                  <a:t>geïsoleerde</a:t>
                </a:r>
                <a:r>
                  <a:rPr lang="fr-BE" dirty="0"/>
                  <a:t> </a:t>
                </a:r>
                <a:r>
                  <a:rPr lang="fr-BE" dirty="0" err="1"/>
                  <a:t>punten</a:t>
                </a:r>
                <a:endParaRPr lang="en-GB" dirty="0"/>
              </a:p>
              <a:p>
                <a:endParaRPr lang="en-GB" dirty="0"/>
              </a:p>
              <a:p>
                <a:endParaRPr lang="fr-BE" dirty="0"/>
              </a:p>
              <a:p>
                <a:endParaRPr lang="fr-BE" b="1" dirty="0"/>
              </a:p>
              <a:p>
                <a:endParaRPr lang="fr-BE" b="1" dirty="0"/>
              </a:p>
              <a:p>
                <a:endParaRPr lang="fr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95F882A1-30B8-AA86-C266-6D991CB92C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396691"/>
                <a:ext cx="10515600" cy="4242234"/>
              </a:xfrm>
              <a:blipFill>
                <a:blip r:embed="rId2"/>
                <a:stretch>
                  <a:fillRect l="-1043" t="-2443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al 4">
            <a:extLst>
              <a:ext uri="{FF2B5EF4-FFF2-40B4-BE49-F238E27FC236}">
                <a16:creationId xmlns:a16="http://schemas.microsoft.com/office/drawing/2014/main" id="{1654343A-E509-F6BD-A8FC-11578D29CDB2}"/>
              </a:ext>
            </a:extLst>
          </p:cNvPr>
          <p:cNvSpPr/>
          <p:nvPr/>
        </p:nvSpPr>
        <p:spPr>
          <a:xfrm>
            <a:off x="9929811" y="675063"/>
            <a:ext cx="1076325" cy="1083094"/>
          </a:xfrm>
          <a:prstGeom prst="ellipse">
            <a:avLst/>
          </a:prstGeom>
          <a:solidFill>
            <a:srgbClr val="BFE9BF"/>
          </a:solidFill>
          <a:ln w="28575">
            <a:solidFill>
              <a:schemeClr val="tx1"/>
            </a:solidFill>
            <a:prstDash val="lg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al 6">
            <a:extLst>
              <a:ext uri="{FF2B5EF4-FFF2-40B4-BE49-F238E27FC236}">
                <a16:creationId xmlns:a16="http://schemas.microsoft.com/office/drawing/2014/main" id="{B78DCEE6-351C-8F72-4912-7E563509654D}"/>
              </a:ext>
            </a:extLst>
          </p:cNvPr>
          <p:cNvSpPr/>
          <p:nvPr/>
        </p:nvSpPr>
        <p:spPr>
          <a:xfrm flipH="1">
            <a:off x="10448924" y="1188035"/>
            <a:ext cx="57150" cy="5715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81B56229-CA45-B3DC-059C-A1C63F28F321}"/>
              </a:ext>
            </a:extLst>
          </p:cNvPr>
          <p:cNvSpPr txBox="1"/>
          <p:nvPr/>
        </p:nvSpPr>
        <p:spPr>
          <a:xfrm>
            <a:off x="10191133" y="1154400"/>
            <a:ext cx="514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1" dirty="0"/>
              <a:t>z</a:t>
            </a:r>
            <a:endParaRPr lang="en-GB" i="1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FCAA8A1A-0B97-D329-EF5A-7C1DD4A7F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584702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47F430-1B73-EC93-C8A7-C56AC41C8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Oefeningen</a:t>
            </a:r>
            <a:endParaRPr lang="en-GB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122EE49-51F4-A20D-D080-94B829BCA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1.2i</a:t>
            </a:r>
          </a:p>
          <a:p>
            <a:r>
              <a:rPr lang="en-GB" dirty="0"/>
              <a:t>1.3b</a:t>
            </a:r>
          </a:p>
          <a:p>
            <a:r>
              <a:rPr lang="en-GB" dirty="0"/>
              <a:t>1.12c</a:t>
            </a:r>
          </a:p>
          <a:p>
            <a:r>
              <a:rPr lang="en-GB" dirty="0"/>
              <a:t>1.13 </a:t>
            </a:r>
            <a:r>
              <a:rPr lang="en-GB" dirty="0" err="1"/>
              <a:t>c,e</a:t>
            </a:r>
            <a:endParaRPr lang="en-GB" dirty="0"/>
          </a:p>
          <a:p>
            <a:r>
              <a:rPr lang="en-GB" dirty="0"/>
              <a:t>1.14c</a:t>
            </a:r>
          </a:p>
          <a:p>
            <a:r>
              <a:rPr lang="en-GB" dirty="0"/>
              <a:t>1.15</a:t>
            </a:r>
          </a:p>
          <a:p>
            <a:r>
              <a:rPr lang="en-GB" dirty="0"/>
              <a:t>1.9</a:t>
            </a:r>
          </a:p>
          <a:p>
            <a:r>
              <a:rPr lang="en-GB" dirty="0"/>
              <a:t>1.5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7FD0978-9E1B-518B-A5D3-3877AC3C7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512826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D6BEB5-1B85-2E2F-3A43-4BF438CCF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Oefening 1.3B</a:t>
            </a:r>
            <a:endParaRPr lang="nl-BE" b="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AF1A0872-999A-9430-09CE-7CD045DFEB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den>
                        </m:f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GB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dirty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GB" i="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AF1A0872-999A-9430-09CE-7CD045DFE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Afbeelding 4" descr="Afbeelding met tekst, lijn, schermopname, diagram&#10;&#10;Door AI gegenereerde inhoud is mogelijk onjuist.">
            <a:extLst>
              <a:ext uri="{FF2B5EF4-FFF2-40B4-BE49-F238E27FC236}">
                <a16:creationId xmlns:a16="http://schemas.microsoft.com/office/drawing/2014/main" id="{4151BB35-2D66-757D-7394-2047AAF74D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717" y="343535"/>
            <a:ext cx="6149340" cy="6149340"/>
          </a:xfrm>
          <a:prstGeom prst="rect">
            <a:avLst/>
          </a:prstGeom>
        </p:spPr>
      </p:pic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B5D839E-82E5-6B6C-12C6-320C163B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184975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C0C2B5-F693-F916-BB1D-A1D8CF88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Niveaulijnen</a:t>
            </a:r>
          </a:p>
        </p:txBody>
      </p:sp>
      <p:pic>
        <p:nvPicPr>
          <p:cNvPr id="5" name="Tijdelijke aanduiding voor inhoud 4" descr="Lesson 4-Isotherms - Sixth Grade ScienceWeather">
            <a:extLst>
              <a:ext uri="{FF2B5EF4-FFF2-40B4-BE49-F238E27FC236}">
                <a16:creationId xmlns:a16="http://schemas.microsoft.com/office/drawing/2014/main" id="{4E6864FC-C164-03E5-DC87-5086BD713A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5651088" cy="4351338"/>
          </a:xfrm>
          <a:prstGeom prst="rect">
            <a:avLst/>
          </a:prstGeom>
        </p:spPr>
      </p:pic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742BAEB-BD73-8022-5436-CCCF4E1B4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vak 6">
                <a:extLst>
                  <a:ext uri="{FF2B5EF4-FFF2-40B4-BE49-F238E27FC236}">
                    <a16:creationId xmlns:a16="http://schemas.microsoft.com/office/drawing/2014/main" id="{AAC2302C-763C-2C62-0094-02C6BAF0B53B}"/>
                  </a:ext>
                </a:extLst>
              </p:cNvPr>
              <p:cNvSpPr txBox="1"/>
              <p:nvPr/>
            </p:nvSpPr>
            <p:spPr>
              <a:xfrm>
                <a:off x="8689484" y="1198245"/>
                <a:ext cx="129670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nl-BE" sz="3200" dirty="0"/>
              </a:p>
            </p:txBody>
          </p:sp>
        </mc:Choice>
        <mc:Fallback xmlns="">
          <p:sp>
            <p:nvSpPr>
              <p:cNvPr id="7" name="Tekstvak 6">
                <a:extLst>
                  <a:ext uri="{FF2B5EF4-FFF2-40B4-BE49-F238E27FC236}">
                    <a16:creationId xmlns:a16="http://schemas.microsoft.com/office/drawing/2014/main" id="{AAC2302C-763C-2C62-0094-02C6BAF0B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9484" y="1198245"/>
                <a:ext cx="1296702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Afbeelding 9" descr="Generic Level Sets in Mean Curvature Flow are BV Solutions | The Journal of  Geometric Analysis | Springer Nature Link">
            <a:extLst>
              <a:ext uri="{FF2B5EF4-FFF2-40B4-BE49-F238E27FC236}">
                <a16:creationId xmlns:a16="http://schemas.microsoft.com/office/drawing/2014/main" id="{03117471-298D-A7D5-0EB0-2927899D03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2437" y="1861278"/>
            <a:ext cx="5098181" cy="40403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kstvak 10">
                <a:extLst>
                  <a:ext uri="{FF2B5EF4-FFF2-40B4-BE49-F238E27FC236}">
                    <a16:creationId xmlns:a16="http://schemas.microsoft.com/office/drawing/2014/main" id="{981151B2-0AD4-1CB0-8EC4-172520C3C65A}"/>
                  </a:ext>
                </a:extLst>
              </p:cNvPr>
              <p:cNvSpPr txBox="1"/>
              <p:nvPr/>
            </p:nvSpPr>
            <p:spPr>
              <a:xfrm>
                <a:off x="7642459" y="5303519"/>
                <a:ext cx="1769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11" name="Tekstvak 10">
                <a:extLst>
                  <a:ext uri="{FF2B5EF4-FFF2-40B4-BE49-F238E27FC236}">
                    <a16:creationId xmlns:a16="http://schemas.microsoft.com/office/drawing/2014/main" id="{981151B2-0AD4-1CB0-8EC4-172520C3C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2459" y="5303519"/>
                <a:ext cx="176907" cy="276999"/>
              </a:xfrm>
              <a:prstGeom prst="rect">
                <a:avLst/>
              </a:prstGeom>
              <a:blipFill>
                <a:blip r:embed="rId5"/>
                <a:stretch>
                  <a:fillRect l="-20690" r="-17241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kstvak 12">
                <a:extLst>
                  <a:ext uri="{FF2B5EF4-FFF2-40B4-BE49-F238E27FC236}">
                    <a16:creationId xmlns:a16="http://schemas.microsoft.com/office/drawing/2014/main" id="{0A4B0E53-EE9B-097E-D2F3-818B8C92D743}"/>
                  </a:ext>
                </a:extLst>
              </p:cNvPr>
              <p:cNvSpPr txBox="1"/>
              <p:nvPr/>
            </p:nvSpPr>
            <p:spPr>
              <a:xfrm>
                <a:off x="10903819" y="5442018"/>
                <a:ext cx="1803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13" name="Tekstvak 12">
                <a:extLst>
                  <a:ext uri="{FF2B5EF4-FFF2-40B4-BE49-F238E27FC236}">
                    <a16:creationId xmlns:a16="http://schemas.microsoft.com/office/drawing/2014/main" id="{0A4B0E53-EE9B-097E-D2F3-818B8C92D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3819" y="5442018"/>
                <a:ext cx="180306" cy="276999"/>
              </a:xfrm>
              <a:prstGeom prst="rect">
                <a:avLst/>
              </a:prstGeom>
              <a:blipFill>
                <a:blip r:embed="rId6"/>
                <a:stretch>
                  <a:fillRect l="-34483" r="-34483" b="-26667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kstvak 14">
                <a:extLst>
                  <a:ext uri="{FF2B5EF4-FFF2-40B4-BE49-F238E27FC236}">
                    <a16:creationId xmlns:a16="http://schemas.microsoft.com/office/drawing/2014/main" id="{BD51BB57-D226-D98F-DCEB-E48B7569A647}"/>
                  </a:ext>
                </a:extLst>
              </p:cNvPr>
              <p:cNvSpPr txBox="1"/>
              <p:nvPr/>
            </p:nvSpPr>
            <p:spPr>
              <a:xfrm>
                <a:off x="6946232" y="2206562"/>
                <a:ext cx="1894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15" name="Tekstvak 14">
                <a:extLst>
                  <a:ext uri="{FF2B5EF4-FFF2-40B4-BE49-F238E27FC236}">
                    <a16:creationId xmlns:a16="http://schemas.microsoft.com/office/drawing/2014/main" id="{BD51BB57-D226-D98F-DCEB-E48B7569A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6232" y="2206562"/>
                <a:ext cx="189411" cy="276999"/>
              </a:xfrm>
              <a:prstGeom prst="rect">
                <a:avLst/>
              </a:prstGeom>
              <a:blipFill>
                <a:blip r:embed="rId7"/>
                <a:stretch>
                  <a:fillRect l="-28125" r="-28125" b="-6667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6068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61C08E-D2A3-F61E-631F-E4EA9E325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Niveaulijnen</a:t>
            </a:r>
          </a:p>
        </p:txBody>
      </p:sp>
      <p:pic>
        <p:nvPicPr>
          <p:cNvPr id="5" name="Tijdelijke aanduiding voor inhoud 4" descr="Level-set method - Wikipedia">
            <a:extLst>
              <a:ext uri="{FF2B5EF4-FFF2-40B4-BE49-F238E27FC236}">
                <a16:creationId xmlns:a16="http://schemas.microsoft.com/office/drawing/2014/main" id="{FEEE7DA7-A321-99AF-CB95-43363C5F98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2335" y="1690688"/>
            <a:ext cx="7487329" cy="4492398"/>
          </a:xfrm>
          <a:prstGeom prst="rect">
            <a:avLst/>
          </a:prstGeom>
        </p:spPr>
      </p:pic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386677E3-FEE2-CA9D-D8B9-DB00BE12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kstvak 7">
                <a:extLst>
                  <a:ext uri="{FF2B5EF4-FFF2-40B4-BE49-F238E27FC236}">
                    <a16:creationId xmlns:a16="http://schemas.microsoft.com/office/drawing/2014/main" id="{B6090367-5431-49DA-B043-9E067A9BA6A5}"/>
                  </a:ext>
                </a:extLst>
              </p:cNvPr>
              <p:cNvSpPr txBox="1"/>
              <p:nvPr/>
            </p:nvSpPr>
            <p:spPr>
              <a:xfrm>
                <a:off x="838199" y="4119613"/>
                <a:ext cx="11397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nl-BE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kstvak 7">
                <a:extLst>
                  <a:ext uri="{FF2B5EF4-FFF2-40B4-BE49-F238E27FC236}">
                    <a16:creationId xmlns:a16="http://schemas.microsoft.com/office/drawing/2014/main" id="{B6090367-5431-49DA-B043-9E067A9BA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119613"/>
                <a:ext cx="1139799" cy="276999"/>
              </a:xfrm>
              <a:prstGeom prst="rect">
                <a:avLst/>
              </a:prstGeom>
              <a:blipFill>
                <a:blip r:embed="rId3"/>
                <a:stretch>
                  <a:fillRect l="-2674" t="-2222" b="-35556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kstvak 8">
                <a:extLst>
                  <a:ext uri="{FF2B5EF4-FFF2-40B4-BE49-F238E27FC236}">
                    <a16:creationId xmlns:a16="http://schemas.microsoft.com/office/drawing/2014/main" id="{03A2B913-AF5B-B998-16FA-CE8A5D4963D5}"/>
                  </a:ext>
                </a:extLst>
              </p:cNvPr>
              <p:cNvSpPr txBox="1"/>
              <p:nvPr/>
            </p:nvSpPr>
            <p:spPr>
              <a:xfrm>
                <a:off x="838199" y="4523873"/>
                <a:ext cx="6075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GB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nl-BE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kstvak 8">
                <a:extLst>
                  <a:ext uri="{FF2B5EF4-FFF2-40B4-BE49-F238E27FC236}">
                    <a16:creationId xmlns:a16="http://schemas.microsoft.com/office/drawing/2014/main" id="{03A2B913-AF5B-B998-16FA-CE8A5D496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523873"/>
                <a:ext cx="607538" cy="276999"/>
              </a:xfrm>
              <a:prstGeom prst="rect">
                <a:avLst/>
              </a:prstGeom>
              <a:blipFill>
                <a:blip r:embed="rId4"/>
                <a:stretch>
                  <a:fillRect l="-5000" r="-10000" b="-8696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kstvak 10">
                <a:extLst>
                  <a:ext uri="{FF2B5EF4-FFF2-40B4-BE49-F238E27FC236}">
                    <a16:creationId xmlns:a16="http://schemas.microsoft.com/office/drawing/2014/main" id="{84B7154E-FEC0-B3F9-A5C5-21F893F04DB3}"/>
                  </a:ext>
                </a:extLst>
              </p:cNvPr>
              <p:cNvSpPr txBox="1"/>
              <p:nvPr/>
            </p:nvSpPr>
            <p:spPr>
              <a:xfrm>
                <a:off x="867245" y="2461388"/>
                <a:ext cx="11569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nl-BE" b="1" dirty="0"/>
              </a:p>
            </p:txBody>
          </p:sp>
        </mc:Choice>
        <mc:Fallback xmlns="">
          <p:sp>
            <p:nvSpPr>
              <p:cNvPr id="11" name="Tekstvak 10">
                <a:extLst>
                  <a:ext uri="{FF2B5EF4-FFF2-40B4-BE49-F238E27FC236}">
                    <a16:creationId xmlns:a16="http://schemas.microsoft.com/office/drawing/2014/main" id="{84B7154E-FEC0-B3F9-A5C5-21F893F04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245" y="2461388"/>
                <a:ext cx="1156983" cy="276999"/>
              </a:xfrm>
              <a:prstGeom prst="rect">
                <a:avLst/>
              </a:prstGeom>
              <a:blipFill>
                <a:blip r:embed="rId5"/>
                <a:stretch>
                  <a:fillRect l="-7368" t="-2222" r="-5789" b="-35556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Afbeelding 11" descr="Cartesian coordinates - Math Insight">
            <a:extLst>
              <a:ext uri="{FF2B5EF4-FFF2-40B4-BE49-F238E27FC236}">
                <a16:creationId xmlns:a16="http://schemas.microsoft.com/office/drawing/2014/main" id="{EB8C90F8-EA2A-577F-ED20-DBBD5962851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098" t="2229" r="4290" b="16079"/>
          <a:stretch>
            <a:fillRect/>
          </a:stretch>
        </p:blipFill>
        <p:spPr>
          <a:xfrm>
            <a:off x="9839664" y="3954003"/>
            <a:ext cx="2152514" cy="2154628"/>
          </a:xfrm>
          <a:prstGeom prst="rect">
            <a:avLst/>
          </a:prstGeom>
        </p:spPr>
      </p:pic>
      <p:pic>
        <p:nvPicPr>
          <p:cNvPr id="13" name="Afbeelding 12" descr="60+ Xy Plane Stock Photos and Royalty-Free Pictures - iStock">
            <a:extLst>
              <a:ext uri="{FF2B5EF4-FFF2-40B4-BE49-F238E27FC236}">
                <a16:creationId xmlns:a16="http://schemas.microsoft.com/office/drawing/2014/main" id="{0F259055-FCF6-7D93-820F-E37EB6A0FA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5164" y="1224496"/>
            <a:ext cx="2596836" cy="247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910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A2DD59-30FC-1B4B-6DF3-5ACDA02BD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Niveaulijnen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2EA4745-5AD2-C671-9054-335DF3390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https://www.geogebra.org/3d/knhg229e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2DA1157-DCED-3496-3787-AD5036477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13980739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ABC5E-3E7D-5BF3-1702-C3F0CB118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Oefening 1.14c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1D0BBE8-EB35-0843-6AF2-80649468A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https://www.geogebra.org/3d/neuucbef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A810440-1391-5746-CDD9-3A87738E5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695133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6BD00C-221B-769E-7C02-412235EE9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Oefening 1.15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591D0C9-F8C6-5D2C-4224-E23A8491C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https://www.geogebra.org/calculator/kpgg3wk3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0BEBA08A-2933-D194-C038-2D2C73C1E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611033131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</TotalTime>
  <Words>496</Words>
  <Application>Microsoft Office PowerPoint</Application>
  <PresentationFormat>Breedbeeld</PresentationFormat>
  <Paragraphs>172</Paragraphs>
  <Slides>18</Slides>
  <Notes>4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Kantoorthema</vt:lpstr>
      <vt:lpstr>Analyse I, Oefenzitting 1</vt:lpstr>
      <vt:lpstr>Praktische zaken</vt:lpstr>
      <vt:lpstr>Praktische zaken</vt:lpstr>
      <vt:lpstr>Even voorstellen</vt:lpstr>
      <vt:lpstr>Inleidende begrippen</vt:lpstr>
      <vt:lpstr>Inleidende begrippen</vt:lpstr>
      <vt:lpstr>Inleidende begrippen</vt:lpstr>
      <vt:lpstr>Afsluitingspunten?</vt:lpstr>
      <vt:lpstr>Afsluitingspunten?</vt:lpstr>
      <vt:lpstr>Inleidende begrippen</vt:lpstr>
      <vt:lpstr>Afsluitingspunten?</vt:lpstr>
      <vt:lpstr>Oefeningen</vt:lpstr>
      <vt:lpstr>Oefening 1.3B</vt:lpstr>
      <vt:lpstr>Niveaulijnen</vt:lpstr>
      <vt:lpstr>Niveaulijnen</vt:lpstr>
      <vt:lpstr>Niveaulijnen</vt:lpstr>
      <vt:lpstr>Oefening 1.14c</vt:lpstr>
      <vt:lpstr>Oefening 1.15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Jasper Visterin</dc:creator>
  <cp:lastModifiedBy>Jasper Visterin</cp:lastModifiedBy>
  <cp:revision>172</cp:revision>
  <dcterms:created xsi:type="dcterms:W3CDTF">2026-01-15T10:25:26Z</dcterms:created>
  <dcterms:modified xsi:type="dcterms:W3CDTF">2026-10-06T16:05:30Z</dcterms:modified>
</cp:coreProperties>
</file>