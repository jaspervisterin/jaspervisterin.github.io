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7" r:id="rId2"/>
    <p:sldId id="258" r:id="rId3"/>
    <p:sldId id="285" r:id="rId4"/>
    <p:sldId id="259" r:id="rId5"/>
    <p:sldId id="260" r:id="rId6"/>
    <p:sldId id="264" r:id="rId7"/>
    <p:sldId id="261" r:id="rId8"/>
    <p:sldId id="263" r:id="rId9"/>
    <p:sldId id="262" r:id="rId10"/>
    <p:sldId id="265" r:id="rId11"/>
    <p:sldId id="266" r:id="rId12"/>
    <p:sldId id="267" r:id="rId13"/>
    <p:sldId id="268" r:id="rId14"/>
    <p:sldId id="270" r:id="rId15"/>
    <p:sldId id="288" r:id="rId16"/>
    <p:sldId id="286" r:id="rId17"/>
    <p:sldId id="273" r:id="rId18"/>
    <p:sldId id="277" r:id="rId19"/>
    <p:sldId id="276" r:id="rId20"/>
    <p:sldId id="279" r:id="rId21"/>
    <p:sldId id="280" r:id="rId22"/>
    <p:sldId id="281" r:id="rId23"/>
    <p:sldId id="282" r:id="rId24"/>
    <p:sldId id="283" r:id="rId25"/>
    <p:sldId id="291" r:id="rId26"/>
    <p:sldId id="292" r:id="rId27"/>
    <p:sldId id="287" r:id="rId28"/>
    <p:sldId id="289" r:id="rId29"/>
    <p:sldId id="290" r:id="rId30"/>
    <p:sldId id="284" r:id="rId31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1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B7E03-661F-4C0B-9E36-F84246C76B04}" type="datetimeFigureOut">
              <a:rPr lang="nl-BE" smtClean="0"/>
              <a:t>23/10/2026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23A2B-3A7C-4F06-8B68-513F80AFACE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50888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23A2B-3A7C-4F06-8B68-513F80AFACE2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32286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15B7B-BBE9-6DA8-D0C5-AFD360EB9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9C8022B-6A22-CB30-9777-6545EB1189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088C8BB-8458-931E-B32F-44770F5E2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8AEA1D-3A63-4DCC-8F9E-CD0DD112EA0F}" type="datetime1">
              <a:rPr lang="en-GB" smtClean="0"/>
              <a:t>23/10/2026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F423BC5-7F94-EEBA-54AD-4834353A7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2E63DFC-A470-C148-B31C-5E68EF4AC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988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26117D-866D-6013-2E0B-E2716D5C7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5A62B33C-F4DE-008F-94F4-BCE42D6D8D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EF8BE6C-6B86-C2CA-55B2-FD2B25258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5B8CA-4143-4DB4-B3DE-A86564E80819}" type="datetime1">
              <a:rPr lang="en-GB" smtClean="0"/>
              <a:t>23/10/2026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60ECA4-9ED8-DEA6-AC7B-27AB3A00A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535D7B6-612A-AD0E-6396-2C968D9EF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0849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044A3D-9405-6E41-D78E-D1D7D840A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F9F18A7-E64B-068D-6B33-3B6CD662C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66B7FD6-B952-0704-8159-30216C32D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02A0E-D15A-4F40-9977-39CB8C790C52}" type="datetime1">
              <a:rPr lang="en-GB" smtClean="0"/>
              <a:t>23/10/2026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549613A-81DC-1462-D6DD-DE431C6A2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8459438-B390-2056-4FE2-7EC822F5E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5156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8339C4-7A86-12B3-AE4A-2B4165A15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821280B-64E9-573E-B860-EF70ED5FDC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8B118CF-942F-5F44-4A4F-3C08633894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96F715B-E86E-4C4B-1D71-B7EBFDE64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6CB1B1-EFD3-4622-A266-A9B50BDDB889}" type="datetime1">
              <a:rPr lang="en-GB" smtClean="0"/>
              <a:t>23/10/2026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385324D-0A0C-A65A-1A3D-6C314851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32E125E-7CFC-D5C1-7EE3-768E95402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699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E0B3AA-7946-3736-1527-6C9DC58DA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A260026-96C3-175C-1D37-C385CA563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A85D39-1134-56EA-3FB0-23B4CAD15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030FB4A0-B04B-A76E-9195-75ACA9CC53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76DD1DAC-8C09-9EDC-32C0-7E156A8E21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78D21D8-7D32-D541-34DD-0815D52F4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CDDD00-FA74-4297-9563-A6F8F6747D94}" type="datetime1">
              <a:rPr lang="en-GB" smtClean="0"/>
              <a:t>23/10/2026</a:t>
            </a:fld>
            <a:endParaRPr lang="en-GB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98A3BC21-3DE6-7474-28E6-58815B009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36C48F14-B35A-A610-654F-D6E99ADBA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903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0EFF94-2E12-C380-B072-FEDCBD95F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EE637C84-3108-0574-F688-116F9D929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4F46C-CEF6-41BB-B38E-8E1DFBBF95E1}" type="datetime1">
              <a:rPr lang="en-GB" smtClean="0"/>
              <a:t>23/10/2026</a:t>
            </a:fld>
            <a:endParaRPr lang="en-GB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7D3E80D-E7D7-F567-DF17-FBED11649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3E9D7AD-0111-44AF-E11C-892204E5B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8079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026C8F5F-3C74-147C-9F67-FEF46DCD7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2372E5-6DA2-4819-A932-963CCE7DCB96}" type="datetime1">
              <a:rPr lang="en-GB" smtClean="0"/>
              <a:t>23/10/2026</a:t>
            </a:fld>
            <a:endParaRPr lang="en-GB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4308D9C3-83F7-1FA4-3A12-8B6F7C328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6679C50D-1C7D-AE96-7609-F8F87CF6A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097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253356-58AA-A414-1F0B-BA61654A7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EDEEF7-A6FE-A5A4-6CEB-409B0FE4E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871F277-7BFE-E62C-60CD-BA5EBEA254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DE07D58-6B13-7B0A-0FBD-9B16B163C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D5B330-7BF2-4076-9D48-5C97281A2A16}" type="datetime1">
              <a:rPr lang="en-GB" smtClean="0"/>
              <a:t>23/10/2026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89B807E-FB1B-AA46-FED0-45C265605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CEB5844-ACD5-7685-0397-3A69506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744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806493-AE4C-F1DB-F510-5BE5F7081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B090CD6-6BFF-7B63-374F-E4D6AC6314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76248B2-C087-70E0-A060-021EB21A38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7837217-8495-FC81-0483-6E51B25D5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4BC19-953E-4C1B-949F-F6CB74DE458F}" type="datetime1">
              <a:rPr lang="en-GB" smtClean="0"/>
              <a:t>23/10/2026</a:t>
            </a:fld>
            <a:endParaRPr lang="en-GB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8829A5E8-C7F0-5DC2-E812-6CA7E2F49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4C0C9E4-A634-5EC9-E7B3-5035B8995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7160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A9B0BA-71CB-6A9E-9034-B9B95C632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22642D7-781E-FDA6-9815-E00F469D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D07504B-52BE-5B8C-EAD2-1431CA166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C7047-593E-4161-A5AA-2912C55A020C}" type="datetime1">
              <a:rPr lang="en-GB" smtClean="0"/>
              <a:t>23/10/2026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C4601FF-1065-FBE1-A994-1E42D088B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048D33B-BBD5-618C-D5CD-0C9E66A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64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6F07559-3F20-4E26-FDCC-2A7F574A9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6ED7AE6-21BE-937C-C754-54BC21D32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4DD8B7F-A728-C112-3244-8731BC8E8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9A5536-8A5B-4EF1-9BEC-91F04DF48C09}" type="datetime1">
              <a:rPr lang="en-GB" smtClean="0"/>
              <a:t>23/10/2026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8555EF6-E6F6-890C-ACD1-886D3161D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27C116A-FDC9-170F-65D2-8722E24A7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1491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120A274-CF4B-C6DB-1E80-2CDBEF3AF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GB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1539FC5E-C9CF-D0DA-B86B-AE43B2CAE5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GB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022A2F7-62F8-3F62-5DF4-2ED946A7AA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31DF74-C119-425A-907A-F8F97C0742ED}" type="datetime1">
              <a:rPr lang="en-GB" smtClean="0"/>
              <a:t>23/10/2026</a:t>
            </a:fld>
            <a:endParaRPr lang="en-GB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CD74F77-BC59-5D5F-CC2A-B135B60CD6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Oefenzittingen Analyse I - Jasper Visterin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F553752-6C31-6B91-7B41-A4878BFCC6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F441FD-AD69-446A-B7A3-B7B87AA4F15D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8376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23.png"/><Relationship Id="rId5" Type="http://schemas.openxmlformats.org/officeDocument/2006/relationships/image" Target="../media/image200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646EDDA-160F-ACC8-BAA8-BE329F21F3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Analyse I, </a:t>
            </a:r>
            <a:r>
              <a:rPr lang="en-GB" dirty="0" err="1"/>
              <a:t>Oefenzitting</a:t>
            </a:r>
            <a:r>
              <a:rPr lang="en-GB" dirty="0"/>
              <a:t> 3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BAC92F39-0B86-45D7-CF47-7DB5F5D0CB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Jasper.Visterin@kuleuven.be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483E3E0-B687-A147-51F2-A3C963F5E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146910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2FB0E5-F0A2-E3F5-71A0-8CC627A39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(</a:t>
            </a:r>
            <a:r>
              <a:rPr lang="en-GB" dirty="0" err="1"/>
              <a:t>Strikt</a:t>
            </a:r>
            <a:r>
              <a:rPr lang="en-GB" dirty="0"/>
              <a:t>) </a:t>
            </a:r>
            <a:r>
              <a:rPr lang="en-GB" dirty="0" err="1"/>
              <a:t>Stijgende</a:t>
            </a:r>
            <a:r>
              <a:rPr lang="en-GB" dirty="0"/>
              <a:t> </a:t>
            </a:r>
            <a:r>
              <a:rPr lang="en-GB" dirty="0" err="1"/>
              <a:t>Rijen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520896E-5F2C-D486-D14B-00E6A40005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Een rij</a:t>
                </a:r>
                <a:r>
                  <a:rPr lang="nl-BE" b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stijgende</a:t>
                </a:r>
                <a:r>
                  <a:rPr lang="nl-BE" dirty="0"/>
                  <a:t> rij als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  <a:p>
                <a:endParaRPr lang="nl-BE" dirty="0"/>
              </a:p>
              <a:p>
                <a:r>
                  <a:rPr lang="nl-BE" dirty="0"/>
                  <a:t>Een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strikt stijgende rij</a:t>
                </a:r>
                <a:r>
                  <a:rPr lang="nl-BE" dirty="0"/>
                  <a:t> als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&lt;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  <a:p>
                <a:endParaRPr lang="nl-BE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520896E-5F2C-D486-D14B-00E6A40005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3BE5DC3-02C5-2E42-26DF-9D9CC42C3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020939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12ADA9-91C4-6153-5032-F6539FBE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(</a:t>
            </a:r>
            <a:r>
              <a:rPr lang="en-GB" dirty="0" err="1"/>
              <a:t>Strikt</a:t>
            </a:r>
            <a:r>
              <a:rPr lang="en-GB" dirty="0"/>
              <a:t>) </a:t>
            </a:r>
            <a:r>
              <a:rPr lang="en-GB" dirty="0" err="1"/>
              <a:t>Dalende</a:t>
            </a:r>
            <a:r>
              <a:rPr lang="en-GB" dirty="0"/>
              <a:t> </a:t>
            </a:r>
            <a:r>
              <a:rPr lang="en-GB" dirty="0" err="1"/>
              <a:t>Rijen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BF45B8-A93F-DA57-2CF6-E2C73069B4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Een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dalende rij </a:t>
                </a:r>
                <a:r>
                  <a:rPr lang="nl-BE" dirty="0"/>
                  <a:t>als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  <a:p>
                <a:endParaRPr lang="nl-BE" dirty="0"/>
              </a:p>
              <a:p>
                <a:r>
                  <a:rPr lang="nl-BE" dirty="0"/>
                  <a:t>Een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</m:oMath>
                </a14:m>
                <a:r>
                  <a:rPr lang="nl-BE" dirty="0"/>
                  <a:t> is een </a:t>
                </a:r>
                <a:r>
                  <a:rPr lang="nl-BE" b="1" dirty="0"/>
                  <a:t>strikt dalende rij </a:t>
                </a:r>
                <a:r>
                  <a:rPr lang="nl-BE" dirty="0"/>
                  <a:t>als</a:t>
                </a:r>
              </a:p>
              <a:p>
                <a:pPr marL="0" indent="0">
                  <a:buNone/>
                </a:pPr>
                <a:endParaRPr lang="nl-B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ℤ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BF45B8-A93F-DA57-2CF6-E2C73069B4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626AB6D-9C15-4C18-724C-F4181FF0E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9151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64124DA-82BA-9DB7-B5EE-158540FB25F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Wat </a:t>
                </a:r>
                <a:r>
                  <a:rPr lang="en-GB" dirty="0" err="1"/>
                  <a:t>voor</a:t>
                </a:r>
                <a:r>
                  <a:rPr lang="en-GB" dirty="0"/>
                  <a:t> </a:t>
                </a:r>
                <a:r>
                  <a:rPr lang="en-GB" dirty="0" err="1"/>
                  <a:t>soort</a:t>
                </a:r>
                <a:r>
                  <a:rPr lang="en-GB" dirty="0"/>
                  <a:t> </a:t>
                </a:r>
                <a:r>
                  <a:rPr lang="en-GB" dirty="0" err="1"/>
                  <a:t>rij</a:t>
                </a:r>
                <a:r>
                  <a:rPr lang="en-GB" dirty="0"/>
                  <a:t>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=1, ∀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dirty="0"/>
                  <a:t>?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464124DA-82BA-9DB7-B5EE-158540FB25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0A003A5-7D49-8496-D965-591A670F0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Zowel een </a:t>
            </a:r>
            <a:r>
              <a:rPr lang="nl-BE" b="1" dirty="0"/>
              <a:t>dalende als stijgende </a:t>
            </a:r>
            <a:r>
              <a:rPr lang="nl-BE" dirty="0"/>
              <a:t>rij</a:t>
            </a:r>
          </a:p>
          <a:p>
            <a:r>
              <a:rPr lang="nl-BE" dirty="0"/>
              <a:t>Geen strikte ongelijkheid</a:t>
            </a:r>
            <a:endParaRPr lang="en-GB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94E4170-1B02-B789-716D-FFFD51B98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476353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4A0E97-2262-CE27-6E2B-2A6F3CE16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Limiet</a:t>
            </a:r>
            <a:r>
              <a:rPr lang="en-GB" dirty="0"/>
              <a:t> van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rij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FCFDDF3-640C-AD6F-E23F-5D46676582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9785465" cy="4351338"/>
              </a:xfrm>
            </p:spPr>
            <p:txBody>
              <a:bodyPr/>
              <a:lstStyle/>
              <a:p>
                <a:r>
                  <a:rPr lang="nl-BE" dirty="0"/>
                  <a:t>We zeggen dat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dirty="0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nl-BE" dirty="0"/>
                  <a:t> </a:t>
                </a:r>
                <a:r>
                  <a:rPr lang="nl-BE" b="1" dirty="0"/>
                  <a:t>de limiet </a:t>
                </a:r>
                <a:r>
                  <a:rPr lang="nl-BE" dirty="0"/>
                  <a:t>is van de rij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nl-B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nl-BE" dirty="0"/>
                  <a:t> als geldt dat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&gt;0,∃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nl-BE" dirty="0"/>
                  <a:t> zodat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d>
                      <m:r>
                        <a:rPr lang="nl-BE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Dit noteren we ook als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nl-BE" dirty="0"/>
                  <a:t>. 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2FCFDDF3-640C-AD6F-E23F-5D4667658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9785465" cy="4351338"/>
              </a:xfrm>
              <a:blipFill>
                <a:blip r:embed="rId2"/>
                <a:stretch>
                  <a:fillRect l="-1121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6168D3-54FB-55CC-07D7-7B349AEB8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1877408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4588CA-3BBF-8750-BF6B-FFD9A7888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Hoe ziet een limiet eruit?</a:t>
            </a:r>
          </a:p>
        </p:txBody>
      </p:sp>
      <p:pic>
        <p:nvPicPr>
          <p:cNvPr id="4" name="Picture 2" descr="For each '&quot;`UNIQ--postMath-0000003B-QINU`&quot;' there are only finitely many sequence members outside the epsilon tube.">
            <a:extLst>
              <a:ext uri="{FF2B5EF4-FFF2-40B4-BE49-F238E27FC236}">
                <a16:creationId xmlns:a16="http://schemas.microsoft.com/office/drawing/2014/main" id="{CF03CD4B-1708-3360-87B7-91CF8650AAF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98"/>
          <a:stretch>
            <a:fillRect/>
          </a:stretch>
        </p:blipFill>
        <p:spPr bwMode="auto">
          <a:xfrm>
            <a:off x="1852409" y="1825625"/>
            <a:ext cx="7672591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C336E228-2C27-7EBE-D835-1A8E3E96D5B6}"/>
                  </a:ext>
                </a:extLst>
              </p:cNvPr>
              <p:cNvSpPr txBox="1"/>
              <p:nvPr/>
            </p:nvSpPr>
            <p:spPr>
              <a:xfrm>
                <a:off x="1662658" y="1690688"/>
                <a:ext cx="60362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sz="36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sz="3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C336E228-2C27-7EBE-D835-1A8E3E96D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658" y="1690688"/>
                <a:ext cx="603627" cy="5539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8D96501-F2A9-5E99-E5EA-486CB4C2CFD0}"/>
                  </a:ext>
                </a:extLst>
              </p:cNvPr>
              <p:cNvSpPr txBox="1"/>
              <p:nvPr/>
            </p:nvSpPr>
            <p:spPr>
              <a:xfrm>
                <a:off x="9531271" y="5395357"/>
                <a:ext cx="36696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6" name="Tekstvak 5">
                <a:extLst>
                  <a:ext uri="{FF2B5EF4-FFF2-40B4-BE49-F238E27FC236}">
                    <a16:creationId xmlns:a16="http://schemas.microsoft.com/office/drawing/2014/main" id="{D8D96501-F2A9-5E99-E5EA-486CB4C2CF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1271" y="5395357"/>
                <a:ext cx="366960" cy="55399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hthoek 6">
            <a:extLst>
              <a:ext uri="{FF2B5EF4-FFF2-40B4-BE49-F238E27FC236}">
                <a16:creationId xmlns:a16="http://schemas.microsoft.com/office/drawing/2014/main" id="{BC0D4D77-3BEB-BB0D-C699-96D670192BD9}"/>
              </a:ext>
            </a:extLst>
          </p:cNvPr>
          <p:cNvSpPr/>
          <p:nvPr/>
        </p:nvSpPr>
        <p:spPr>
          <a:xfrm>
            <a:off x="9189720" y="2865120"/>
            <a:ext cx="762000" cy="196596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A6162EFE-AE5E-E1DC-8453-039B203D1640}"/>
                  </a:ext>
                </a:extLst>
              </p:cNvPr>
              <p:cNvSpPr txBox="1"/>
              <p:nvPr/>
            </p:nvSpPr>
            <p:spPr>
              <a:xfrm>
                <a:off x="9220200" y="3571101"/>
                <a:ext cx="34932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A6162EFE-AE5E-E1DC-8453-039B203D1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0200" y="3571101"/>
                <a:ext cx="349326" cy="55399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FF6D3670-8475-3CE4-3606-FB67A1DA2462}"/>
                  </a:ext>
                </a:extLst>
              </p:cNvPr>
              <p:cNvSpPr txBox="1"/>
              <p:nvPr/>
            </p:nvSpPr>
            <p:spPr>
              <a:xfrm>
                <a:off x="9189720" y="2875002"/>
                <a:ext cx="11286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10" name="Tekstvak 9">
                <a:extLst>
                  <a:ext uri="{FF2B5EF4-FFF2-40B4-BE49-F238E27FC236}">
                    <a16:creationId xmlns:a16="http://schemas.microsoft.com/office/drawing/2014/main" id="{FF6D3670-8475-3CE4-3606-FB67A1DA2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720" y="2875002"/>
                <a:ext cx="1128642" cy="55399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kstvak 15">
                <a:extLst>
                  <a:ext uri="{FF2B5EF4-FFF2-40B4-BE49-F238E27FC236}">
                    <a16:creationId xmlns:a16="http://schemas.microsoft.com/office/drawing/2014/main" id="{CAA244BE-F654-8A14-DB6F-708165CAA20B}"/>
                  </a:ext>
                </a:extLst>
              </p:cNvPr>
              <p:cNvSpPr txBox="1"/>
              <p:nvPr/>
            </p:nvSpPr>
            <p:spPr>
              <a:xfrm>
                <a:off x="9210949" y="4244042"/>
                <a:ext cx="112864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16" name="Tekstvak 15">
                <a:extLst>
                  <a:ext uri="{FF2B5EF4-FFF2-40B4-BE49-F238E27FC236}">
                    <a16:creationId xmlns:a16="http://schemas.microsoft.com/office/drawing/2014/main" id="{CAA244BE-F654-8A14-DB6F-708165CAA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10949" y="4244042"/>
                <a:ext cx="1128642" cy="55399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Rechte verbindingslijn 19">
            <a:extLst>
              <a:ext uri="{FF2B5EF4-FFF2-40B4-BE49-F238E27FC236}">
                <a16:creationId xmlns:a16="http://schemas.microsoft.com/office/drawing/2014/main" id="{4704BE22-E68F-E096-B1BE-17F463C6516B}"/>
              </a:ext>
            </a:extLst>
          </p:cNvPr>
          <p:cNvCxnSpPr>
            <a:cxnSpLocks/>
          </p:cNvCxnSpPr>
          <p:nvPr/>
        </p:nvCxnSpPr>
        <p:spPr>
          <a:xfrm>
            <a:off x="5202555" y="2072640"/>
            <a:ext cx="0" cy="326136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kstvak 22">
                <a:extLst>
                  <a:ext uri="{FF2B5EF4-FFF2-40B4-BE49-F238E27FC236}">
                    <a16:creationId xmlns:a16="http://schemas.microsoft.com/office/drawing/2014/main" id="{C3B9E500-3576-35B1-E7CA-46ACBAA7BAD2}"/>
                  </a:ext>
                </a:extLst>
              </p:cNvPr>
              <p:cNvSpPr txBox="1"/>
              <p:nvPr/>
            </p:nvSpPr>
            <p:spPr>
              <a:xfrm>
                <a:off x="4951932" y="5478482"/>
                <a:ext cx="44409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nl-BE" sz="36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nl-BE" sz="3600" dirty="0"/>
              </a:p>
            </p:txBody>
          </p:sp>
        </mc:Choice>
        <mc:Fallback xmlns="">
          <p:sp>
            <p:nvSpPr>
              <p:cNvPr id="23" name="Tekstvak 22">
                <a:extLst>
                  <a:ext uri="{FF2B5EF4-FFF2-40B4-BE49-F238E27FC236}">
                    <a16:creationId xmlns:a16="http://schemas.microsoft.com/office/drawing/2014/main" id="{C3B9E500-3576-35B1-E7CA-46ACBAA7B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51932" y="5478482"/>
                <a:ext cx="444096" cy="5539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925876-C0D7-8F8D-15C3-600453E81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kstvak 10">
                <a:extLst>
                  <a:ext uri="{FF2B5EF4-FFF2-40B4-BE49-F238E27FC236}">
                    <a16:creationId xmlns:a16="http://schemas.microsoft.com/office/drawing/2014/main" id="{DD567701-DA05-60F0-9314-8B2079B4A8AF}"/>
                  </a:ext>
                </a:extLst>
              </p:cNvPr>
              <p:cNvSpPr txBox="1"/>
              <p:nvPr/>
            </p:nvSpPr>
            <p:spPr>
              <a:xfrm>
                <a:off x="5576299" y="1364060"/>
                <a:ext cx="6097712" cy="6532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28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28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  <m:r>
                        <a:rPr lang="nl-BE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sz="28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11" name="Tekstvak 10">
                <a:extLst>
                  <a:ext uri="{FF2B5EF4-FFF2-40B4-BE49-F238E27FC236}">
                    <a16:creationId xmlns:a16="http://schemas.microsoft.com/office/drawing/2014/main" id="{DD567701-DA05-60F0-9314-8B2079B4A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6299" y="1364060"/>
                <a:ext cx="6097712" cy="65325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782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0" grpId="0"/>
      <p:bldP spid="16" grpId="0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28F0E2C-EA0F-6226-1DF9-C3A8E38F59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Wat is de </a:t>
                </a:r>
                <a:r>
                  <a:rPr lang="en-GB" dirty="0" err="1"/>
                  <a:t>limiet</a:t>
                </a:r>
                <a:r>
                  <a:rPr lang="en-GB" dirty="0"/>
                  <a:t> van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en-GB" dirty="0"/>
                  <a:t>?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28F0E2C-EA0F-6226-1DF9-C3A8E38F59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56DB65F0-941E-3663-F8B5-9CFCAC00E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−1, 1, −1, 1, −1, 1, −1, 1, −1,⋯</m:t>
                    </m:r>
                  </m:oMath>
                </a14:m>
                <a:endParaRPr lang="en-GB" dirty="0"/>
              </a:p>
              <a:p>
                <a:r>
                  <a:rPr lang="en-GB" dirty="0"/>
                  <a:t>De </a:t>
                </a:r>
                <a:r>
                  <a:rPr lang="en-GB" dirty="0" err="1"/>
                  <a:t>waarden</a:t>
                </a:r>
                <a:r>
                  <a:rPr lang="en-GB" dirty="0"/>
                  <a:t> </a:t>
                </a:r>
                <a:r>
                  <a:rPr lang="en-GB" dirty="0" err="1"/>
                  <a:t>wisselen</a:t>
                </a:r>
                <a:r>
                  <a:rPr lang="en-GB" dirty="0"/>
                  <a:t> </a:t>
                </a:r>
                <a:r>
                  <a:rPr lang="en-GB" dirty="0" err="1"/>
                  <a:t>tussen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GB" dirty="0"/>
                  <a:t> </a:t>
                </a:r>
                <a:r>
                  <a:rPr lang="en-GB" dirty="0" err="1"/>
                  <a:t>en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GB" dirty="0"/>
                  <a:t>. </a:t>
                </a:r>
              </a:p>
              <a:p>
                <a:r>
                  <a:rPr lang="en-GB" dirty="0"/>
                  <a:t>De </a:t>
                </a:r>
                <a:r>
                  <a:rPr lang="en-GB" dirty="0" err="1"/>
                  <a:t>rij</a:t>
                </a:r>
                <a:r>
                  <a:rPr lang="en-GB" dirty="0"/>
                  <a:t> </a:t>
                </a:r>
                <a:r>
                  <a:rPr lang="en-GB" dirty="0" err="1"/>
                  <a:t>zal</a:t>
                </a:r>
                <a:r>
                  <a:rPr lang="en-GB" dirty="0"/>
                  <a:t> </a:t>
                </a:r>
                <a:r>
                  <a:rPr lang="en-GB" dirty="0" err="1"/>
                  <a:t>niet</a:t>
                </a:r>
                <a:r>
                  <a:rPr lang="en-GB" dirty="0"/>
                  <a:t> </a:t>
                </a:r>
                <a:r>
                  <a:rPr lang="en-GB" dirty="0" err="1"/>
                  <a:t>convergeren</a:t>
                </a:r>
                <a:r>
                  <a:rPr lang="en-GB" dirty="0"/>
                  <a:t> </a:t>
                </a:r>
                <a:r>
                  <a:rPr lang="en-GB" dirty="0" err="1"/>
                  <a:t>naar</a:t>
                </a:r>
                <a:r>
                  <a:rPr lang="en-GB" dirty="0"/>
                  <a:t> </a:t>
                </a:r>
                <a:r>
                  <a:rPr lang="en-GB" dirty="0" err="1"/>
                  <a:t>één</a:t>
                </a:r>
                <a:r>
                  <a:rPr lang="en-GB" dirty="0"/>
                  <a:t> </a:t>
                </a:r>
                <a:r>
                  <a:rPr lang="en-GB" dirty="0" err="1"/>
                  <a:t>waarde</a:t>
                </a:r>
                <a:r>
                  <a:rPr lang="en-GB" dirty="0"/>
                  <a:t>.</a:t>
                </a:r>
              </a:p>
              <a:p>
                <a:r>
                  <a:rPr lang="en-GB" dirty="0"/>
                  <a:t>Een </a:t>
                </a:r>
                <a:r>
                  <a:rPr lang="en-GB" dirty="0" err="1"/>
                  <a:t>rij</a:t>
                </a:r>
                <a:r>
                  <a:rPr lang="en-GB" dirty="0"/>
                  <a:t> </a:t>
                </a:r>
                <a:r>
                  <a:rPr lang="en-GB" dirty="0" err="1"/>
                  <a:t>kan</a:t>
                </a:r>
                <a:r>
                  <a:rPr lang="en-GB" dirty="0"/>
                  <a:t> </a:t>
                </a:r>
                <a:r>
                  <a:rPr lang="en-GB" dirty="0" err="1"/>
                  <a:t>dus</a:t>
                </a:r>
                <a:r>
                  <a:rPr lang="en-GB" dirty="0"/>
                  <a:t> </a:t>
                </a:r>
                <a:r>
                  <a:rPr lang="en-GB" dirty="0" err="1"/>
                  <a:t>niet</a:t>
                </a:r>
                <a:r>
                  <a:rPr lang="en-GB" dirty="0"/>
                  <a:t> </a:t>
                </a:r>
                <a:r>
                  <a:rPr lang="en-GB" dirty="0" err="1"/>
                  <a:t>meerdere</a:t>
                </a:r>
                <a:r>
                  <a:rPr lang="en-GB" dirty="0"/>
                  <a:t> </a:t>
                </a:r>
                <a:r>
                  <a:rPr lang="en-GB" dirty="0" err="1"/>
                  <a:t>limieten</a:t>
                </a:r>
                <a:r>
                  <a:rPr lang="en-GB" dirty="0"/>
                  <a:t> </a:t>
                </a:r>
                <a:r>
                  <a:rPr lang="en-GB" dirty="0" err="1"/>
                  <a:t>hebben</a:t>
                </a:r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56DB65F0-941E-3663-F8B5-9CFCAC00E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74C4D89-0DB1-B39E-07F8-99159746AF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299423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E75330-D442-689F-A884-FD9044BA9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Wanneer</a:t>
            </a:r>
            <a:r>
              <a:rPr lang="en-GB" dirty="0"/>
              <a:t> is </a:t>
            </a:r>
            <a:r>
              <a:rPr lang="en-GB" dirty="0" err="1"/>
              <a:t>een</a:t>
            </a:r>
            <a:r>
              <a:rPr lang="en-GB" dirty="0"/>
              <a:t> </a:t>
            </a:r>
            <a:r>
              <a:rPr lang="en-GB" dirty="0" err="1"/>
              <a:t>rij</a:t>
            </a:r>
            <a:r>
              <a:rPr lang="en-GB" dirty="0"/>
              <a:t> convergent/divergent?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06A1D90-F417-E952-221A-D44AA0A038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nl-BE" dirty="0"/>
                  <a:t>Een rij is convergent als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  <m:r>
                        <a:rPr lang="nl-B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Een rij is divergent als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  <m:r>
                        <a:rPr lang="nl-BE" i="1">
                          <a:latin typeface="Cambria Math" panose="02040503050406030204" pitchFamily="18" charset="0"/>
                        </a:rPr>
                        <m:t>=±∞</m:t>
                      </m:r>
                    </m:oMath>
                  </m:oMathPara>
                </a14:m>
                <a:endParaRPr lang="nl-BE" dirty="0"/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06A1D90-F417-E952-221A-D44AA0A038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9D72A8A-F89C-9B25-4149-F9A094D2D5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4093178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62CD64A-458A-A008-2D19-5F2ACDD1D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Wat is een ophopingspunt van een rij?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jdelijke aanduiding voor inhoud 6">
                <a:extLst>
                  <a:ext uri="{FF2B5EF4-FFF2-40B4-BE49-F238E27FC236}">
                    <a16:creationId xmlns:a16="http://schemas.microsoft.com/office/drawing/2014/main" id="{572526BE-8850-1682-0CEA-6BC177C21E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dirty="0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nl-BE" dirty="0"/>
                  <a:t> is een ophopingspunt van de rij als er een </a:t>
                </a:r>
                <a:r>
                  <a:rPr lang="nl-BE" dirty="0" err="1"/>
                  <a:t>deelrij</a:t>
                </a:r>
                <a:r>
                  <a:rPr lang="nl-BE" dirty="0"/>
                  <a:t> bestaan waarbij dat deze </a:t>
                </a:r>
                <a:r>
                  <a:rPr lang="nl-BE" dirty="0" err="1"/>
                  <a:t>deelrij</a:t>
                </a:r>
                <a:r>
                  <a:rPr lang="nl-BE" dirty="0"/>
                  <a:t> convergeert naar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nl-BE" dirty="0"/>
              </a:p>
              <a:p>
                <a:r>
                  <a:rPr lang="nl-BE" dirty="0"/>
                  <a:t>Kan een rij meerdere ophopingspunten hebben? </a:t>
                </a:r>
              </a:p>
              <a:p>
                <a:endParaRPr lang="nl-BE" dirty="0"/>
              </a:p>
              <a:p>
                <a:r>
                  <a:rPr lang="nl-BE" dirty="0"/>
                  <a:t>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nl-BE" dirty="0"/>
                  <a:t> voor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nl-BE" dirty="0"/>
              </a:p>
              <a:p>
                <a:r>
                  <a:rPr lang="nl-BE" dirty="0"/>
                  <a:t> </a:t>
                </a:r>
                <a14:m>
                  <m:oMath xmlns:m="http://schemas.openxmlformats.org/officeDocument/2006/math"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dirty="0"/>
              </a:p>
              <a:p>
                <a:r>
                  <a:rPr lang="nl-BE" dirty="0"/>
                  <a:t>Twee ophopingspunten: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nl-BE" dirty="0"/>
                  <a:t> en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7" name="Tijdelijke aanduiding voor inhoud 6">
                <a:extLst>
                  <a:ext uri="{FF2B5EF4-FFF2-40B4-BE49-F238E27FC236}">
                    <a16:creationId xmlns:a16="http://schemas.microsoft.com/office/drawing/2014/main" id="{572526BE-8850-1682-0CEA-6BC177C21E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AB32DBD4-EA67-00CF-723C-0766308A4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528390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9DC4E9-4D05-634C-6EEF-C6B68A7D5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BE" dirty="0"/>
              <a:t>Heeft een rij met meer dan één ophopingspunt een limiet?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720797-C5E5-4E6F-BB44-181A2F322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NL" dirty="0"/>
          </a:p>
          <a:p>
            <a:r>
              <a:rPr lang="nl-NL" dirty="0"/>
              <a:t>Een limiet moet voor alle deelrijen hetzelfde zijn</a:t>
            </a:r>
          </a:p>
          <a:p>
            <a:r>
              <a:rPr lang="nl-NL" dirty="0"/>
              <a:t>Meerdere ophopingspunten </a:t>
            </a:r>
            <a:r>
              <a:rPr lang="nl-NL" dirty="0">
                <a:sym typeface="Wingdings" panose="05000000000000000000" pitchFamily="2" charset="2"/>
              </a:rPr>
              <a:t> geen limiet</a:t>
            </a:r>
            <a:endParaRPr lang="nl-NL" dirty="0"/>
          </a:p>
          <a:p>
            <a:endParaRPr lang="nl-NL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C0E0F10-307D-A520-F7FA-CF5B7EE7D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140181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Afbeelding 5">
            <a:extLst>
              <a:ext uri="{FF2B5EF4-FFF2-40B4-BE49-F238E27FC236}">
                <a16:creationId xmlns:a16="http://schemas.microsoft.com/office/drawing/2014/main" id="{0A2B0C6F-ED37-FF01-53F2-4A391168A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66254" y="1082426"/>
            <a:ext cx="7614473" cy="571085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E6F3EC4-4456-7F81-0228-E5D6C73D1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Bovenlimiet</a:t>
            </a:r>
            <a:r>
              <a:rPr lang="nl-BE" dirty="0"/>
              <a:t> en </a:t>
            </a:r>
            <a:r>
              <a:rPr lang="nl-BE" dirty="0" err="1"/>
              <a:t>Onderlimiet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207E044A-49FF-036F-8B4F-13393467CA32}"/>
                  </a:ext>
                </a:extLst>
              </p:cNvPr>
              <p:cNvSpPr txBox="1"/>
              <p:nvPr/>
            </p:nvSpPr>
            <p:spPr>
              <a:xfrm>
                <a:off x="7214391" y="1690688"/>
                <a:ext cx="4653710" cy="42366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sz="3200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nl-BE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 sz="32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 sz="32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func>
                          <m:funcPr>
                            <m:ctrlPr>
                              <a:rPr lang="nl-BE" sz="3200" b="0" i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 sz="3200" b="0" i="0" smtClean="0">
                                <a:latin typeface="Cambria Math" panose="02040503050406030204" pitchFamily="18" charset="0"/>
                              </a:rPr>
                              <m:t>sup</m:t>
                            </m:r>
                          </m:fName>
                          <m:e>
                            <m:sSub>
                              <m:sSubPr>
                                <m:ctrlP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func>
                      </m:e>
                    </m:func>
                    <m:r>
                      <a:rPr lang="nl-BE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 sz="32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 sz="320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nl-BE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func>
                  </m:oMath>
                </a14:m>
                <a:r>
                  <a:rPr lang="nl-BE" sz="3200" dirty="0"/>
                  <a:t> </a:t>
                </a:r>
              </a:p>
              <a:p>
                <a:r>
                  <a:rPr lang="nl-BE" sz="3200" dirty="0"/>
                  <a:t>  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sz="3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nl-BE" sz="3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sz="32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sz="3200" b="0" i="0" smtClean="0">
                            <a:latin typeface="Cambria Math" panose="02040503050406030204" pitchFamily="18" charset="0"/>
                          </a:rPr>
                          <m:t>sup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nl-BE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nl-BE" sz="32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</m:oMath>
                </a14:m>
                <a:r>
                  <a:rPr lang="nl-BE" sz="3200" dirty="0"/>
                  <a:t> </a:t>
                </a:r>
              </a:p>
              <a:p>
                <a:endParaRPr lang="nl-BE" sz="3200" dirty="0"/>
              </a:p>
              <a:p>
                <a:endParaRPr lang="nl-BE" sz="3200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nl-BE" sz="3200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nl-BE" sz="3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inf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nl-BE" sz="3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nl-BE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nl-BE" sz="3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nl-BE" sz="3200" dirty="0"/>
              </a:p>
              <a:p>
                <a:r>
                  <a:rPr lang="nl-BE" sz="3200" dirty="0"/>
                  <a:t>    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sz="3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sz="3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nl-BE" sz="3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sz="3200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sz="32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sz="3200">
                            <a:latin typeface="Cambria Math" panose="02040503050406030204" pitchFamily="18" charset="0"/>
                          </a:rPr>
                          <m:t>inf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nl-BE" sz="3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nl-BE" sz="3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nl-BE" sz="3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nl-BE" sz="32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nl-BE" sz="3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</m:oMath>
                </a14:m>
                <a:r>
                  <a:rPr lang="nl-BE" sz="3200" dirty="0"/>
                  <a:t> </a:t>
                </a:r>
              </a:p>
            </p:txBody>
          </p:sp>
        </mc:Choice>
        <mc:Fallback xmlns="">
          <p:sp>
            <p:nvSpPr>
              <p:cNvPr id="3" name="Tekstvak 2">
                <a:extLst>
                  <a:ext uri="{FF2B5EF4-FFF2-40B4-BE49-F238E27FC236}">
                    <a16:creationId xmlns:a16="http://schemas.microsoft.com/office/drawing/2014/main" id="{207E044A-49FF-036F-8B4F-13393467CA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4391" y="1690688"/>
                <a:ext cx="4653710" cy="42366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DE6C57C-D015-8BF7-ACD7-65668CD16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754594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7DA15766-0D66-F580-CBA2-9C01024A6D0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nl-BE" dirty="0"/>
                  <a:t>Wat als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 b="0" i="1" smtClean="0">
                            <a:latin typeface="Cambria Math" panose="02040503050406030204" pitchFamily="18" charset="0"/>
                          </a:rPr>
                          <m:t>sup</m:t>
                        </m:r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inf</m:t>
                        </m:r>
                      </m:e>
                    </m:func>
                  </m:oMath>
                </a14:m>
                <a:r>
                  <a:rPr lang="nl-BE" dirty="0"/>
                  <a:t>? </a:t>
                </a:r>
              </a:p>
            </p:txBody>
          </p:sp>
        </mc:Choice>
        <mc:Fallback xmlns="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7DA15766-0D66-F580-CBA2-9C01024A6D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7180D4-E4AE-5B43-15A1-5C7C847C6E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nl-BE" dirty="0"/>
                  <a:t>Dan bestaat de limiet,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BE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fr-BE" b="0" i="0" smtClean="0">
                        <a:latin typeface="Cambria Math" panose="02040503050406030204" pitchFamily="18" charset="0"/>
                      </a:rPr>
                      <m:t>im</m:t>
                    </m:r>
                    <m:r>
                      <a:rPr lang="fr-BE" b="0" i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 i="1">
                            <a:latin typeface="Cambria Math" panose="02040503050406030204" pitchFamily="18" charset="0"/>
                          </a:rPr>
                          <m:t>sup</m:t>
                        </m:r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inf</m:t>
                        </m:r>
                      </m:e>
                    </m:func>
                  </m:oMath>
                </a14:m>
                <a:endParaRPr lang="nl-BE" dirty="0"/>
              </a:p>
              <a:p>
                <a:r>
                  <a:rPr lang="nl-BE" dirty="0"/>
                  <a:t>Voor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&gt;0,∃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nl-BE" dirty="0"/>
                  <a:t> en </a:t>
                </a:r>
                <a:r>
                  <a:rPr lang="nl-BE" dirty="0" err="1"/>
                  <a:t>bovenlimiet</a:t>
                </a:r>
                <a:r>
                  <a:rPr lang="nl-B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>
                        <a:latin typeface="Cambria Math" panose="02040503050406030204" pitchFamily="18" charset="0"/>
                      </a:rPr>
                      <m:t>Λ</m:t>
                    </m:r>
                  </m:oMath>
                </a14:m>
                <a:r>
                  <a:rPr lang="nl-BE" dirty="0"/>
                  <a:t> geldt er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i="1">
                          <a:latin typeface="Cambria Math" panose="02040503050406030204" pitchFamily="18" charset="0"/>
                        </a:rPr>
                        <m:t>&lt;</m:t>
                      </m:r>
                      <m:r>
                        <m:rPr>
                          <m:sty m:val="p"/>
                        </m:rPr>
                        <a:rPr lang="nl-BE" b="0" i="0" smtClean="0">
                          <a:latin typeface="Cambria Math" panose="02040503050406030204" pitchFamily="18" charset="0"/>
                        </a:rPr>
                        <m:t>Λ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:r>
                  <a:rPr lang="nl-BE" dirty="0"/>
                  <a:t>Voor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&gt;0,∃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ℕ</m:t>
                    </m:r>
                  </m:oMath>
                </a14:m>
                <a:r>
                  <a:rPr lang="nl-BE" dirty="0"/>
                  <a:t> en </a:t>
                </a:r>
                <a:r>
                  <a:rPr lang="nl-BE" dirty="0" err="1"/>
                  <a:t>onderlimiet</a:t>
                </a:r>
                <a:r>
                  <a:rPr lang="nl-BE" dirty="0"/>
                  <a:t>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nl-BE" dirty="0"/>
                  <a:t> geldt er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nl-BE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,  ∀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Dus 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b="0" i="0" smtClean="0">
                        <a:latin typeface="Cambria Math" panose="02040503050406030204" pitchFamily="18" charset="0"/>
                      </a:rPr>
                      <m:t>Λ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nl-BE" dirty="0"/>
                  <a:t> dan komen we uit op de definitie van een limiet. </a:t>
                </a:r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437180D4-E4AE-5B43-15A1-5C7C847C6E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 b="-2941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85BD491-2D7F-6E4E-C6C5-74C7867B3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1557202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D06EF2-F023-04DB-DCC4-65CDD17D8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Landau-notatie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07A1E2BC-0C01-944C-8898-416B7E8738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nl-BE" i="1" smtClean="0"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   </m:t>
                      </m:r>
                    </m:oMath>
                  </m:oMathPara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nl-BE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nl-B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ℝ</m:t>
                      </m:r>
                      <m:r>
                        <a:rPr lang="nl-BE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r>
                  <a:rPr lang="nl-BE" dirty="0"/>
                  <a:t>Wat is het onderscheid tussen de twee? </a:t>
                </a:r>
              </a:p>
              <a:p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07A1E2BC-0C01-944C-8898-416B7E8738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486275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52DB87C-6518-EDE3-2F3F-1C9FA9408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124777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E10B2B-F2EB-BD63-079E-E4DC5120B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Trucje voor limieten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11229FA-7F9E-8506-0CCE-CE634837AE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𝒍𝒊𝒎</m:t>
                              </m:r>
                            </m:e>
                            <m:lim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b="1" i="1">
                                          <a:latin typeface="Cambria Math" panose="02040503050406030204" pitchFamily="18" charset="0"/>
                                        </a:rPr>
                                        <m:t>𝟏</m:t>
                                      </m:r>
                                    </m:num>
                                    <m:den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p>
                          </m:sSup>
                        </m:e>
                      </m:func>
                      <m:r>
                        <a:rPr lang="nl-BE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1" i="1">
                          <a:latin typeface="Cambria Math" panose="02040503050406030204" pitchFamily="18" charset="0"/>
                        </a:rPr>
                        <m:t>𝒆</m:t>
                      </m:r>
                    </m:oMath>
                  </m:oMathPara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endParaRPr lang="nl-BE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𝒍𝒊𝒎</m:t>
                              </m:r>
                            </m:e>
                            <m:lim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num>
                                    <m:den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𝒃𝒏</m:t>
                              </m:r>
                            </m:sup>
                          </m:sSup>
                        </m:e>
                      </m:func>
                      <m:r>
                        <a:rPr lang="nl-BE" b="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nl-BE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𝒂𝒃</m:t>
                          </m:r>
                        </m:sup>
                      </m:sSup>
                    </m:oMath>
                  </m:oMathPara>
                </a14:m>
                <a:endParaRPr lang="nl-BE" b="1" dirty="0"/>
              </a:p>
              <a:p>
                <a:pPr marL="0" indent="0">
                  <a:buNone/>
                </a:pPr>
                <a:endParaRPr lang="nl-BE" b="1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11229FA-7F9E-8506-0CCE-CE634837AE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08DC6F9-E77A-74EA-1F5F-1B2BD021C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417674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548D57-1679-0B2D-6B2F-ADC879EE4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nl-BE" dirty="0"/>
              <a:t>3.1d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CAF80120-A2DC-00BF-B7C1-123745AB78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06362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0" dirty="0"/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GB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r>
                      <a:rPr lang="en-GB" b="1" i="1"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1" dirty="0"/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GB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den>
                    </m:f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GB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𝟒</m:t>
                        </m:r>
                      </m:den>
                    </m:f>
                    <m:r>
                      <a:rPr lang="en-GB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,⋯</m:t>
                    </m:r>
                  </m:oMath>
                </a14:m>
                <a:endParaRPr lang="en-GB" b="1" dirty="0">
                  <a:solidFill>
                    <a:srgbClr val="00B050"/>
                  </a:solidFill>
                </a:endParaRPr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CAF80120-A2DC-00BF-B7C1-123745AB78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063625"/>
                <a:ext cx="10515600" cy="435133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 4">
                <a:extLst>
                  <a:ext uri="{FF2B5EF4-FFF2-40B4-BE49-F238E27FC236}">
                    <a16:creationId xmlns:a16="http://schemas.microsoft.com/office/drawing/2014/main" id="{3D8CD70B-D2AE-872B-4276-CEB9D91FD9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2556352"/>
                  </p:ext>
                </p:extLst>
              </p:nvPr>
            </p:nvGraphicFramePr>
            <p:xfrm>
              <a:off x="914400" y="4611688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 4">
                <a:extLst>
                  <a:ext uri="{FF2B5EF4-FFF2-40B4-BE49-F238E27FC236}">
                    <a16:creationId xmlns:a16="http://schemas.microsoft.com/office/drawing/2014/main" id="{3D8CD70B-D2AE-872B-4276-CEB9D91FD97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22556352"/>
                  </p:ext>
                </p:extLst>
              </p:nvPr>
            </p:nvGraphicFramePr>
            <p:xfrm>
              <a:off x="914400" y="4611688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806" t="-105229" r="-587500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39665" t="-105229" r="-713966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81780" t="-105229" r="-441525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321256" t="-105229" r="-40338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19231" t="-105229" r="-30144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521739" t="-105229" r="-202899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618750" t="-105229" r="-101923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22222" t="-105229" r="-2415" b="-13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661570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584DE6C4-DDD9-A734-BD22-FFDCDBAF29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043362" y="1943894"/>
            <a:ext cx="4105275" cy="4114800"/>
          </a:xfrm>
          <a:prstGeom prst="rect">
            <a:avLst/>
          </a:prstGeom>
        </p:spPr>
      </p:pic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79312C72-E4D0-70E8-5D93-EF559DE7C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DCBAF4EB-6564-9F5D-105B-F6960434561C}"/>
                  </a:ext>
                </a:extLst>
              </p:cNvPr>
              <p:cNvSpPr txBox="1"/>
              <p:nvPr/>
            </p:nvSpPr>
            <p:spPr>
              <a:xfrm>
                <a:off x="3047999" y="799306"/>
                <a:ext cx="6096000" cy="7694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4400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nl-BE" sz="4400" b="0" i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fName>
                        <m:e>
                          <m:r>
                            <m:rPr>
                              <m:sty m:val="p"/>
                            </m:rPr>
                            <a:rPr lang="nl-BE" sz="4400" b="0" i="1" smtClean="0">
                              <a:latin typeface="Cambria Math" panose="02040503050406030204" pitchFamily="18" charset="0"/>
                            </a:rPr>
                            <m:t>sup</m:t>
                          </m:r>
                        </m:e>
                      </m:func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8" name="Tekstvak 7">
                <a:extLst>
                  <a:ext uri="{FF2B5EF4-FFF2-40B4-BE49-F238E27FC236}">
                    <a16:creationId xmlns:a16="http://schemas.microsoft.com/office/drawing/2014/main" id="{DCBAF4EB-6564-9F5D-105B-F69604345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7999" y="799306"/>
                <a:ext cx="6096000" cy="76944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Crickets (Awkward Silence) - Sound Effect (HD) [CpGtBnVZLSk]">
            <a:hlinkClick r:id="" action="ppaction://media"/>
            <a:extLst>
              <a:ext uri="{FF2B5EF4-FFF2-40B4-BE49-F238E27FC236}">
                <a16:creationId xmlns:a16="http://schemas.microsoft.com/office/drawing/2014/main" id="{2052C63D-A959-1AF4-29F3-CB3E189CBF7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2369800" y="64516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024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3" dur="10032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  <p:bldLst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DD8B15-228F-D001-F0B6-79F4796E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Oefeningen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1AADAB9-C194-C3D6-4B4E-C72FB2D77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3.1 (b, c, e, f, g)</a:t>
            </a:r>
          </a:p>
          <a:p>
            <a:r>
              <a:rPr lang="nl-BE" dirty="0"/>
              <a:t>3.2 (a, d)</a:t>
            </a:r>
          </a:p>
          <a:p>
            <a:r>
              <a:rPr lang="nl-BE" dirty="0"/>
              <a:t>3.6 </a:t>
            </a:r>
          </a:p>
          <a:p>
            <a:r>
              <a:rPr lang="nl-BE" dirty="0"/>
              <a:t>3.11</a:t>
            </a:r>
          </a:p>
          <a:p>
            <a:r>
              <a:rPr lang="nl-BE" dirty="0"/>
              <a:t>3.13 (a)</a:t>
            </a:r>
          </a:p>
          <a:p>
            <a:r>
              <a:rPr lang="nl-BE" dirty="0"/>
              <a:t>4.1 (a, b, c, f, k)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E44CEF6-5F46-C515-DCB5-A22E163B5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093123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8A6B1C-FDA3-0333-F7ED-6E813758E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5515"/>
          </a:xfrm>
        </p:spPr>
        <p:txBody>
          <a:bodyPr/>
          <a:lstStyle/>
          <a:p>
            <a:r>
              <a:rPr lang="nl-BE" dirty="0"/>
              <a:t>Oplossingen 3.1(b, c, e, f)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Tijdelijke aanduiding voor inhoud 12">
                <a:extLst>
                  <a:ext uri="{FF2B5EF4-FFF2-40B4-BE49-F238E27FC236}">
                    <a16:creationId xmlns:a16="http://schemas.microsoft.com/office/drawing/2014/main" id="{3E0209EE-860B-A5CA-68BC-BE1D8FB986A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63289963"/>
                  </p:ext>
                </p:extLst>
              </p:nvPr>
            </p:nvGraphicFramePr>
            <p:xfrm>
              <a:off x="283464" y="1483550"/>
              <a:ext cx="11695175" cy="466725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44211">
                      <a:extLst>
                        <a:ext uri="{9D8B030D-6E8A-4147-A177-3AD203B41FA5}">
                          <a16:colId xmlns:a16="http://schemas.microsoft.com/office/drawing/2014/main" val="2479253090"/>
                        </a:ext>
                      </a:extLst>
                    </a:gridCol>
                    <a:gridCol w="1554717">
                      <a:extLst>
                        <a:ext uri="{9D8B030D-6E8A-4147-A177-3AD203B41FA5}">
                          <a16:colId xmlns:a16="http://schemas.microsoft.com/office/drawing/2014/main" val="109758849"/>
                        </a:ext>
                      </a:extLst>
                    </a:gridCol>
                    <a:gridCol w="1118467">
                      <a:extLst>
                        <a:ext uri="{9D8B030D-6E8A-4147-A177-3AD203B41FA5}">
                          <a16:colId xmlns:a16="http://schemas.microsoft.com/office/drawing/2014/main" val="1672249227"/>
                        </a:ext>
                      </a:extLst>
                    </a:gridCol>
                    <a:gridCol w="1480461">
                      <a:extLst>
                        <a:ext uri="{9D8B030D-6E8A-4147-A177-3AD203B41FA5}">
                          <a16:colId xmlns:a16="http://schemas.microsoft.com/office/drawing/2014/main" val="738488851"/>
                        </a:ext>
                      </a:extLst>
                    </a:gridCol>
                    <a:gridCol w="1028781">
                      <a:extLst>
                        <a:ext uri="{9D8B030D-6E8A-4147-A177-3AD203B41FA5}">
                          <a16:colId xmlns:a16="http://schemas.microsoft.com/office/drawing/2014/main" val="3510378857"/>
                        </a:ext>
                      </a:extLst>
                    </a:gridCol>
                    <a:gridCol w="1400289">
                      <a:extLst>
                        <a:ext uri="{9D8B030D-6E8A-4147-A177-3AD203B41FA5}">
                          <a16:colId xmlns:a16="http://schemas.microsoft.com/office/drawing/2014/main" val="3599642384"/>
                        </a:ext>
                      </a:extLst>
                    </a:gridCol>
                    <a:gridCol w="1325105">
                      <a:extLst>
                        <a:ext uri="{9D8B030D-6E8A-4147-A177-3AD203B41FA5}">
                          <a16:colId xmlns:a16="http://schemas.microsoft.com/office/drawing/2014/main" val="520056581"/>
                        </a:ext>
                      </a:extLst>
                    </a:gridCol>
                    <a:gridCol w="1443680">
                      <a:extLst>
                        <a:ext uri="{9D8B030D-6E8A-4147-A177-3AD203B41FA5}">
                          <a16:colId xmlns:a16="http://schemas.microsoft.com/office/drawing/2014/main" val="1554344569"/>
                        </a:ext>
                      </a:extLst>
                    </a:gridCol>
                    <a:gridCol w="1299464">
                      <a:extLst>
                        <a:ext uri="{9D8B030D-6E8A-4147-A177-3AD203B41FA5}">
                          <a16:colId xmlns:a16="http://schemas.microsoft.com/office/drawing/2014/main" val="4285845951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endParaRPr lang="nl-B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285477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928291710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b="0" i="1" smtClean="0">
                                    <a:latin typeface="Cambria Math" panose="02040503050406030204" pitchFamily="18" charset="0"/>
                                  </a:rPr>
                                  <m:t>+∞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3031948098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82497236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b="0" i="1" smtClean="0">
                                    <a:latin typeface="Cambria Math" panose="02040503050406030204" pitchFamily="18" charset="0"/>
                                  </a:rPr>
                                  <m:t>+1/2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 +1/2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28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nl-BE" sz="28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215095817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Tijdelijke aanduiding voor inhoud 12">
                <a:extLst>
                  <a:ext uri="{FF2B5EF4-FFF2-40B4-BE49-F238E27FC236}">
                    <a16:creationId xmlns:a16="http://schemas.microsoft.com/office/drawing/2014/main" id="{3E0209EE-860B-A5CA-68BC-BE1D8FB986A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163289963"/>
                  </p:ext>
                </p:extLst>
              </p:nvPr>
            </p:nvGraphicFramePr>
            <p:xfrm>
              <a:off x="283464" y="1483550"/>
              <a:ext cx="11695175" cy="466725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44211">
                      <a:extLst>
                        <a:ext uri="{9D8B030D-6E8A-4147-A177-3AD203B41FA5}">
                          <a16:colId xmlns:a16="http://schemas.microsoft.com/office/drawing/2014/main" val="2479253090"/>
                        </a:ext>
                      </a:extLst>
                    </a:gridCol>
                    <a:gridCol w="1554717">
                      <a:extLst>
                        <a:ext uri="{9D8B030D-6E8A-4147-A177-3AD203B41FA5}">
                          <a16:colId xmlns:a16="http://schemas.microsoft.com/office/drawing/2014/main" val="109758849"/>
                        </a:ext>
                      </a:extLst>
                    </a:gridCol>
                    <a:gridCol w="1118467">
                      <a:extLst>
                        <a:ext uri="{9D8B030D-6E8A-4147-A177-3AD203B41FA5}">
                          <a16:colId xmlns:a16="http://schemas.microsoft.com/office/drawing/2014/main" val="1672249227"/>
                        </a:ext>
                      </a:extLst>
                    </a:gridCol>
                    <a:gridCol w="1480461">
                      <a:extLst>
                        <a:ext uri="{9D8B030D-6E8A-4147-A177-3AD203B41FA5}">
                          <a16:colId xmlns:a16="http://schemas.microsoft.com/office/drawing/2014/main" val="738488851"/>
                        </a:ext>
                      </a:extLst>
                    </a:gridCol>
                    <a:gridCol w="1028781">
                      <a:extLst>
                        <a:ext uri="{9D8B030D-6E8A-4147-A177-3AD203B41FA5}">
                          <a16:colId xmlns:a16="http://schemas.microsoft.com/office/drawing/2014/main" val="3510378857"/>
                        </a:ext>
                      </a:extLst>
                    </a:gridCol>
                    <a:gridCol w="1400289">
                      <a:extLst>
                        <a:ext uri="{9D8B030D-6E8A-4147-A177-3AD203B41FA5}">
                          <a16:colId xmlns:a16="http://schemas.microsoft.com/office/drawing/2014/main" val="3599642384"/>
                        </a:ext>
                      </a:extLst>
                    </a:gridCol>
                    <a:gridCol w="1325105">
                      <a:extLst>
                        <a:ext uri="{9D8B030D-6E8A-4147-A177-3AD203B41FA5}">
                          <a16:colId xmlns:a16="http://schemas.microsoft.com/office/drawing/2014/main" val="520056581"/>
                        </a:ext>
                      </a:extLst>
                    </a:gridCol>
                    <a:gridCol w="1443680">
                      <a:extLst>
                        <a:ext uri="{9D8B030D-6E8A-4147-A177-3AD203B41FA5}">
                          <a16:colId xmlns:a16="http://schemas.microsoft.com/office/drawing/2014/main" val="1554344569"/>
                        </a:ext>
                      </a:extLst>
                    </a:gridCol>
                    <a:gridCol w="1299464">
                      <a:extLst>
                        <a:ext uri="{9D8B030D-6E8A-4147-A177-3AD203B41FA5}">
                          <a16:colId xmlns:a16="http://schemas.microsoft.com/office/drawing/2014/main" val="4285845951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endParaRPr lang="nl-B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9285477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105229" r="-587451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105229" r="-714130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105229" r="-440741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105229" r="-533728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105229" r="-293886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105229" r="-208716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105229" r="-91983" b="-3026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105229" r="-2347" b="-3026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28291710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203896" r="-587451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203896" r="-714130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203896" r="-440741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203896" r="-533728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203896" r="-293886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203896" r="-208716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203896" r="-91983" b="-2006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203896" r="-2347" b="-200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948098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305882" r="-587451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305882" r="-714130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305882" r="-440741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305882" r="-533728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305882" r="-293886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305882" r="-208716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305882" r="-91983" b="-10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305882" r="-2347" b="-10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4972365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800" dirty="0"/>
                            <a:t>3.1F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7451" t="-405882" r="-587451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32065" t="-405882" r="-714130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251440" t="-405882" r="-440741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05325" t="-405882" r="-533728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446725" t="-405882" r="-293886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574312" t="-405882" r="-208716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620253" t="-405882" r="-91983" b="-19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2"/>
                          <a:stretch>
                            <a:fillRect l="-801408" t="-405882" r="-2347" b="-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5095817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C8F53A82-4767-6934-8BC2-6E1474284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730412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AC35F3-520A-BB7E-F860-2CBF75ECA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3.1g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FABC936-09B1-7F01-522B-9B37377758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nl-BE" b="0" i="1" dirty="0">
                        <a:latin typeface="Cambria Math" panose="02040503050406030204" pitchFamily="18" charset="0"/>
                      </a:rPr>
                      <m:t>20, −4, −3, 5, −4, −6,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− 4, −9, 2, − 4, −12,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−4, −15</m:t>
                    </m:r>
                  </m:oMath>
                </a14:m>
                <a:endParaRPr dirty="0"/>
              </a:p>
              <a:p>
                <a14:m>
                  <m:oMath xmlns:m="http://schemas.openxmlformats.org/officeDocument/2006/math">
                    <m:r>
                      <a:rPr lang="nl-BE" b="0" i="1" dirty="0">
                        <a:latin typeface="Cambria Math" panose="02040503050406030204" pitchFamily="18" charset="0"/>
                      </a:rPr>
                      <m:t>20, 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−3, 5,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−6,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−9, 2,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−12,</m:t>
                    </m:r>
                    <m:f>
                      <m:fPr>
                        <m:ctrlPr>
                          <a:rPr lang="nl-BE" b="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b="0" i="1" dirty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nl-BE" b="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b="0" i="1" dirty="0">
                        <a:latin typeface="Cambria Math" panose="02040503050406030204" pitchFamily="18" charset="0"/>
                      </a:rPr>
                      <m:t>, −15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r>
                      <a:rPr lang="nl-BE" i="1" dirty="0">
                        <a:latin typeface="Cambria Math" panose="02040503050406030204" pitchFamily="18" charset="0"/>
                      </a:rPr>
                      <m:t>20, 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5,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2,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nl-BE" i="1" dirty="0">
                            <a:latin typeface="Cambria Math" panose="02040503050406030204" pitchFamily="18" charset="0"/>
                          </a:rPr>
                          <m:t>13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endParaRPr lang="nl-BE" b="1" dirty="0"/>
              </a:p>
              <a:p>
                <a14:m>
                  <m:oMath xmlns:m="http://schemas.openxmlformats.org/officeDocument/2006/math">
                    <m:r>
                      <a:rPr lang="nl-BE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𝟐𝟎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𝟔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𝟐𝟎</m:t>
                        </m:r>
                      </m:num>
                      <m:den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𝟕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𝟏𝟐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</m:t>
                    </m:r>
                    <m:f>
                      <m:fPr>
                        <m:ctrlP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𝟐𝟎</m:t>
                        </m:r>
                      </m:num>
                      <m:den>
                        <m:r>
                          <a:rPr lang="nl-BE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𝟏𝟑</m:t>
                        </m:r>
                      </m:den>
                    </m:f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b="1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𝟏𝟓</m:t>
                    </m:r>
                  </m:oMath>
                </a14:m>
                <a:endParaRPr lang="nl-BE" b="1" dirty="0"/>
              </a:p>
              <a:p>
                <a:endParaRPr lang="nl-BE" i="1" dirty="0">
                  <a:latin typeface="Cambria Math" panose="02040503050406030204" pitchFamily="18" charset="0"/>
                </a:endParaRPr>
              </a:p>
              <a:p>
                <a:endParaRPr lang="nl-BE" i="1" dirty="0">
                  <a:latin typeface="Cambria Math" panose="02040503050406030204" pitchFamily="18" charset="0"/>
                </a:endParaRPr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FABC936-09B1-7F01-522B-9B37377758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DD6FFA4E-A5A6-D285-3F1A-98EF46A5D5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527192"/>
                  </p:ext>
                </p:extLst>
              </p:nvPr>
            </p:nvGraphicFramePr>
            <p:xfrm>
              <a:off x="914401" y="4785360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en-GB" sz="32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fr-BE" sz="3200" b="0" i="1" smtClean="0">
                                    <a:latin typeface="Cambria Math" panose="02040503050406030204" pitchFamily="18" charset="0"/>
                                  </a:rPr>
                                  <m:t>−∞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0, −4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tc>
                      <a:txBody>
                        <a:bodyPr/>
                        <a:lstStyle/>
                        <a:p>
                          <a:pPr>
                            <a:lnSpc>
                              <a:spcPct val="115000"/>
                            </a:lnSpc>
                            <a:spcAft>
                              <a:spcPts val="800"/>
                            </a:spcAft>
                            <a:buNone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lang="nl-BE" sz="3200" i="1" dirty="0" smtClean="0">
                                    <a:latin typeface="Cambria Math" panose="02040503050406030204" pitchFamily="18" charset="0"/>
                                  </a:rPr>
                                  <m:t>/</m:t>
                                </m:r>
                              </m:oMath>
                            </m:oMathPara>
                          </a14:m>
                          <a:endParaRPr lang="nl-BE" sz="3200" dirty="0"/>
                        </a:p>
                      </a:txBody>
                      <a:tcPr marL="68580" marR="68580" marT="0" marB="0"/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el 3">
                <a:extLst>
                  <a:ext uri="{FF2B5EF4-FFF2-40B4-BE49-F238E27FC236}">
                    <a16:creationId xmlns:a16="http://schemas.microsoft.com/office/drawing/2014/main" id="{DD6FFA4E-A5A6-D285-3F1A-98EF46A5D5B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527192"/>
                  </p:ext>
                </p:extLst>
              </p:nvPr>
            </p:nvGraphicFramePr>
            <p:xfrm>
              <a:off x="914401" y="4785360"/>
              <a:ext cx="10363197" cy="18669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512712">
                      <a:extLst>
                        <a:ext uri="{9D8B030D-6E8A-4147-A177-3AD203B41FA5}">
                          <a16:colId xmlns:a16="http://schemas.microsoft.com/office/drawing/2014/main" val="3103796476"/>
                        </a:ext>
                      </a:extLst>
                    </a:gridCol>
                    <a:gridCol w="1088248">
                      <a:extLst>
                        <a:ext uri="{9D8B030D-6E8A-4147-A177-3AD203B41FA5}">
                          <a16:colId xmlns:a16="http://schemas.microsoft.com/office/drawing/2014/main" val="728253802"/>
                        </a:ext>
                      </a:extLst>
                    </a:gridCol>
                    <a:gridCol w="1440462">
                      <a:extLst>
                        <a:ext uri="{9D8B030D-6E8A-4147-A177-3AD203B41FA5}">
                          <a16:colId xmlns:a16="http://schemas.microsoft.com/office/drawing/2014/main" val="1230733389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419003960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302695883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530790263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1200962351"/>
                        </a:ext>
                      </a:extLst>
                    </a:gridCol>
                    <a:gridCol w="1264355">
                      <a:extLst>
                        <a:ext uri="{9D8B030D-6E8A-4147-A177-3AD203B41FA5}">
                          <a16:colId xmlns:a16="http://schemas.microsoft.com/office/drawing/2014/main" val="2842989517"/>
                        </a:ext>
                      </a:extLst>
                    </a:gridCol>
                  </a:tblGrid>
                  <a:tr h="933450"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max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min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sup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 </a:t>
                          </a:r>
                          <a:r>
                            <a:rPr lang="nl-BE" sz="2400" dirty="0" err="1"/>
                            <a:t>inf</a:t>
                          </a:r>
                          <a:endParaRPr lang="nl-BE" sz="2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 err="1"/>
                            <a:t>Ophop</a:t>
                          </a:r>
                          <a:r>
                            <a:rPr lang="nl-BE" sz="2400" dirty="0"/>
                            <a:t>.</a:t>
                          </a:r>
                        </a:p>
                        <a:p>
                          <a:r>
                            <a:rPr lang="nl-BE" sz="2400" dirty="0"/>
                            <a:t>punten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nl-BE" sz="2400" dirty="0"/>
                            <a:t>Limiet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23524567"/>
                      </a:ext>
                    </a:extLst>
                  </a:tr>
                  <a:tr h="933450"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806" t="-105882" r="-587500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39665" t="-105882" r="-713966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181780" t="-105882" r="-441525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321256" t="-105882" r="-40338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419231" t="-105882" r="-301442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521739" t="-105882" r="-202899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618750" t="-105882" r="-101923" b="-130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BE"/>
                        </a:p>
                      </a:txBody>
                      <a:tcPr marL="68580" marR="68580" marT="0" marB="0">
                        <a:blipFill>
                          <a:blip r:embed="rId3"/>
                          <a:stretch>
                            <a:fillRect l="-722222" t="-105882" r="-2415" b="-130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9006877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276914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8937EE-D918-22AC-CAE4-BE08F82DD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760" y="304800"/>
            <a:ext cx="10515600" cy="1070928"/>
          </a:xfrm>
        </p:spPr>
        <p:txBody>
          <a:bodyPr/>
          <a:lstStyle/>
          <a:p>
            <a:r>
              <a:rPr lang="nl-BE" dirty="0"/>
              <a:t>3.2a: Hoe ophopingspunten bepalen?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C570FA1-375D-16EB-F3C7-40D49EA98E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88974"/>
                <a:ext cx="10515600" cy="5212080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nl-BE" b="0" dirty="0"/>
              </a:p>
              <a:p>
                <a:r>
                  <a:rPr lang="nl-BE" dirty="0"/>
                  <a:t>Bepaal periode </a:t>
                </a:r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>
                        <a:latin typeface="Cambria Math" panose="02040503050406030204" pitchFamily="18" charset="0"/>
                      </a:rPr>
                      <m:t>sin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nl-BE" dirty="0"/>
                  <a:t>is </a:t>
                </a:r>
                <a14:m>
                  <m:oMath xmlns:m="http://schemas.openxmlformats.org/officeDocument/2006/math">
                    <m:r>
                      <a:rPr lang="nl-BE" i="1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nl-BE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nl-BE" dirty="0"/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nl-BE" dirty="0"/>
                  <a:t> is 2</a:t>
                </a:r>
              </a:p>
              <a:p>
                <a:r>
                  <a:rPr lang="nl-BE" dirty="0"/>
                  <a:t>Neem het </a:t>
                </a:r>
                <a:r>
                  <a:rPr lang="nl-BE" dirty="0" err="1"/>
                  <a:t>kgv</a:t>
                </a:r>
                <a:r>
                  <a:rPr lang="nl-BE" dirty="0"/>
                  <a:t> hiervan: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b="0" i="0" smtClean="0">
                        <a:latin typeface="Cambria Math" panose="02040503050406030204" pitchFamily="18" charset="0"/>
                      </a:rPr>
                      <m:t>kgv</m:t>
                    </m:r>
                    <m:d>
                      <m:d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,2</m:t>
                        </m:r>
                      </m:e>
                    </m:d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nl-BE" dirty="0"/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=8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nl-BE" dirty="0"/>
                  <a:t>  </a:t>
                </a:r>
              </a:p>
              <a:p>
                <a:pPr lvl="1"/>
                <a:endParaRPr lang="nl-BE" dirty="0"/>
              </a:p>
              <a:p>
                <a:r>
                  <a:rPr lang="nl-BE" dirty="0"/>
                  <a:t>We bekomen 8 deelrijen</a:t>
                </a:r>
              </a:p>
              <a:p>
                <a:r>
                  <a:rPr lang="nl-BE" dirty="0"/>
                  <a:t>Bepaal de limieten van de deelrijen</a:t>
                </a:r>
              </a:p>
              <a:p>
                <a:r>
                  <a:rPr lang="nl-BE" dirty="0"/>
                  <a:t>Hou er rekening mee dat </a:t>
                </a:r>
                <a14:m>
                  <m:oMath xmlns:m="http://schemas.openxmlformats.org/officeDocument/2006/math">
                    <m:r>
                      <a:rPr lang="nl-BE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EC570FA1-375D-16EB-F3C7-40D49EA98E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88974"/>
                <a:ext cx="10515600" cy="5212080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Afbeelding 3">
            <a:extLst>
              <a:ext uri="{FF2B5EF4-FFF2-40B4-BE49-F238E27FC236}">
                <a16:creationId xmlns:a16="http://schemas.microsoft.com/office/drawing/2014/main" id="{1F6D3A78-450F-F668-CA01-3EEECC9DB7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0320" y="1663700"/>
            <a:ext cx="4297680" cy="450983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969F9123-BF3E-D475-46D0-0E77B6466DD0}"/>
                  </a:ext>
                </a:extLst>
              </p:cNvPr>
              <p:cNvSpPr txBox="1"/>
              <p:nvPr/>
            </p:nvSpPr>
            <p:spPr>
              <a:xfrm>
                <a:off x="10108781" y="1021080"/>
                <a:ext cx="1829219" cy="4898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nl-B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nl-BE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4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969F9123-BF3E-D475-46D0-0E77B6466D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08781" y="1021080"/>
                <a:ext cx="1829219" cy="48981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Rechte verbindingslijn met pijl 5">
            <a:extLst>
              <a:ext uri="{FF2B5EF4-FFF2-40B4-BE49-F238E27FC236}">
                <a16:creationId xmlns:a16="http://schemas.microsoft.com/office/drawing/2014/main" id="{C30EE5F5-C5D9-F2DF-7447-2F7A9719D13C}"/>
              </a:ext>
            </a:extLst>
          </p:cNvPr>
          <p:cNvCxnSpPr/>
          <p:nvPr/>
        </p:nvCxnSpPr>
        <p:spPr>
          <a:xfrm flipV="1">
            <a:off x="11176000" y="1663700"/>
            <a:ext cx="0" cy="7645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33C3D1E-4CD4-B80F-4A5B-F4DE72395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083471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ACBFD7F-C4E4-1FFA-190F-1337DAD3A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2280" y="157480"/>
                <a:ext cx="10515600" cy="6543040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nl-BE" dirty="0"/>
                  <a:t> waarbij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→∞</m:t>
                        </m:r>
                      </m:lim>
                    </m:limLow>
                    <m:r>
                      <a:rPr lang="nl-BE" b="0" i="1" smtClean="0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lang="nl-BE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nl-BE" dirty="0"/>
                  <a:t> </a:t>
                </a:r>
              </a:p>
              <a:p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nl-BE" b="0" i="1" smtClean="0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rad>
                      <m:radPr>
                        <m:degHide m:val="on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rad>
                      <m:radPr>
                        <m:degHide m:val="on"/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+6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+6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−2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+7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+7</m:t>
                        </m:r>
                      </m:sup>
                    </m:sSup>
                    <m:r>
                      <a:rPr lang="nl-BE" i="1">
                        <a:latin typeface="Cambria Math" panose="02040503050406030204" pitchFamily="18" charset="0"/>
                      </a:rPr>
                      <m:t> 2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7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ACBFD7F-C4E4-1FFA-190F-1337DAD3A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2280" y="157480"/>
                <a:ext cx="10515600" cy="6543040"/>
              </a:xfrm>
              <a:blipFill>
                <a:blip r:embed="rId2"/>
                <a:stretch>
                  <a:fillRect t="-186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C92879E-7B5B-3521-6367-DD8BE2991D37}"/>
                  </a:ext>
                </a:extLst>
              </p:cNvPr>
              <p:cNvSpPr txBox="1"/>
              <p:nvPr/>
            </p:nvSpPr>
            <p:spPr>
              <a:xfrm>
                <a:off x="7209890" y="2232690"/>
                <a:ext cx="6097712" cy="28516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fr-BE" sz="3200" b="0" dirty="0"/>
              </a:p>
              <a:p>
                <a:endParaRPr lang="nl-BE" sz="3200" dirty="0"/>
              </a:p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  <m:t>inf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BE" sz="32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fr-BE" sz="3200" dirty="0"/>
              </a:p>
              <a:p>
                <a:endParaRPr lang="nl-BE" sz="3200" dirty="0"/>
              </a:p>
              <a:p>
                <a:endParaRPr lang="nl-BE" sz="3200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1C92879E-7B5B-3521-6367-DD8BE299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9890" y="2232690"/>
                <a:ext cx="6097712" cy="28516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92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06934C-2551-839A-2F50-9F6DC9048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3.2d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650AB2D-1714-E5F9-3BA5-60920433E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81785"/>
                <a:ext cx="10515600" cy="4351338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nl-BE" dirty="0"/>
              </a:p>
              <a:p>
                <a:r>
                  <a:rPr lang="nl-BE" dirty="0"/>
                  <a:t>Bepaal periode </a:t>
                </a:r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b="0" i="0" smtClean="0">
                        <a:latin typeface="Cambria Math" panose="02040503050406030204" pitchFamily="18" charset="0"/>
                      </a:rPr>
                      <m:t>cot</m:t>
                    </m:r>
                  </m:oMath>
                </a14:m>
                <a:r>
                  <a:rPr lang="nl-BE" dirty="0"/>
                  <a:t> is </a:t>
                </a:r>
                <a14:m>
                  <m:oMath xmlns:m="http://schemas.openxmlformats.org/officeDocument/2006/math">
                    <m:r>
                      <a:rPr lang="nl-BE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nl-BE" dirty="0"/>
              </a:p>
              <a:p>
                <a:pPr lvl="1"/>
                <a:r>
                  <a:rPr lang="nl-BE" dirty="0"/>
                  <a:t>Periode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nl-BE" dirty="0"/>
                  <a:t> is 2</a:t>
                </a:r>
              </a:p>
              <a:p>
                <a:r>
                  <a:rPr lang="nl-BE" dirty="0"/>
                  <a:t>Neem het </a:t>
                </a:r>
                <a:r>
                  <a:rPr lang="nl-BE" dirty="0" err="1"/>
                  <a:t>kgv</a:t>
                </a:r>
                <a:r>
                  <a:rPr lang="nl-BE" dirty="0"/>
                  <a:t> hiervan: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nl-BE" i="0">
                        <a:latin typeface="Cambria Math" panose="02040503050406030204" pitchFamily="18" charset="0"/>
                      </a:rPr>
                      <m:t>kgv</m:t>
                    </m:r>
                    <m:d>
                      <m:d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,2</m:t>
                        </m:r>
                      </m:e>
                    </m:d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nl-BE" i="1">
                        <a:latin typeface="Cambria Math" panose="02040503050406030204" pitchFamily="18" charset="0"/>
                      </a:rPr>
                      <m:t>=2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=6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nl-BE" dirty="0"/>
                  <a:t>  </a:t>
                </a:r>
              </a:p>
              <a:p>
                <a:endParaRPr lang="nl-BE" dirty="0"/>
              </a:p>
              <a:p>
                <a:r>
                  <a:rPr lang="nl-BE" dirty="0"/>
                  <a:t>Hou er rekening mee dat </a:t>
                </a:r>
                <a14:m>
                  <m:oMath xmlns:m="http://schemas.openxmlformats.org/officeDocument/2006/math">
                    <m:r>
                      <a:rPr lang="nl-B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nl-BE" dirty="0"/>
                  <a:t>, maar let op!</a:t>
                </a:r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  <a:p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1650AB2D-1714-E5F9-3BA5-60920433E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81785"/>
                <a:ext cx="10515600" cy="4351338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23D87F4-1C26-D6B8-8439-E0A8F63B6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17787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4511C31-CB98-A985-B314-6D639A5B82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74320"/>
                <a:ext cx="10515600" cy="6451600"/>
              </a:xfrm>
            </p:spPr>
            <p:txBody>
              <a:bodyPr>
                <a:normAutofit fontScale="92500"/>
              </a:bodyPr>
              <a:lstStyle/>
              <a:p>
                <a:r>
                  <a:rPr lang="nl-BE" dirty="0"/>
                  <a:t>Let op met het toepassen van de limiet want 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</m:lim>
                    </m:limLow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endParaRPr lang="nl-BE" dirty="0"/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lim</m:t>
                        </m:r>
                      </m:e>
                      <m:lim>
                        <m:r>
                          <a:rPr lang="nl-BE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→</m:t>
                        </m:r>
                        <m:sSup>
                          <m:sSup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  <m:sup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</m:lim>
                    </m:limLow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nl-BE" dirty="0"/>
              </a:p>
              <a:p>
                <a:pPr lvl="1"/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endParaRPr lang="nl-B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fr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+2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+2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nl-B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+3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+3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+3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nl-BE" b="0" i="1" smtClean="0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+3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=+∞</m:t>
                    </m:r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+4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+4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+4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b>
                    </m:sSub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p>
                        <m:r>
                          <a:rPr lang="nl-BE" i="1">
                            <a:latin typeface="Cambria Math" panose="02040503050406030204" pitchFamily="18" charset="0"/>
                          </a:rPr>
                          <m:t>6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nl-BE" i="1">
                            <a:latin typeface="Cambria Math" panose="02040503050406030204" pitchFamily="18" charset="0"/>
                          </a:rPr>
                          <m:t>+5</m:t>
                        </m:r>
                      </m:sup>
                    </m:sSup>
                    <m:func>
                      <m:funcPr>
                        <m:ctrlPr>
                          <a:rPr lang="nl-BE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>
                            <a:latin typeface="Cambria Math" panose="02040503050406030204" pitchFamily="18" charset="0"/>
                          </a:rPr>
                          <m:t>cot</m:t>
                        </m:r>
                      </m:fName>
                      <m:e>
                        <m:d>
                          <m:dPr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nl-BE" i="1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+5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+5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B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nl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  <m:r>
                      <a:rPr lang="fr-B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B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fr-B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fr-BE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fr-BE" i="1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nl-BE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34511C31-CB98-A985-B314-6D639A5B82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74320"/>
                <a:ext cx="10515600" cy="6451600"/>
              </a:xfrm>
              <a:blipFill>
                <a:blip r:embed="rId2"/>
                <a:stretch>
                  <a:fillRect l="-928" t="-1418"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FB82282E-ABBA-D1C8-6A49-90C499BE25A1}"/>
                  </a:ext>
                </a:extLst>
              </p:cNvPr>
              <p:cNvSpPr txBox="1"/>
              <p:nvPr/>
            </p:nvSpPr>
            <p:spPr>
              <a:xfrm>
                <a:off x="7137971" y="352519"/>
                <a:ext cx="6097712" cy="2754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nl-BE" sz="32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b="0" i="1" smtClean="0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=+∞</m:t>
                      </m:r>
                    </m:oMath>
                  </m:oMathPara>
                </a14:m>
                <a:endParaRPr lang="nl-BE" sz="3200" dirty="0"/>
              </a:p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sz="32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 sz="320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sz="3200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unc>
                            <m:funcPr>
                              <m:ctrl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BE" sz="3200" b="0" i="0" smtClean="0">
                                  <a:latin typeface="Cambria Math" panose="02040503050406030204" pitchFamily="18" charset="0"/>
                                </a:rPr>
                                <m:t>inf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BE" sz="3200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nl-BE" sz="3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func>
                        </m:e>
                      </m:func>
                      <m:r>
                        <a:rPr lang="fr-BE" sz="3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3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BE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fr-BE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BE" sz="32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rad>
                        </m:num>
                        <m:den>
                          <m:r>
                            <a:rPr lang="fr-BE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fr-BE" sz="3200" dirty="0"/>
              </a:p>
              <a:p>
                <a:endParaRPr lang="nl-BE" sz="3200" dirty="0"/>
              </a:p>
              <a:p>
                <a:endParaRPr lang="nl-BE" sz="3200" dirty="0"/>
              </a:p>
            </p:txBody>
          </p:sp>
        </mc:Choice>
        <mc:Fallback xmlns="">
          <p:sp>
            <p:nvSpPr>
              <p:cNvPr id="5" name="Tekstvak 4">
                <a:extLst>
                  <a:ext uri="{FF2B5EF4-FFF2-40B4-BE49-F238E27FC236}">
                    <a16:creationId xmlns:a16="http://schemas.microsoft.com/office/drawing/2014/main" id="{FB82282E-ABBA-D1C8-6A49-90C499BE25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7971" y="352519"/>
                <a:ext cx="6097712" cy="275421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8963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5AD33-8E6D-3F48-FC0C-A10FC73C3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950923-52F4-F8F0-3550-C8ECB637C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Oefeningen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8E51311-B6A4-85B2-73B8-2C6EE457F0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3.1 (b, c, e, f, g)</a:t>
            </a:r>
          </a:p>
          <a:p>
            <a:r>
              <a:rPr lang="nl-BE" dirty="0"/>
              <a:t>3.2 (a, d)</a:t>
            </a:r>
          </a:p>
          <a:p>
            <a:r>
              <a:rPr lang="nl-BE" dirty="0"/>
              <a:t>3.6 </a:t>
            </a:r>
          </a:p>
          <a:p>
            <a:r>
              <a:rPr lang="nl-BE" dirty="0"/>
              <a:t>3.11</a:t>
            </a:r>
          </a:p>
          <a:p>
            <a:r>
              <a:rPr lang="nl-BE" dirty="0"/>
              <a:t>3.13 (a)</a:t>
            </a:r>
          </a:p>
          <a:p>
            <a:r>
              <a:rPr lang="nl-BE" dirty="0"/>
              <a:t>4.1 (a, b, c, f, k)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94ABD16-E3BE-5C3F-E104-AF69AA325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23754017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4AB127-76A8-1B59-4629-A7EF8D5B6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3.2a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402CFA5-74D6-750E-2F83-CA99AA336A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https://www.geogebra.org/calculator/hchpwhxq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EBBB738-AE06-FADE-10E1-69A515D47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41946072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E0495-7BF3-8CF9-224C-900F74DBB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3.2d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3010CE-2A1D-E169-0664-4F7D59ECE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https://www.geogebra.org/calculator/vzhnmuvd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3273AB43-F19B-9DF7-6964-02FDAE4F4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0847446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E9CF5F-E757-978C-EA34-9FD844440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473" y="115744"/>
            <a:ext cx="1204356" cy="1325563"/>
          </a:xfrm>
        </p:spPr>
        <p:txBody>
          <a:bodyPr/>
          <a:lstStyle/>
          <a:p>
            <a:r>
              <a:rPr lang="fr-BE" dirty="0"/>
              <a:t>3.6</a:t>
            </a:r>
            <a:endParaRPr lang="nl-BE" dirty="0"/>
          </a:p>
        </p:txBody>
      </p:sp>
      <p:pic>
        <p:nvPicPr>
          <p:cNvPr id="16" name="Afbeelding 15">
            <a:extLst>
              <a:ext uri="{FF2B5EF4-FFF2-40B4-BE49-F238E27FC236}">
                <a16:creationId xmlns:a16="http://schemas.microsoft.com/office/drawing/2014/main" id="{95AC0FC2-68F3-296F-2000-A057CCAF2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301" y="150949"/>
            <a:ext cx="10137409" cy="6556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1625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C98146-9CBA-6CE4-1E5C-091B8E219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3.6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20C29C5-B4AA-74F5-70EE-E85DAF9A3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https://www.geogebra.org/calculator/chs8ekw8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85BADBD4-2A43-082D-7C45-B0464E6A1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14885930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C27E54-9DD4-2106-F816-AD676049E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3.11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B01F5FE-ED5B-2A02-6332-C16FB2B02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https://www.geogebra.org/calculator/pc48dzep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1FA65D7B-81F6-60FE-CC9F-500A679D8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31645783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1BA37-84AF-B43D-D0DB-14C2659AA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729BF5-4F86-3275-9046-D3E35A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01375" cy="1325563"/>
          </a:xfrm>
        </p:spPr>
        <p:txBody>
          <a:bodyPr/>
          <a:lstStyle/>
          <a:p>
            <a:r>
              <a:rPr lang="nl-BE" dirty="0"/>
              <a:t>Trucje voor limieten </a:t>
            </a:r>
            <a:r>
              <a:rPr lang="nl-BE" dirty="0">
                <a:sym typeface="Wingdings" panose="05000000000000000000" pitchFamily="2" charset="2"/>
              </a:rPr>
              <a:t> </a:t>
            </a:r>
            <a:r>
              <a:rPr lang="nl-BE" dirty="0"/>
              <a:t>zie 3.4(g, h) en 4.1 (i, j, 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C0E9CA3-FB03-E228-803D-3208B2F0EC4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00027"/>
                <a:ext cx="10515600" cy="4676936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func>
                      <m:func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nl-BE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b="0" i="1" smtClean="0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nl-BE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nl-BE" b="0" i="1" smtClean="0">
                                <a:latin typeface="Cambria Math" panose="02040503050406030204" pitchFamily="18" charset="0"/>
                              </a:rPr>
                              <m:t>𝑏𝑛</m:t>
                            </m:r>
                          </m:sup>
                        </m:sSup>
                      </m:e>
                    </m:func>
                    <m:r>
                      <a:rPr lang="nl-B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nl-BE" i="1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nl-BE" dirty="0"/>
                  <a:t>  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nl-BE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nl-BE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nl-BE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func>
                    <m:r>
                      <a:rPr lang="nl-BE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nl-B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nl-BE" i="1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r>
                          <a:rPr lang="nl-BE" b="0" i="1" smtClean="0">
                            <a:latin typeface="Cambria Math" panose="02040503050406030204" pitchFamily="18" charset="0"/>
                          </a:rPr>
                          <m:t>𝑏𝑛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nl-BE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nl-BE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nl-B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nl-BE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f>
                                  <m:fPr>
                                    <m:ctrlP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num>
                                  <m:den>
                                    <m:r>
                                      <a:rPr lang="nl-BE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nl-B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nl-BE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nl-BE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f>
                                        <m:fPr>
                                          <m:ctrlPr>
                                            <a:rPr lang="nl-BE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nl-BE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num>
                                        <m:den>
                                          <m:r>
                                            <a:rPr lang="nl-BE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f>
                                <m:f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𝑏𝑛</m:t>
                                  </m:r>
                                </m:den>
                              </m:f>
                            </m:den>
                          </m:f>
                        </m:e>
                      </m:func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nl-BE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nl-BE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f>
                                <m:f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f>
                                    <m:fPr>
                                      <m:ctrlP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num>
                                    <m:den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den>
                              </m:f>
                              <m:d>
                                <m:dPr>
                                  <m:ctrlP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num>
                                    <m:den>
                                      <m:sSup>
                                        <m:sSupPr>
                                          <m:ctrlPr>
                                            <a:rPr lang="nl-BE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nl-BE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  <m:sup>
                                          <m:r>
                                            <a:rPr lang="nl-BE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num>
                            <m:den>
                              <m:r>
                                <a:rPr lang="nl-BE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nl-BE" i="1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  <m:sSup>
                                    <m:sSupPr>
                                      <m:ctrlP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nl-BE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lang="nl-BE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den>
                          </m:f>
                        </m:e>
                      </m:func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nl-BE" b="0" i="1" smtClean="0">
                          <a:latin typeface="Cambria Math" panose="02040503050406030204" pitchFamily="18" charset="0"/>
                        </a:rPr>
                        <m:t>𝑎𝑏</m:t>
                      </m:r>
                    </m:oMath>
                  </m:oMathPara>
                </a14:m>
                <a:endParaRPr lang="nl-BE" dirty="0"/>
              </a:p>
              <a:p>
                <a:pPr marL="0" indent="0">
                  <a:buNone/>
                </a:pPr>
                <a:endParaRPr lang="nl-B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nl-BE" b="1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𝒍𝒊𝒎</m:t>
                              </m:r>
                            </m:e>
                            <m:lim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nl-BE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  <m:r>
                                    <a:rPr lang="nl-BE" b="1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f>
                                    <m:fPr>
                                      <m:ctrlP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num>
                                    <m:den>
                                      <m:r>
                                        <a:rPr lang="nl-BE" b="1" i="1">
                                          <a:latin typeface="Cambria Math" panose="02040503050406030204" pitchFamily="18" charset="0"/>
                                        </a:rPr>
                                        <m:t>𝒏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nl-BE" b="1" i="1">
                                  <a:latin typeface="Cambria Math" panose="02040503050406030204" pitchFamily="18" charset="0"/>
                                </a:rPr>
                                <m:t>𝒃𝒏</m:t>
                              </m:r>
                            </m:sup>
                          </m:sSup>
                        </m:e>
                      </m:func>
                      <m:r>
                        <a:rPr lang="nl-BE" b="1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nl-BE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𝒆</m:t>
                          </m:r>
                        </m:e>
                        <m:sup>
                          <m:r>
                            <a:rPr lang="nl-BE" b="1" i="1" smtClean="0">
                              <a:latin typeface="Cambria Math" panose="02040503050406030204" pitchFamily="18" charset="0"/>
                            </a:rPr>
                            <m:t>𝒂𝒃</m:t>
                          </m:r>
                        </m:sup>
                      </m:sSup>
                    </m:oMath>
                  </m:oMathPara>
                </a14:m>
                <a:endParaRPr lang="nl-BE" b="1" dirty="0"/>
              </a:p>
            </p:txBody>
          </p:sp>
        </mc:Choice>
        <mc:Fallback xmlns="">
          <p:sp>
            <p:nvSpPr>
              <p:cNvPr id="3" name="Tijdelijke aanduiding voor inhoud 2">
                <a:extLst>
                  <a:ext uri="{FF2B5EF4-FFF2-40B4-BE49-F238E27FC236}">
                    <a16:creationId xmlns:a16="http://schemas.microsoft.com/office/drawing/2014/main" id="{7C0E9CA3-FB03-E228-803D-3208B2F0EC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00027"/>
                <a:ext cx="10515600" cy="467693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nl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0036AF19-63B3-9980-3C96-97E8D519E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Oefenzittingen Analyse I - Jasper Visterin</a:t>
            </a:r>
          </a:p>
        </p:txBody>
      </p:sp>
    </p:spTree>
    <p:extLst>
      <p:ext uri="{BB962C8B-B14F-4D97-AF65-F5344CB8AC3E}">
        <p14:creationId xmlns:p14="http://schemas.microsoft.com/office/powerpoint/2010/main" val="570780685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1422</Words>
  <Application>Microsoft Office PowerPoint</Application>
  <PresentationFormat>Breedbeeld</PresentationFormat>
  <Paragraphs>292</Paragraphs>
  <Slides>30</Slides>
  <Notes>1</Notes>
  <HiddenSlides>0</HiddenSlides>
  <MMClips>1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Cambria Math</vt:lpstr>
      <vt:lpstr>Wingdings</vt:lpstr>
      <vt:lpstr>Kantoorthema</vt:lpstr>
      <vt:lpstr>Analyse I, Oefenzitting 3</vt:lpstr>
      <vt:lpstr>(Strikt) Stijgende Rijen</vt:lpstr>
      <vt:lpstr>(Strikt) Dalende Rijen</vt:lpstr>
      <vt:lpstr>Wat voor soort rij is u_n=1, ∀n≥1?</vt:lpstr>
      <vt:lpstr>Limiet van een rij</vt:lpstr>
      <vt:lpstr>Hoe ziet een limiet eruit?</vt:lpstr>
      <vt:lpstr>Wat is de limiet van u_n=(-1)^n, n≥1?</vt:lpstr>
      <vt:lpstr>Wanneer is een rij convergent/divergent?</vt:lpstr>
      <vt:lpstr>Wat is een ophopingspunt van een rij?</vt:lpstr>
      <vt:lpstr>Heeft een rij met meer dan één ophopingspunt een limiet?</vt:lpstr>
      <vt:lpstr>Bovenlimiet en Onderlimiet</vt:lpstr>
      <vt:lpstr>Wat als lim⁡sup=lim⁡inf? </vt:lpstr>
      <vt:lpstr>Landau-notatie</vt:lpstr>
      <vt:lpstr>Trucje voor limieten</vt:lpstr>
      <vt:lpstr>3.1d</vt:lpstr>
      <vt:lpstr>PowerPoint-presentatie</vt:lpstr>
      <vt:lpstr>Oefeningen</vt:lpstr>
      <vt:lpstr>Oplossingen 3.1(b, c, e, f)</vt:lpstr>
      <vt:lpstr>3.1g</vt:lpstr>
      <vt:lpstr>3.2a: Hoe ophopingspunten bepalen?</vt:lpstr>
      <vt:lpstr>PowerPoint-presentatie</vt:lpstr>
      <vt:lpstr>3.2d</vt:lpstr>
      <vt:lpstr>PowerPoint-presentatie</vt:lpstr>
      <vt:lpstr>Oefeningen</vt:lpstr>
      <vt:lpstr>3.2a</vt:lpstr>
      <vt:lpstr>3.2d</vt:lpstr>
      <vt:lpstr>3.6</vt:lpstr>
      <vt:lpstr>3.6</vt:lpstr>
      <vt:lpstr>3.11</vt:lpstr>
      <vt:lpstr>Trucje voor limieten  zie 3.4(g, h) en 4.1 (i, j, k)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Visterin</dc:creator>
  <cp:lastModifiedBy>Jasper Visterin</cp:lastModifiedBy>
  <cp:revision>250</cp:revision>
  <dcterms:created xsi:type="dcterms:W3CDTF">2025-10-17T18:54:02Z</dcterms:created>
  <dcterms:modified xsi:type="dcterms:W3CDTF">2026-10-23T12:45:38Z</dcterms:modified>
</cp:coreProperties>
</file>