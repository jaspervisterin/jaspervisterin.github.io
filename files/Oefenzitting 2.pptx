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63" r:id="rId3"/>
    <p:sldId id="277" r:id="rId4"/>
    <p:sldId id="278" r:id="rId5"/>
    <p:sldId id="275" r:id="rId6"/>
    <p:sldId id="265" r:id="rId7"/>
    <p:sldId id="276" r:id="rId8"/>
    <p:sldId id="268" r:id="rId9"/>
    <p:sldId id="279" r:id="rId10"/>
    <p:sldId id="280" r:id="rId11"/>
    <p:sldId id="284" r:id="rId12"/>
    <p:sldId id="261" r:id="rId13"/>
    <p:sldId id="286" r:id="rId14"/>
    <p:sldId id="281" r:id="rId15"/>
    <p:sldId id="274" r:id="rId16"/>
    <p:sldId id="287" r:id="rId17"/>
    <p:sldId id="267" r:id="rId18"/>
    <p:sldId id="259" r:id="rId19"/>
    <p:sldId id="260" r:id="rId20"/>
    <p:sldId id="258" r:id="rId21"/>
    <p:sldId id="283" r:id="rId22"/>
    <p:sldId id="291" r:id="rId23"/>
    <p:sldId id="288" r:id="rId24"/>
    <p:sldId id="289" r:id="rId25"/>
    <p:sldId id="290" r:id="rId26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46FC79-B146-437E-A6F8-72DDC84BFC6C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18BB48-1AF3-487A-A4A8-7FD9F914EEC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230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DAB33B-CE76-3FB7-5300-47EB973BE6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A6C7CE9-310D-6DB6-E397-A8452E20AC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GB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32A6DF1-A48C-B0B2-494F-537540B1A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4A50D-3D79-4853-9D54-F13C58CBF6E7}" type="datetime1">
              <a:rPr lang="en-GB" smtClean="0"/>
              <a:t>16/10/2026</a:t>
            </a:fld>
            <a:endParaRPr lang="en-GB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DEB32BF-2CEF-8EAE-8F59-857E10B35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Oefenzittingen Analyse I - Jasper Visterin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F51C7CE-1601-9DAB-BD2E-9E90C655E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DB0B4-B73C-44EB-91F1-D36441C002F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3678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5CC48A-F6C4-5034-86DB-E8D152423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8582839-4FE0-9255-EE39-D9A10F77C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1BDCE93-7835-B480-2133-917516BDE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35024-D9E0-4D41-B273-F8C250A2A3E1}" type="datetime1">
              <a:rPr lang="en-GB" smtClean="0"/>
              <a:t>16/10/2026</a:t>
            </a:fld>
            <a:endParaRPr lang="en-GB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C14618B-E896-E7F7-350C-AC99BC925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Oefenzittingen Analyse I - Jasper Visterin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068F169-B612-FC8F-793B-6CCEFF46E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DB0B4-B73C-44EB-91F1-D36441C002F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4510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093A6D-42F5-3DC8-1638-12351B3D3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1E1B21B-50E6-6F18-FC15-A5C634D07A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200CC0A-F4CA-78D7-4F47-937FCDA75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E7E4E-B8F8-4E0B-8340-15B940E37218}" type="datetime1">
              <a:rPr lang="en-GB" smtClean="0"/>
              <a:t>16/10/2026</a:t>
            </a:fld>
            <a:endParaRPr lang="en-GB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24A6D39-8CA5-94C9-31F1-AB544FCAF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Oefenzittingen Analyse I - Jasper Visterin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AAAE353-5CFE-C95F-4B35-1E5DC38E0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DB0B4-B73C-44EB-91F1-D36441C002F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687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6D219F-83F7-4A81-165E-A289FBA15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0F94D46-F77E-8FF4-8C01-E8BB708193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CA904F71-496D-0D76-34E3-4E204C096F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041B3B69-BE54-CC33-4498-EABF8D558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F0FBB-9843-4093-9C00-72E52B0A261F}" type="datetime1">
              <a:rPr lang="en-GB" smtClean="0"/>
              <a:t>16/10/2026</a:t>
            </a:fld>
            <a:endParaRPr lang="en-GB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EB23902B-24A2-FD80-D1FD-34CBD9CFC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Oefenzittingen Analyse I - Jasper Visterin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4C2262BC-674D-4DED-E112-46F25BC9A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DB0B4-B73C-44EB-91F1-D36441C002F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0489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59FB38-903C-8E10-F3D2-25B7686C7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840A03F-5818-43CF-7A92-1901B63F5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D80E5F47-1956-3EAD-C7FE-F619BD6736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AE5AC8D5-41A0-F884-B53A-19156126BF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ED9F09FE-92C7-ECD1-8C78-0CA224B06D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A05A670D-0F6C-5689-B990-0183B952F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3E205-270C-4B81-9C1E-9A192B7FD8C9}" type="datetime1">
              <a:rPr lang="en-GB" smtClean="0"/>
              <a:t>16/10/2026</a:t>
            </a:fld>
            <a:endParaRPr lang="en-GB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A39BFAE7-45D5-EBF5-8492-F355C747C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Oefenzittingen Analyse I - Jasper Visterin</a:t>
            </a:r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BB55E951-62D2-53D8-2D6B-E332432E7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DB0B4-B73C-44EB-91F1-D36441C002F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6012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F3AE24-56B8-1182-8B1D-A23C87BF8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902E1321-7CED-9D73-F736-2BD46DCB4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D3655-A287-4928-9B6D-2D3C4B7E065A}" type="datetime1">
              <a:rPr lang="en-GB" smtClean="0"/>
              <a:t>16/10/2026</a:t>
            </a:fld>
            <a:endParaRPr lang="en-GB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7B4A57B-D26F-D0BC-CB08-21257AAFF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Oefenzittingen Analyse I - Jasper Visterin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A3E55BCD-5E0C-FB0E-3C90-9AF84486E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DB0B4-B73C-44EB-91F1-D36441C002F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8908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B6545E8-4A85-FC9B-AFB7-36B4056F2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1632D-3A88-47B9-A16F-E291C24B1C5E}" type="datetime1">
              <a:rPr lang="en-GB" smtClean="0"/>
              <a:t>16/10/2026</a:t>
            </a:fld>
            <a:endParaRPr lang="en-GB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206AF11C-492B-60A8-B470-3367192CF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Oefenzittingen Analyse I - Jasper Visterin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02A949F-3933-16EF-5C60-9FB40A662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DB0B4-B73C-44EB-91F1-D36441C002F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0968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3569B6-E185-1E80-1977-01CF573FE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18474C9-18A1-82FB-FADE-5B336F1752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52481C76-492E-933C-A11B-DC85288481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8F0F67F6-E436-6818-8496-E74CFABB3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7C4E3-FC13-447D-BFFD-3EB52172AE0C}" type="datetime1">
              <a:rPr lang="en-GB" smtClean="0"/>
              <a:t>16/10/2026</a:t>
            </a:fld>
            <a:endParaRPr lang="en-GB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C8CD665F-38BF-3249-70F4-250EDF3EB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Oefenzittingen Analyse I - Jasper Visterin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0C2C4E7B-5F9F-9F15-79D8-E882F4FC5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DB0B4-B73C-44EB-91F1-D36441C002F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6282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C6AE8A-5A3B-261F-ECBB-0FB72D5C0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67581087-386B-C30C-44EC-862C051262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C1E784C9-0EB1-A525-13D4-7C4E9FA60C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209CE08-F4D7-58C3-38C3-B28B4C095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F68FA-10C6-4308-B7C0-0F3B9905DE4D}" type="datetime1">
              <a:rPr lang="en-GB" smtClean="0"/>
              <a:t>16/10/2026</a:t>
            </a:fld>
            <a:endParaRPr lang="en-GB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1A736BA0-4F36-955C-C80F-23415B9B3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Oefenzittingen Analyse I - Jasper Visterin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8794DA5F-D499-221E-6617-724B53F78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DB0B4-B73C-44EB-91F1-D36441C002F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3351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48A47C-DFE9-49B9-6FCA-DF0B32E76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0B5DE84E-A873-CD1A-8316-2193D5B663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C6EDFF2-AC31-D18D-E9EF-4E50F5116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7ABA9-3187-4F94-9E43-E47998E2C2F9}" type="datetime1">
              <a:rPr lang="en-GB" smtClean="0"/>
              <a:t>16/10/2026</a:t>
            </a:fld>
            <a:endParaRPr lang="en-GB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D46CD82-5FAE-7CDF-31BF-93A7F5C8F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Oefenzittingen Analyse I - Jasper Visterin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01BCB54-D099-8963-8C87-1A6715AD4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DB0B4-B73C-44EB-91F1-D36441C002F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858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BAE33AA3-88AA-C411-DF62-BE4C0FC343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6DB59623-BB2B-B2C5-3972-0E238BBAB9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E4607A2-7B1C-EE2C-69F6-988F32F42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A7696-CD5D-4C30-AE0C-32A8B2D91E24}" type="datetime1">
              <a:rPr lang="en-GB" smtClean="0"/>
              <a:t>16/10/2026</a:t>
            </a:fld>
            <a:endParaRPr lang="en-GB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85DB4AF-F81D-4907-4381-DD05718A2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Oefenzittingen Analyse I - Jasper Visterin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1D0EBFD-1619-4FE0-61CB-A6F986DF9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DB0B4-B73C-44EB-91F1-D36441C002F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1766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8E26FED3-DDFD-0273-BEE4-E5F6A14EB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652292E-8EC1-F32C-DBA4-B7F0744026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997F88B-62F1-CA78-67C7-B7DE7AFCD1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B58445-39AE-464F-8B62-9CC5F788F97C}" type="datetime1">
              <a:rPr lang="en-GB" smtClean="0"/>
              <a:t>16/10/2026</a:t>
            </a:fld>
            <a:endParaRPr lang="en-GB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D454419-0519-62EB-2588-09336173E6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Oefenzittingen Analyse I - Jasper Visterin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1DEDDB0-5791-F53B-B639-8C9416E0FD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6DB0B4-B73C-44EB-91F1-D36441C002F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3509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280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0.png"/><Relationship Id="rId5" Type="http://schemas.openxmlformats.org/officeDocument/2006/relationships/image" Target="../media/image260.png"/><Relationship Id="rId4" Type="http://schemas.openxmlformats.org/officeDocument/2006/relationships/image" Target="../media/image25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46EDDA-160F-ACC8-BAA8-BE329F21F3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Analyse I, </a:t>
            </a:r>
            <a:r>
              <a:rPr lang="en-GB" dirty="0" err="1"/>
              <a:t>Oefenzitting</a:t>
            </a:r>
            <a:r>
              <a:rPr lang="en-GB" dirty="0"/>
              <a:t> 2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BAC92F39-0B86-45D7-CF47-7DB5F5D0CB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Jasper.Visterin@kuleuven.be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721D3770-7780-F5DA-8D2E-87F86CEC9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 err="1"/>
              <a:t>Oefenzittingen</a:t>
            </a:r>
            <a:r>
              <a:rPr lang="en-GB" dirty="0"/>
              <a:t> Analyse I - Jasper Visterin</a:t>
            </a:r>
          </a:p>
        </p:txBody>
      </p:sp>
    </p:spTree>
    <p:extLst>
      <p:ext uri="{BB962C8B-B14F-4D97-AF65-F5344CB8AC3E}">
        <p14:creationId xmlns:p14="http://schemas.microsoft.com/office/powerpoint/2010/main" val="2146910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93D3788B-7CA5-BD3C-CDEE-F6E814EB19E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GB" dirty="0" err="1"/>
                  <a:t>Krommen</a:t>
                </a:r>
                <a:r>
                  <a:rPr lang="en-GB" dirty="0"/>
                  <a:t>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GB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93D3788B-7CA5-BD3C-CDEE-F6E814EB19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ijdelijke aanduiding voor inhoud 41">
                <a:extLst>
                  <a:ext uri="{FF2B5EF4-FFF2-40B4-BE49-F238E27FC236}">
                    <a16:creationId xmlns:a16="http://schemas.microsoft.com/office/drawing/2014/main" id="{F1C1F532-CDA9-7976-7358-BBAA7C3D36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nl-BE" dirty="0"/>
                  <a:t>Expliciet</a:t>
                </a:r>
              </a:p>
              <a:p>
                <a14:m>
                  <m:oMath xmlns:m="http://schemas.openxmlformats.org/officeDocument/2006/math">
                    <m:r>
                      <a:rPr lang="nl-BE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nl-BE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nl-BE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GB" dirty="0"/>
              </a:p>
              <a:p>
                <a:endParaRPr lang="en-GB" dirty="0"/>
              </a:p>
              <a:p>
                <a:r>
                  <a:rPr lang="nl-BE" dirty="0"/>
                  <a:t>Rechte: </a:t>
                </a:r>
                <a14:m>
                  <m:oMath xmlns:m="http://schemas.openxmlformats.org/officeDocument/2006/math">
                    <m:r>
                      <a:rPr lang="nl-BE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nl-BE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nl-BE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nl-BE" i="1" dirty="0">
                  <a:latin typeface="Cambria Math" panose="02040503050406030204" pitchFamily="18" charset="0"/>
                </a:endParaRPr>
              </a:p>
              <a:p>
                <a:r>
                  <a:rPr lang="nl-BE" dirty="0"/>
                  <a:t>Parabool: </a:t>
                </a:r>
                <a14:m>
                  <m:oMath xmlns:m="http://schemas.openxmlformats.org/officeDocument/2006/math">
                    <m:r>
                      <a:rPr lang="nl-BE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nl-BE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nl-BE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dirty="0"/>
              </a:p>
              <a:p>
                <a:endParaRPr lang="nl-BE" dirty="0"/>
              </a:p>
            </p:txBody>
          </p:sp>
        </mc:Choice>
        <mc:Fallback xmlns="">
          <p:sp>
            <p:nvSpPr>
              <p:cNvPr id="42" name="Tijdelijke aanduiding voor inhoud 41">
                <a:extLst>
                  <a:ext uri="{FF2B5EF4-FFF2-40B4-BE49-F238E27FC236}">
                    <a16:creationId xmlns:a16="http://schemas.microsoft.com/office/drawing/2014/main" id="{F1C1F532-CDA9-7976-7358-BBAA7C3D36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A7F44DA7-B988-0488-3D63-57B8D60D2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Oefenzittingen Analyse I - Jasper Visterin</a:t>
            </a:r>
          </a:p>
        </p:txBody>
      </p:sp>
      <p:cxnSp>
        <p:nvCxnSpPr>
          <p:cNvPr id="9" name="Rechte verbindingslijn met pijl 8">
            <a:extLst>
              <a:ext uri="{FF2B5EF4-FFF2-40B4-BE49-F238E27FC236}">
                <a16:creationId xmlns:a16="http://schemas.microsoft.com/office/drawing/2014/main" id="{D5990353-0C99-6728-3251-C0ED9E60401B}"/>
              </a:ext>
            </a:extLst>
          </p:cNvPr>
          <p:cNvCxnSpPr>
            <a:cxnSpLocks/>
          </p:cNvCxnSpPr>
          <p:nvPr/>
        </p:nvCxnSpPr>
        <p:spPr>
          <a:xfrm flipV="1">
            <a:off x="8258175" y="1464953"/>
            <a:ext cx="0" cy="32403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Rechte verbindingslijn met pijl 10">
            <a:extLst>
              <a:ext uri="{FF2B5EF4-FFF2-40B4-BE49-F238E27FC236}">
                <a16:creationId xmlns:a16="http://schemas.microsoft.com/office/drawing/2014/main" id="{0F6231E6-07FB-C795-E240-6F72E2AC74A1}"/>
              </a:ext>
            </a:extLst>
          </p:cNvPr>
          <p:cNvCxnSpPr>
            <a:cxnSpLocks/>
          </p:cNvCxnSpPr>
          <p:nvPr/>
        </p:nvCxnSpPr>
        <p:spPr>
          <a:xfrm>
            <a:off x="6172200" y="3293753"/>
            <a:ext cx="40957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rije vorm: vorm 11">
            <a:extLst>
              <a:ext uri="{FF2B5EF4-FFF2-40B4-BE49-F238E27FC236}">
                <a16:creationId xmlns:a16="http://schemas.microsoft.com/office/drawing/2014/main" id="{A854E63A-AACD-FCD9-D27E-E42BDB7F5A32}"/>
              </a:ext>
            </a:extLst>
          </p:cNvPr>
          <p:cNvSpPr/>
          <p:nvPr/>
        </p:nvSpPr>
        <p:spPr>
          <a:xfrm>
            <a:off x="7391400" y="2084078"/>
            <a:ext cx="1714500" cy="1209832"/>
          </a:xfrm>
          <a:custGeom>
            <a:avLst/>
            <a:gdLst>
              <a:gd name="csX0" fmla="*/ 0 w 1714500"/>
              <a:gd name="csY0" fmla="*/ 0 h 1209832"/>
              <a:gd name="csX1" fmla="*/ 857250 w 1714500"/>
              <a:gd name="csY1" fmla="*/ 1209675 h 1209832"/>
              <a:gd name="csX2" fmla="*/ 1714500 w 1714500"/>
              <a:gd name="csY2" fmla="*/ 66675 h 12098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14500" h="1209832">
                <a:moveTo>
                  <a:pt x="0" y="0"/>
                </a:moveTo>
                <a:cubicBezTo>
                  <a:pt x="285750" y="599281"/>
                  <a:pt x="571500" y="1198563"/>
                  <a:pt x="857250" y="1209675"/>
                </a:cubicBezTo>
                <a:cubicBezTo>
                  <a:pt x="1143000" y="1220787"/>
                  <a:pt x="1428750" y="643731"/>
                  <a:pt x="1714500" y="6667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kstvak 12">
                <a:extLst>
                  <a:ext uri="{FF2B5EF4-FFF2-40B4-BE49-F238E27FC236}">
                    <a16:creationId xmlns:a16="http://schemas.microsoft.com/office/drawing/2014/main" id="{1F1A680C-C226-0F0D-1E61-CD7C20AD6EE9}"/>
                  </a:ext>
                </a:extLst>
              </p:cNvPr>
              <p:cNvSpPr txBox="1"/>
              <p:nvPr/>
            </p:nvSpPr>
            <p:spPr>
              <a:xfrm>
                <a:off x="7973094" y="1390408"/>
                <a:ext cx="1803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nl-BE" dirty="0"/>
              </a:p>
            </p:txBody>
          </p:sp>
        </mc:Choice>
        <mc:Fallback xmlns="">
          <p:sp>
            <p:nvSpPr>
              <p:cNvPr id="13" name="Tekstvak 12">
                <a:extLst>
                  <a:ext uri="{FF2B5EF4-FFF2-40B4-BE49-F238E27FC236}">
                    <a16:creationId xmlns:a16="http://schemas.microsoft.com/office/drawing/2014/main" id="{1F1A680C-C226-0F0D-1E61-CD7C20AD6E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3094" y="1390408"/>
                <a:ext cx="180306" cy="276999"/>
              </a:xfrm>
              <a:prstGeom prst="rect">
                <a:avLst/>
              </a:prstGeom>
              <a:blipFill>
                <a:blip r:embed="rId4"/>
                <a:stretch>
                  <a:fillRect l="-33333" r="-30000" b="-23913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kstvak 14">
                <a:extLst>
                  <a:ext uri="{FF2B5EF4-FFF2-40B4-BE49-F238E27FC236}">
                    <a16:creationId xmlns:a16="http://schemas.microsoft.com/office/drawing/2014/main" id="{399EC91C-8448-669F-FEAA-CAF54EB78E87}"/>
                  </a:ext>
                </a:extLst>
              </p:cNvPr>
              <p:cNvSpPr txBox="1"/>
              <p:nvPr/>
            </p:nvSpPr>
            <p:spPr>
              <a:xfrm>
                <a:off x="10002253" y="3370664"/>
                <a:ext cx="1803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nl-BE" dirty="0"/>
              </a:p>
            </p:txBody>
          </p:sp>
        </mc:Choice>
        <mc:Fallback xmlns="">
          <p:sp>
            <p:nvSpPr>
              <p:cNvPr id="15" name="Tekstvak 14">
                <a:extLst>
                  <a:ext uri="{FF2B5EF4-FFF2-40B4-BE49-F238E27FC236}">
                    <a16:creationId xmlns:a16="http://schemas.microsoft.com/office/drawing/2014/main" id="{399EC91C-8448-669F-FEAA-CAF54EB78E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2253" y="3370664"/>
                <a:ext cx="180306" cy="276999"/>
              </a:xfrm>
              <a:prstGeom prst="rect">
                <a:avLst/>
              </a:prstGeom>
              <a:blipFill>
                <a:blip r:embed="rId5"/>
                <a:stretch>
                  <a:fillRect l="-20690" r="-17241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Rechte verbindingslijn 16">
            <a:extLst>
              <a:ext uri="{FF2B5EF4-FFF2-40B4-BE49-F238E27FC236}">
                <a16:creationId xmlns:a16="http://schemas.microsoft.com/office/drawing/2014/main" id="{BA3CB753-1942-3305-F42D-1B0844BF2BF5}"/>
              </a:ext>
            </a:extLst>
          </p:cNvPr>
          <p:cNvCxnSpPr>
            <a:cxnSpLocks/>
          </p:cNvCxnSpPr>
          <p:nvPr/>
        </p:nvCxnSpPr>
        <p:spPr>
          <a:xfrm flipV="1">
            <a:off x="7200900" y="2236865"/>
            <a:ext cx="2400300" cy="18426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6209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build="p"/>
      <p:bldP spid="12" grpId="0" animBg="1"/>
      <p:bldP spid="13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040D2-E405-9B38-D9BF-BE65D7931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FD6E4DDB-0B86-4292-23D0-37D94C94CFC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GB" dirty="0" err="1"/>
                  <a:t>Krommen</a:t>
                </a:r>
                <a:r>
                  <a:rPr lang="en-GB" dirty="0"/>
                  <a:t>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GB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FD6E4DDB-0B86-4292-23D0-37D94C94CF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ijdelijke aanduiding voor inhoud 41">
                <a:extLst>
                  <a:ext uri="{FF2B5EF4-FFF2-40B4-BE49-F238E27FC236}">
                    <a16:creationId xmlns:a16="http://schemas.microsoft.com/office/drawing/2014/main" id="{1B9A9528-49E9-8A52-9C2F-F06E483EC6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nl-BE" dirty="0"/>
                  <a:t>Impliciet</a:t>
                </a:r>
              </a:p>
              <a:p>
                <a14:m>
                  <m:oMath xmlns:m="http://schemas.openxmlformats.org/officeDocument/2006/math">
                    <m:r>
                      <a:rPr lang="nl-BE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nl-BE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nl-BE" dirty="0"/>
              </a:p>
              <a:p>
                <a:endParaRPr lang="en-GB" dirty="0"/>
              </a:p>
              <a:p>
                <a:r>
                  <a:rPr lang="en-GB" dirty="0"/>
                  <a:t>Cirkel: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nl-BE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nl-BE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nl-BE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nl-BE" i="1">
                        <a:latin typeface="Cambria Math" panose="02040503050406030204" pitchFamily="18" charset="0"/>
                      </a:rPr>
                      <m:t>−1=0</m:t>
                    </m:r>
                  </m:oMath>
                </a14:m>
                <a:endParaRPr lang="nl-BE" i="1" dirty="0">
                  <a:latin typeface="Cambria Math" panose="02040503050406030204" pitchFamily="18" charset="0"/>
                </a:endParaRPr>
              </a:p>
              <a:p>
                <a:r>
                  <a:rPr lang="nl-BE" dirty="0"/>
                  <a:t>Rechte: </a:t>
                </a:r>
                <a14:m>
                  <m:oMath xmlns:m="http://schemas.openxmlformats.org/officeDocument/2006/math">
                    <m:r>
                      <a:rPr lang="nl-BE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nl-BE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nl-BE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GB" dirty="0"/>
              </a:p>
              <a:p>
                <a:endParaRPr lang="nl-BE" dirty="0"/>
              </a:p>
            </p:txBody>
          </p:sp>
        </mc:Choice>
        <mc:Fallback xmlns="">
          <p:sp>
            <p:nvSpPr>
              <p:cNvPr id="16" name="Tijdelijke aanduiding voor inhoud 41">
                <a:extLst>
                  <a:ext uri="{FF2B5EF4-FFF2-40B4-BE49-F238E27FC236}">
                    <a16:creationId xmlns:a16="http://schemas.microsoft.com/office/drawing/2014/main" id="{1B9A9528-49E9-8A52-9C2F-F06E483EC6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91912D56-AFE3-E870-2E6D-34D57433A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Oefenzittingen Analyse I - Jasper Visterin</a:t>
            </a:r>
          </a:p>
        </p:txBody>
      </p:sp>
      <p:cxnSp>
        <p:nvCxnSpPr>
          <p:cNvPr id="19" name="Rechte verbindingslijn met pijl 18">
            <a:extLst>
              <a:ext uri="{FF2B5EF4-FFF2-40B4-BE49-F238E27FC236}">
                <a16:creationId xmlns:a16="http://schemas.microsoft.com/office/drawing/2014/main" id="{F84E4A6C-F13B-5D5E-BA1F-196EFB61679F}"/>
              </a:ext>
            </a:extLst>
          </p:cNvPr>
          <p:cNvCxnSpPr>
            <a:cxnSpLocks/>
          </p:cNvCxnSpPr>
          <p:nvPr/>
        </p:nvCxnSpPr>
        <p:spPr>
          <a:xfrm flipV="1">
            <a:off x="8543926" y="1804394"/>
            <a:ext cx="0" cy="22056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Rechte verbindingslijn met pijl 19">
            <a:extLst>
              <a:ext uri="{FF2B5EF4-FFF2-40B4-BE49-F238E27FC236}">
                <a16:creationId xmlns:a16="http://schemas.microsoft.com/office/drawing/2014/main" id="{7A88510E-60D4-D8F1-3810-A69787C277A9}"/>
              </a:ext>
            </a:extLst>
          </p:cNvPr>
          <p:cNvCxnSpPr>
            <a:cxnSpLocks/>
          </p:cNvCxnSpPr>
          <p:nvPr/>
        </p:nvCxnSpPr>
        <p:spPr>
          <a:xfrm>
            <a:off x="7296150" y="3020160"/>
            <a:ext cx="2667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kstvak 21">
                <a:extLst>
                  <a:ext uri="{FF2B5EF4-FFF2-40B4-BE49-F238E27FC236}">
                    <a16:creationId xmlns:a16="http://schemas.microsoft.com/office/drawing/2014/main" id="{DC231D58-9E65-B543-81F8-9F8F81A357F6}"/>
                  </a:ext>
                </a:extLst>
              </p:cNvPr>
              <p:cNvSpPr txBox="1"/>
              <p:nvPr/>
            </p:nvSpPr>
            <p:spPr>
              <a:xfrm>
                <a:off x="8210206" y="1760135"/>
                <a:ext cx="1803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nl-BE" dirty="0"/>
              </a:p>
            </p:txBody>
          </p:sp>
        </mc:Choice>
        <mc:Fallback xmlns="">
          <p:sp>
            <p:nvSpPr>
              <p:cNvPr id="22" name="Tekstvak 21">
                <a:extLst>
                  <a:ext uri="{FF2B5EF4-FFF2-40B4-BE49-F238E27FC236}">
                    <a16:creationId xmlns:a16="http://schemas.microsoft.com/office/drawing/2014/main" id="{DC231D58-9E65-B543-81F8-9F8F81A357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0206" y="1760135"/>
                <a:ext cx="180306" cy="276999"/>
              </a:xfrm>
              <a:prstGeom prst="rect">
                <a:avLst/>
              </a:prstGeom>
              <a:blipFill>
                <a:blip r:embed="rId4"/>
                <a:stretch>
                  <a:fillRect l="-34483" r="-34483" b="-26667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kstvak 22">
                <a:extLst>
                  <a:ext uri="{FF2B5EF4-FFF2-40B4-BE49-F238E27FC236}">
                    <a16:creationId xmlns:a16="http://schemas.microsoft.com/office/drawing/2014/main" id="{95F77BE2-0718-7D20-B229-D35BD47561DD}"/>
                  </a:ext>
                </a:extLst>
              </p:cNvPr>
              <p:cNvSpPr txBox="1"/>
              <p:nvPr/>
            </p:nvSpPr>
            <p:spPr>
              <a:xfrm>
                <a:off x="9634873" y="3020160"/>
                <a:ext cx="1803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nl-BE" dirty="0"/>
              </a:p>
            </p:txBody>
          </p:sp>
        </mc:Choice>
        <mc:Fallback xmlns="">
          <p:sp>
            <p:nvSpPr>
              <p:cNvPr id="23" name="Tekstvak 22">
                <a:extLst>
                  <a:ext uri="{FF2B5EF4-FFF2-40B4-BE49-F238E27FC236}">
                    <a16:creationId xmlns:a16="http://schemas.microsoft.com/office/drawing/2014/main" id="{95F77BE2-0718-7D20-B229-D35BD47561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4873" y="3020160"/>
                <a:ext cx="180306" cy="276999"/>
              </a:xfrm>
              <a:prstGeom prst="rect">
                <a:avLst/>
              </a:prstGeom>
              <a:blipFill>
                <a:blip r:embed="rId5"/>
                <a:stretch>
                  <a:fillRect l="-20690" r="-17241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Rechte verbindingslijn 23">
            <a:extLst>
              <a:ext uri="{FF2B5EF4-FFF2-40B4-BE49-F238E27FC236}">
                <a16:creationId xmlns:a16="http://schemas.microsoft.com/office/drawing/2014/main" id="{E347DDFF-0B7E-04EC-B6C3-1392BC346F76}"/>
              </a:ext>
            </a:extLst>
          </p:cNvPr>
          <p:cNvCxnSpPr>
            <a:cxnSpLocks/>
          </p:cNvCxnSpPr>
          <p:nvPr/>
        </p:nvCxnSpPr>
        <p:spPr>
          <a:xfrm flipV="1">
            <a:off x="7296150" y="1963272"/>
            <a:ext cx="2590801" cy="20467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al 24">
            <a:extLst>
              <a:ext uri="{FF2B5EF4-FFF2-40B4-BE49-F238E27FC236}">
                <a16:creationId xmlns:a16="http://schemas.microsoft.com/office/drawing/2014/main" id="{5B22AF77-0C60-B3A7-1578-8B2F45FA9C70}"/>
              </a:ext>
            </a:extLst>
          </p:cNvPr>
          <p:cNvSpPr/>
          <p:nvPr/>
        </p:nvSpPr>
        <p:spPr>
          <a:xfrm>
            <a:off x="8086726" y="2526369"/>
            <a:ext cx="914400" cy="914400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921075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uiExpand="1" build="p"/>
      <p:bldP spid="22" grpId="0"/>
      <p:bldP spid="23" grpId="0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5655E-D49F-62C4-E79E-1F99618EF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5DA685F8-F981-1788-0630-37C8D8F89BF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GB" dirty="0" err="1"/>
                  <a:t>Krommen</a:t>
                </a:r>
                <a:r>
                  <a:rPr lang="en-GB" dirty="0"/>
                  <a:t>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GB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5DA685F8-F981-1788-0630-37C8D8F89B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jdelijke aanduiding voor inhoud 7">
                <a:extLst>
                  <a:ext uri="{FF2B5EF4-FFF2-40B4-BE49-F238E27FC236}">
                    <a16:creationId xmlns:a16="http://schemas.microsoft.com/office/drawing/2014/main" id="{3EE6D198-F8AB-629A-C490-E42A875BB8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95424"/>
                <a:ext cx="10515600" cy="4860925"/>
              </a:xfrm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defRPr/>
                </a:pPr>
                <a:r>
                  <a:rPr lang="nl-BE" dirty="0"/>
                  <a:t>Parametervorm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defRPr/>
                </a:pPr>
                <a14:m>
                  <m:oMath xmlns:m="http://schemas.openxmlformats.org/officeDocument/2006/math">
                    <m:d>
                      <m:d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nl-BE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nl-B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nl-B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nl-BE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nl-B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nl-B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nl-BE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nl-BE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en-GB" dirty="0"/>
              </a:p>
              <a:p>
                <a:endParaRPr lang="en-GB" dirty="0"/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GB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func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unc>
                          <m:funcPr>
                            <m:ctrlPr>
                              <a:rPr lang="en-GB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func>
                      </m:e>
                    </m:d>
                  </m:oMath>
                </a14:m>
                <a:endParaRPr lang="en-GB" dirty="0"/>
              </a:p>
              <a:p>
                <a:r>
                  <a:rPr lang="en-GB" dirty="0" err="1"/>
                  <a:t>Functie</a:t>
                </a:r>
                <a:r>
                  <a:rPr lang="en-GB" dirty="0"/>
                  <a:t>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nl-BE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nl-B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</m:oMath>
                </a14:m>
                <a:endParaRPr lang="en-GB" dirty="0"/>
              </a:p>
              <a:p>
                <a:r>
                  <a:rPr lang="en-GB" dirty="0" err="1"/>
                  <a:t>Parabool</a:t>
                </a:r>
                <a:r>
                  <a:rPr lang="en-GB" dirty="0"/>
                  <a:t>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nl-BE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nl-B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nl-BE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nl-BE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en-GB" dirty="0"/>
              </a:p>
              <a:p>
                <a:endParaRPr lang="nl-BE" dirty="0"/>
              </a:p>
              <a:p>
                <a:r>
                  <a:rPr lang="nl-BE" dirty="0"/>
                  <a:t>Parametervorm is niet uniek!</a:t>
                </a:r>
              </a:p>
              <a:p>
                <a:r>
                  <a:rPr lang="en-GB" dirty="0" err="1"/>
                  <a:t>Zie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GB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func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func>
                          <m:funcPr>
                            <m:ctrlPr>
                              <a:rPr lang="en-GB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func>
                      </m:e>
                    </m:d>
                  </m:oMath>
                </a14:m>
                <a:endParaRPr lang="nl-BE" dirty="0"/>
              </a:p>
            </p:txBody>
          </p:sp>
        </mc:Choice>
        <mc:Fallback xmlns="">
          <p:sp>
            <p:nvSpPr>
              <p:cNvPr id="8" name="Tijdelijke aanduiding voor inhoud 7">
                <a:extLst>
                  <a:ext uri="{FF2B5EF4-FFF2-40B4-BE49-F238E27FC236}">
                    <a16:creationId xmlns:a16="http://schemas.microsoft.com/office/drawing/2014/main" id="{3EE6D198-F8AB-629A-C490-E42A875BB8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95424"/>
                <a:ext cx="10515600" cy="4860925"/>
              </a:xfrm>
              <a:blipFill>
                <a:blip r:embed="rId3"/>
                <a:stretch>
                  <a:fillRect l="-1043" t="-1253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70335E54-9CEB-49F8-C3F8-76A49063E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Oefenzittingen Analyse I - Jasper Visterin</a:t>
            </a:r>
          </a:p>
        </p:txBody>
      </p:sp>
      <p:cxnSp>
        <p:nvCxnSpPr>
          <p:cNvPr id="26" name="Rechte verbindingslijn met pijl 25">
            <a:extLst>
              <a:ext uri="{FF2B5EF4-FFF2-40B4-BE49-F238E27FC236}">
                <a16:creationId xmlns:a16="http://schemas.microsoft.com/office/drawing/2014/main" id="{377AEE5A-2A14-243B-2A6B-14DE68324526}"/>
              </a:ext>
            </a:extLst>
          </p:cNvPr>
          <p:cNvCxnSpPr>
            <a:cxnSpLocks/>
          </p:cNvCxnSpPr>
          <p:nvPr/>
        </p:nvCxnSpPr>
        <p:spPr>
          <a:xfrm flipV="1">
            <a:off x="8867772" y="1855865"/>
            <a:ext cx="0" cy="32971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echte verbindingslijn met pijl 26">
            <a:extLst>
              <a:ext uri="{FF2B5EF4-FFF2-40B4-BE49-F238E27FC236}">
                <a16:creationId xmlns:a16="http://schemas.microsoft.com/office/drawing/2014/main" id="{028693E7-B427-CEF0-AF23-54748EF76855}"/>
              </a:ext>
            </a:extLst>
          </p:cNvPr>
          <p:cNvCxnSpPr>
            <a:cxnSpLocks/>
          </p:cNvCxnSpPr>
          <p:nvPr/>
        </p:nvCxnSpPr>
        <p:spPr>
          <a:xfrm>
            <a:off x="6572250" y="3684665"/>
            <a:ext cx="42735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Vrije vorm: vorm 27">
            <a:extLst>
              <a:ext uri="{FF2B5EF4-FFF2-40B4-BE49-F238E27FC236}">
                <a16:creationId xmlns:a16="http://schemas.microsoft.com/office/drawing/2014/main" id="{12EC9A69-0E76-DB81-F4C1-E195B4E6C2EE}"/>
              </a:ext>
            </a:extLst>
          </p:cNvPr>
          <p:cNvSpPr/>
          <p:nvPr/>
        </p:nvSpPr>
        <p:spPr>
          <a:xfrm>
            <a:off x="8000997" y="2474990"/>
            <a:ext cx="1714500" cy="1209832"/>
          </a:xfrm>
          <a:custGeom>
            <a:avLst/>
            <a:gdLst>
              <a:gd name="csX0" fmla="*/ 0 w 1714500"/>
              <a:gd name="csY0" fmla="*/ 0 h 1209832"/>
              <a:gd name="csX1" fmla="*/ 857250 w 1714500"/>
              <a:gd name="csY1" fmla="*/ 1209675 h 1209832"/>
              <a:gd name="csX2" fmla="*/ 1714500 w 1714500"/>
              <a:gd name="csY2" fmla="*/ 66675 h 12098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14500" h="1209832">
                <a:moveTo>
                  <a:pt x="0" y="0"/>
                </a:moveTo>
                <a:cubicBezTo>
                  <a:pt x="285750" y="599281"/>
                  <a:pt x="571500" y="1198563"/>
                  <a:pt x="857250" y="1209675"/>
                </a:cubicBezTo>
                <a:cubicBezTo>
                  <a:pt x="1143000" y="1220787"/>
                  <a:pt x="1428750" y="643731"/>
                  <a:pt x="1714500" y="6667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kstvak 28">
                <a:extLst>
                  <a:ext uri="{FF2B5EF4-FFF2-40B4-BE49-F238E27FC236}">
                    <a16:creationId xmlns:a16="http://schemas.microsoft.com/office/drawing/2014/main" id="{541BA4C5-22A2-3F77-16C8-AD7ADB7392CE}"/>
                  </a:ext>
                </a:extLst>
              </p:cNvPr>
              <p:cNvSpPr txBox="1"/>
              <p:nvPr/>
            </p:nvSpPr>
            <p:spPr>
              <a:xfrm>
                <a:off x="8562972" y="1731653"/>
                <a:ext cx="1803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nl-BE" dirty="0"/>
              </a:p>
            </p:txBody>
          </p:sp>
        </mc:Choice>
        <mc:Fallback xmlns="">
          <p:sp>
            <p:nvSpPr>
              <p:cNvPr id="29" name="Tekstvak 28">
                <a:extLst>
                  <a:ext uri="{FF2B5EF4-FFF2-40B4-BE49-F238E27FC236}">
                    <a16:creationId xmlns:a16="http://schemas.microsoft.com/office/drawing/2014/main" id="{541BA4C5-22A2-3F77-16C8-AD7ADB7392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2972" y="1731653"/>
                <a:ext cx="180306" cy="276999"/>
              </a:xfrm>
              <a:prstGeom prst="rect">
                <a:avLst/>
              </a:prstGeom>
              <a:blipFill>
                <a:blip r:embed="rId4"/>
                <a:stretch>
                  <a:fillRect l="-34483" r="-34483" b="-23913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kstvak 29">
                <a:extLst>
                  <a:ext uri="{FF2B5EF4-FFF2-40B4-BE49-F238E27FC236}">
                    <a16:creationId xmlns:a16="http://schemas.microsoft.com/office/drawing/2014/main" id="{7209F34C-2307-DF38-394F-9B32DD59D24D}"/>
                  </a:ext>
                </a:extLst>
              </p:cNvPr>
              <p:cNvSpPr txBox="1"/>
              <p:nvPr/>
            </p:nvSpPr>
            <p:spPr>
              <a:xfrm>
                <a:off x="10812901" y="3684879"/>
                <a:ext cx="1803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nl-BE" dirty="0"/>
              </a:p>
            </p:txBody>
          </p:sp>
        </mc:Choice>
        <mc:Fallback xmlns="">
          <p:sp>
            <p:nvSpPr>
              <p:cNvPr id="30" name="Tekstvak 29">
                <a:extLst>
                  <a:ext uri="{FF2B5EF4-FFF2-40B4-BE49-F238E27FC236}">
                    <a16:creationId xmlns:a16="http://schemas.microsoft.com/office/drawing/2014/main" id="{7209F34C-2307-DF38-394F-9B32DD59D2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2901" y="3684879"/>
                <a:ext cx="180306" cy="276999"/>
              </a:xfrm>
              <a:prstGeom prst="rect">
                <a:avLst/>
              </a:prstGeom>
              <a:blipFill>
                <a:blip r:embed="rId5"/>
                <a:stretch>
                  <a:fillRect l="-20690" r="-17241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vaal 9">
            <a:extLst>
              <a:ext uri="{FF2B5EF4-FFF2-40B4-BE49-F238E27FC236}">
                <a16:creationId xmlns:a16="http://schemas.microsoft.com/office/drawing/2014/main" id="{BFC05898-2952-0ACD-D94D-1EB2BA88ADA7}"/>
              </a:ext>
            </a:extLst>
          </p:cNvPr>
          <p:cNvSpPr/>
          <p:nvPr/>
        </p:nvSpPr>
        <p:spPr>
          <a:xfrm>
            <a:off x="8401047" y="3211435"/>
            <a:ext cx="914400" cy="914400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8099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28" grpId="0" animBg="1"/>
      <p:bldP spid="29" grpId="0"/>
      <p:bldP spid="30" grpId="0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8EBA960-4A85-70B4-F45A-FED16ECC8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Oefenzittingen Analyse I - Jasper Visterin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ijdelijke aanduiding voor inhoud 3">
                <a:extLst>
                  <a:ext uri="{FF2B5EF4-FFF2-40B4-BE49-F238E27FC236}">
                    <a16:creationId xmlns:a16="http://schemas.microsoft.com/office/drawing/2014/main" id="{423AA4C7-CB4E-5489-62A3-7ED7C5A51CB9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743935064"/>
                  </p:ext>
                </p:extLst>
              </p:nvPr>
            </p:nvGraphicFramePr>
            <p:xfrm>
              <a:off x="215899" y="2174240"/>
              <a:ext cx="11760201" cy="236283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79868">
                      <a:extLst>
                        <a:ext uri="{9D8B030D-6E8A-4147-A177-3AD203B41FA5}">
                          <a16:colId xmlns:a16="http://schemas.microsoft.com/office/drawing/2014/main" val="1428409758"/>
                        </a:ext>
                      </a:extLst>
                    </a:gridCol>
                    <a:gridCol w="3100333">
                      <a:extLst>
                        <a:ext uri="{9D8B030D-6E8A-4147-A177-3AD203B41FA5}">
                          <a16:colId xmlns:a16="http://schemas.microsoft.com/office/drawing/2014/main" val="4203753842"/>
                        </a:ext>
                      </a:extLst>
                    </a:gridCol>
                    <a:gridCol w="5080000">
                      <a:extLst>
                        <a:ext uri="{9D8B030D-6E8A-4147-A177-3AD203B41FA5}">
                          <a16:colId xmlns:a16="http://schemas.microsoft.com/office/drawing/2014/main" val="2062659668"/>
                        </a:ext>
                      </a:extLst>
                    </a:gridCol>
                  </a:tblGrid>
                  <a:tr h="539870">
                    <a:tc>
                      <a:txBody>
                        <a:bodyPr/>
                        <a:lstStyle/>
                        <a:p>
                          <a:r>
                            <a:rPr lang="en-GB" sz="2400" dirty="0" err="1"/>
                            <a:t>Expliciet</a:t>
                          </a:r>
                          <a:endParaRPr lang="en-GB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 err="1"/>
                            <a:t>Impliciet</a:t>
                          </a:r>
                          <a:endParaRPr lang="en-GB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 err="1"/>
                            <a:t>Parametervorm</a:t>
                          </a:r>
                          <a:endParaRPr lang="en-GB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5120533"/>
                      </a:ext>
                    </a:extLst>
                  </a:tr>
                  <a:tr h="182296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nl-BE" sz="24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nl-BE" sz="2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nl-BE" sz="24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d>
                                  <m:dPr>
                                    <m:ctrlPr>
                                      <a:rPr lang="nl-BE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nl-BE" sz="2400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GB" sz="2400" dirty="0"/>
                        </a:p>
                        <a:p>
                          <a:endParaRPr lang="en-GB" sz="2400" dirty="0"/>
                        </a:p>
                        <a:p>
                          <a:pPr marL="285750" indent="-285750">
                            <a:buFontTx/>
                            <a:buChar char="-"/>
                          </a:pPr>
                          <a:r>
                            <a:rPr lang="nl-BE" sz="2400" b="0" dirty="0"/>
                            <a:t>Cirkel: </a:t>
                          </a:r>
                          <a14:m>
                            <m:oMath xmlns:m="http://schemas.openxmlformats.org/officeDocument/2006/math">
                              <m: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  <m:t>=2</m:t>
                              </m:r>
                            </m:oMath>
                          </a14:m>
                          <a:endParaRPr lang="nl-BE" sz="24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285750" indent="-285750">
                            <a:buFontTx/>
                            <a:buChar char="-"/>
                          </a:pPr>
                          <a:r>
                            <a:rPr lang="nl-BE" sz="2400" dirty="0" err="1"/>
                            <a:t>Cardoïde</a:t>
                          </a:r>
                          <a:r>
                            <a:rPr lang="nl-BE" sz="2400" dirty="0"/>
                            <a:t> (</a:t>
                          </a:r>
                          <a:r>
                            <a:rPr lang="nl-BE" sz="2400" dirty="0" err="1"/>
                            <a:t>Fig</a:t>
                          </a:r>
                          <a:r>
                            <a:rPr lang="nl-BE" sz="2400" dirty="0"/>
                            <a:t> 2.18 HB)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nl-BE" sz="2400" b="0" i="1" smtClean="0"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  <m:d>
                                  <m:dPr>
                                    <m:ctrlPr>
                                      <a:rPr lang="nl-BE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nl-BE" sz="24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nl-BE" sz="2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nl-BE" sz="2400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  <m:r>
                                  <a:rPr lang="nl-BE" sz="2400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nl-BE" sz="2400" b="0" dirty="0"/>
                        </a:p>
                        <a:p>
                          <a:endParaRPr lang="nl-BE" sz="2400" b="0" dirty="0"/>
                        </a:p>
                        <a:p>
                          <a:pPr marL="342900" indent="-342900">
                            <a:buFontTx/>
                            <a:buChar char="-"/>
                          </a:pPr>
                          <a:r>
                            <a:rPr lang="nl-BE" sz="2400" b="0" dirty="0"/>
                            <a:t>Zie </a:t>
                          </a:r>
                          <a:r>
                            <a:rPr lang="nl-BE" sz="2400" b="0" dirty="0" err="1"/>
                            <a:t>Fig</a:t>
                          </a:r>
                          <a:r>
                            <a:rPr lang="nl-BE" sz="2400" b="0" dirty="0"/>
                            <a:t> 2.22 HB</a:t>
                          </a:r>
                        </a:p>
                        <a:p>
                          <a:pPr marL="342900" indent="-342900">
                            <a:buFontTx/>
                            <a:buChar char="-"/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oMath>
                          </a14:m>
                          <a:endParaRPr lang="nl-BE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nl-BE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nl-BE" sz="2400" b="0" i="1" smtClean="0">
                                          <a:latin typeface="Cambria Math" panose="02040503050406030204" pitchFamily="18" charset="0"/>
                                        </a:rPr>
                                        <m:t>𝛾</m:t>
                                      </m:r>
                                    </m:e>
                                    <m:sub>
                                      <m:r>
                                        <a:rPr lang="nl-BE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nl-BE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nl-BE" sz="24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nl-BE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nl-BE" sz="2400" b="0" i="1" smtClean="0">
                                          <a:latin typeface="Cambria Math" panose="02040503050406030204" pitchFamily="18" charset="0"/>
                                        </a:rPr>
                                        <m:t>𝛾</m:t>
                                      </m:r>
                                    </m:e>
                                    <m:sub>
                                      <m:r>
                                        <a:rPr lang="nl-BE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nl-BE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nl-BE" sz="24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</m:oMath>
                          </a14:m>
                          <a:r>
                            <a:rPr lang="en-GB" sz="2400" dirty="0"/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</m:oMath>
                          </a14:m>
                          <a:endParaRPr lang="en-GB" sz="2400" dirty="0"/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2400" dirty="0"/>
                        </a:p>
                        <a:p>
                          <a:pPr marL="342900" indent="-342900">
                            <a:buFontTx/>
                            <a:buChar char="-"/>
                          </a:pPr>
                          <a:r>
                            <a:rPr lang="nl-BE" sz="2400" b="0" dirty="0"/>
                            <a:t>Zie </a:t>
                          </a:r>
                          <a:r>
                            <a:rPr lang="nl-BE" sz="2400" b="0" dirty="0" err="1"/>
                            <a:t>Fig</a:t>
                          </a:r>
                          <a:r>
                            <a:rPr lang="nl-BE" sz="2400" b="0" dirty="0"/>
                            <a:t> 2.22 HB</a:t>
                          </a:r>
                        </a:p>
                        <a:p>
                          <a:pPr marL="342900" indent="-342900">
                            <a:buFontTx/>
                            <a:buChar char="-"/>
                          </a:pP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nl-BE" sz="2400" b="0" i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nl-BE" sz="2400" b="0" i="0" smtClean="0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nl-BE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nl-BE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</m:e>
                                  </m:func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func>
                                    <m:funcPr>
                                      <m:ctrlPr>
                                        <a:rPr lang="nl-BE" sz="2400" b="0" i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nl-BE" sz="2400" b="0" i="0" smtClean="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nl-BE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nl-BE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</m:e>
                                  </m:func>
                                </m:e>
                              </m:d>
                            </m:oMath>
                          </a14:m>
                          <a:r>
                            <a:rPr lang="nl-BE" sz="2400" b="0" dirty="0"/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d>
                                <m:dPr>
                                  <m:begChr m:val="["/>
                                  <m:ctrlP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0,2</m:t>
                                  </m:r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oMath>
                          </a14:m>
                          <a:endParaRPr lang="nl-BE" sz="24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0904709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ijdelijke aanduiding voor inhoud 3">
                <a:extLst>
                  <a:ext uri="{FF2B5EF4-FFF2-40B4-BE49-F238E27FC236}">
                    <a16:creationId xmlns:a16="http://schemas.microsoft.com/office/drawing/2014/main" id="{423AA4C7-CB4E-5489-62A3-7ED7C5A51CB9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743935064"/>
                  </p:ext>
                </p:extLst>
              </p:nvPr>
            </p:nvGraphicFramePr>
            <p:xfrm>
              <a:off x="215899" y="2174240"/>
              <a:ext cx="11760201" cy="236283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79868">
                      <a:extLst>
                        <a:ext uri="{9D8B030D-6E8A-4147-A177-3AD203B41FA5}">
                          <a16:colId xmlns:a16="http://schemas.microsoft.com/office/drawing/2014/main" val="1428409758"/>
                        </a:ext>
                      </a:extLst>
                    </a:gridCol>
                    <a:gridCol w="3100333">
                      <a:extLst>
                        <a:ext uri="{9D8B030D-6E8A-4147-A177-3AD203B41FA5}">
                          <a16:colId xmlns:a16="http://schemas.microsoft.com/office/drawing/2014/main" val="4203753842"/>
                        </a:ext>
                      </a:extLst>
                    </a:gridCol>
                    <a:gridCol w="5080000">
                      <a:extLst>
                        <a:ext uri="{9D8B030D-6E8A-4147-A177-3AD203B41FA5}">
                          <a16:colId xmlns:a16="http://schemas.microsoft.com/office/drawing/2014/main" val="2062659668"/>
                        </a:ext>
                      </a:extLst>
                    </a:gridCol>
                  </a:tblGrid>
                  <a:tr h="539870">
                    <a:tc>
                      <a:txBody>
                        <a:bodyPr/>
                        <a:lstStyle/>
                        <a:p>
                          <a:r>
                            <a:rPr lang="en-GB" sz="2400" dirty="0" err="1"/>
                            <a:t>Expliciet</a:t>
                          </a:r>
                          <a:endParaRPr lang="en-GB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 err="1"/>
                            <a:t>Impliciet</a:t>
                          </a:r>
                          <a:endParaRPr lang="en-GB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 err="1"/>
                            <a:t>Parametervorm</a:t>
                          </a:r>
                          <a:endParaRPr lang="en-GB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5120533"/>
                      </a:ext>
                    </a:extLst>
                  </a:tr>
                  <a:tr h="1822966"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>
                        <a:blipFill>
                          <a:blip r:embed="rId2"/>
                          <a:stretch>
                            <a:fillRect l="-170" t="-32000" r="-228912" b="-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>
                        <a:blipFill>
                          <a:blip r:embed="rId2"/>
                          <a:stretch>
                            <a:fillRect l="-115945" t="-32000" r="-164961" b="-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>
                        <a:blipFill>
                          <a:blip r:embed="rId2"/>
                          <a:stretch>
                            <a:fillRect l="-131535" t="-32000" r="-480" b="-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904709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itel 1">
            <a:extLst>
              <a:ext uri="{FF2B5EF4-FFF2-40B4-BE49-F238E27FC236}">
                <a16:creationId xmlns:a16="http://schemas.microsoft.com/office/drawing/2014/main" id="{C3D09507-5D44-D03A-069C-F94FD8E38F1B}"/>
              </a:ext>
            </a:extLst>
          </p:cNvPr>
          <p:cNvSpPr txBox="1">
            <a:spLocks/>
          </p:cNvSpPr>
          <p:nvPr/>
        </p:nvSpPr>
        <p:spPr>
          <a:xfrm>
            <a:off x="215899" y="1314594"/>
            <a:ext cx="10515600" cy="1009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b="1" dirty="0" err="1"/>
              <a:t>Polaire</a:t>
            </a:r>
            <a:r>
              <a:rPr lang="en-GB" sz="2800" b="1" dirty="0"/>
              <a:t> </a:t>
            </a:r>
            <a:r>
              <a:rPr lang="en-GB" sz="2800" b="1" dirty="0" err="1"/>
              <a:t>cöordinaten</a:t>
            </a:r>
            <a:endParaRPr lang="en-GB" sz="2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el 1">
                <a:extLst>
                  <a:ext uri="{FF2B5EF4-FFF2-40B4-BE49-F238E27FC236}">
                    <a16:creationId xmlns:a16="http://schemas.microsoft.com/office/drawing/2014/main" id="{C5E43DED-7F36-5A72-3E78-9FA8DBF631E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767320" y="-29405"/>
                <a:ext cx="10515600" cy="1009651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GB" dirty="0"/>
                  <a:t>Krommen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GB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7" name="Titel 1">
                <a:extLst>
                  <a:ext uri="{FF2B5EF4-FFF2-40B4-BE49-F238E27FC236}">
                    <a16:creationId xmlns:a16="http://schemas.microsoft.com/office/drawing/2014/main" id="{C5E43DED-7F36-5A72-3E78-9FA8DBF631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7320" y="-29405"/>
                <a:ext cx="10515600" cy="1009651"/>
              </a:xfrm>
              <a:prstGeom prst="rect">
                <a:avLst/>
              </a:prstGeom>
              <a:blipFill>
                <a:blip r:embed="rId3"/>
                <a:stretch>
                  <a:fillRect l="-2319" t="-2410" b="-14458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8973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AC8DA6-86CC-C5F2-512C-AEE8390FD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320" y="0"/>
            <a:ext cx="10515600" cy="1099978"/>
          </a:xfrm>
        </p:spPr>
        <p:txBody>
          <a:bodyPr/>
          <a:lstStyle/>
          <a:p>
            <a:r>
              <a:rPr lang="en-GB" dirty="0"/>
              <a:t>Hoe van de </a:t>
            </a:r>
            <a:r>
              <a:rPr lang="en-GB" dirty="0" err="1"/>
              <a:t>ene</a:t>
            </a:r>
            <a:r>
              <a:rPr lang="en-GB" dirty="0"/>
              <a:t> </a:t>
            </a:r>
            <a:r>
              <a:rPr lang="en-GB" dirty="0" err="1"/>
              <a:t>voorstelling</a:t>
            </a:r>
            <a:r>
              <a:rPr lang="en-GB" dirty="0"/>
              <a:t> </a:t>
            </a:r>
            <a:r>
              <a:rPr lang="en-GB" dirty="0" err="1"/>
              <a:t>naar</a:t>
            </a:r>
            <a:r>
              <a:rPr lang="en-GB" dirty="0"/>
              <a:t> de </a:t>
            </a:r>
            <a:r>
              <a:rPr lang="en-GB" dirty="0" err="1"/>
              <a:t>andere</a:t>
            </a:r>
            <a:r>
              <a:rPr lang="en-GB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74C6DFEE-7AB0-ED1D-085B-401D9D7D89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99978"/>
                <a:ext cx="10515600" cy="5897722"/>
              </a:xfrm>
            </p:spPr>
            <p:txBody>
              <a:bodyPr/>
              <a:lstStyle/>
              <a:p>
                <a:r>
                  <a:rPr lang="en-GB" dirty="0"/>
                  <a:t>Expliciet </a:t>
                </a:r>
                <a:r>
                  <a:rPr lang="en-GB" dirty="0">
                    <a:sym typeface="Wingdings" panose="05000000000000000000" pitchFamily="2" charset="2"/>
                  </a:rPr>
                  <a:t> </a:t>
                </a:r>
                <a:r>
                  <a:rPr lang="en-GB" dirty="0" err="1">
                    <a:sym typeface="Wingdings" panose="05000000000000000000" pitchFamily="2" charset="2"/>
                  </a:rPr>
                  <a:t>Impliciet</a:t>
                </a:r>
                <a:endParaRPr lang="en-GB" dirty="0">
                  <a:sym typeface="Wingdings" panose="05000000000000000000" pitchFamily="2" charset="2"/>
                </a:endParaRPr>
              </a:p>
              <a:p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𝑦</m:t>
                    </m:r>
                    <m:r>
                      <a:rPr lang="nl-B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p>
                    </m:sSup>
                  </m:oMath>
                </a14:m>
                <a:endParaRPr lang="nl-BE" b="0" i="1" dirty="0">
                  <a:latin typeface="Cambria Math" panose="02040503050406030204" pitchFamily="18" charset="0"/>
                  <a:sym typeface="Wingdings" panose="05000000000000000000" pitchFamily="2" charset="2"/>
                </a:endParaRPr>
              </a:p>
              <a:p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𝑦</m:t>
                    </m:r>
                    <m:r>
                      <a:rPr lang="nl-B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−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nl-B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𝑔</m:t>
                    </m:r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𝑦</m:t>
                        </m:r>
                      </m:e>
                    </m:d>
                    <m:r>
                      <a:rPr lang="nl-B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=0</m:t>
                    </m:r>
                  </m:oMath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 err="1"/>
                  <a:t>Impliciet</a:t>
                </a:r>
                <a:r>
                  <a:rPr lang="en-GB" dirty="0"/>
                  <a:t> </a:t>
                </a:r>
                <a:r>
                  <a:rPr lang="en-GB" dirty="0">
                    <a:sym typeface="Wingdings" panose="05000000000000000000" pitchFamily="2" charset="2"/>
                  </a:rPr>
                  <a:t> </a:t>
                </a:r>
                <a:r>
                  <a:rPr lang="en-GB" dirty="0" err="1">
                    <a:sym typeface="Wingdings" panose="05000000000000000000" pitchFamily="2" charset="2"/>
                  </a:rPr>
                  <a:t>Expliciet</a:t>
                </a:r>
                <a:r>
                  <a:rPr lang="en-GB" dirty="0">
                    <a:sym typeface="Wingdings" panose="05000000000000000000" pitchFamily="2" charset="2"/>
                  </a:rPr>
                  <a:t>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GB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</a:rPr>
                      <m:t>=1−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nl-BE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=±</m:t>
                    </m:r>
                    <m:rad>
                      <m:radPr>
                        <m:degHide m:val="on"/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nl-BE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−1,1</m:t>
                        </m:r>
                      </m:e>
                    </m:d>
                  </m:oMath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74C6DFEE-7AB0-ED1D-085B-401D9D7D89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99978"/>
                <a:ext cx="10515600" cy="5897722"/>
              </a:xfrm>
              <a:blipFill>
                <a:blip r:embed="rId2"/>
                <a:stretch>
                  <a:fillRect l="-1043" t="-2066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B8620646-9E61-3159-871E-CFEC7074E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Oefenzittingen Analyse I - Jasper Visterin</a:t>
            </a: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90F4A86B-8423-8899-0E08-5E17CEDE9E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250" y="1776521"/>
            <a:ext cx="3486150" cy="33887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kstvak 7">
                <a:extLst>
                  <a:ext uri="{FF2B5EF4-FFF2-40B4-BE49-F238E27FC236}">
                    <a16:creationId xmlns:a16="http://schemas.microsoft.com/office/drawing/2014/main" id="{1BF4526E-958E-7AAF-C257-8D8FCEF553E5}"/>
                  </a:ext>
                </a:extLst>
              </p:cNvPr>
              <p:cNvSpPr txBox="1"/>
              <p:nvPr/>
            </p:nvSpPr>
            <p:spPr>
              <a:xfrm>
                <a:off x="5386070" y="1431158"/>
                <a:ext cx="60960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nl-BE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𝑦</m:t>
                      </m:r>
                    </m:oMath>
                  </m:oMathPara>
                </a14:m>
                <a:endParaRPr lang="nl-BE" dirty="0"/>
              </a:p>
            </p:txBody>
          </p:sp>
        </mc:Choice>
        <mc:Fallback xmlns="">
          <p:sp>
            <p:nvSpPr>
              <p:cNvPr id="8" name="Tekstvak 7">
                <a:extLst>
                  <a:ext uri="{FF2B5EF4-FFF2-40B4-BE49-F238E27FC236}">
                    <a16:creationId xmlns:a16="http://schemas.microsoft.com/office/drawing/2014/main" id="{1BF4526E-958E-7AAF-C257-8D8FCEF55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6070" y="1431158"/>
                <a:ext cx="60960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kstvak 9">
                <a:extLst>
                  <a:ext uri="{FF2B5EF4-FFF2-40B4-BE49-F238E27FC236}">
                    <a16:creationId xmlns:a16="http://schemas.microsoft.com/office/drawing/2014/main" id="{FFAB4272-4A12-6740-48D5-348FA6A3A0AC}"/>
                  </a:ext>
                </a:extLst>
              </p:cNvPr>
              <p:cNvSpPr txBox="1"/>
              <p:nvPr/>
            </p:nvSpPr>
            <p:spPr>
              <a:xfrm>
                <a:off x="7281545" y="3412358"/>
                <a:ext cx="60960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𝑥</m:t>
                      </m:r>
                    </m:oMath>
                  </m:oMathPara>
                </a14:m>
                <a:endParaRPr lang="nl-BE" dirty="0"/>
              </a:p>
            </p:txBody>
          </p:sp>
        </mc:Choice>
        <mc:Fallback xmlns="">
          <p:sp>
            <p:nvSpPr>
              <p:cNvPr id="10" name="Tekstvak 9">
                <a:extLst>
                  <a:ext uri="{FF2B5EF4-FFF2-40B4-BE49-F238E27FC236}">
                    <a16:creationId xmlns:a16="http://schemas.microsoft.com/office/drawing/2014/main" id="{FFAB4272-4A12-6740-48D5-348FA6A3A0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1545" y="3412358"/>
                <a:ext cx="60960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5110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AE6CAC-60D4-2460-2E1F-4EB85294E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Hoe van de </a:t>
            </a:r>
            <a:r>
              <a:rPr lang="en-GB" dirty="0" err="1"/>
              <a:t>ene</a:t>
            </a:r>
            <a:r>
              <a:rPr lang="en-GB" dirty="0"/>
              <a:t> </a:t>
            </a:r>
            <a:r>
              <a:rPr lang="en-GB" dirty="0" err="1"/>
              <a:t>voorstelling</a:t>
            </a:r>
            <a:r>
              <a:rPr lang="en-GB" dirty="0"/>
              <a:t> </a:t>
            </a:r>
            <a:r>
              <a:rPr lang="en-GB" dirty="0" err="1"/>
              <a:t>naar</a:t>
            </a:r>
            <a:r>
              <a:rPr lang="en-GB" dirty="0"/>
              <a:t> de </a:t>
            </a:r>
            <a:r>
              <a:rPr lang="en-GB" dirty="0" err="1"/>
              <a:t>andere</a:t>
            </a:r>
            <a:r>
              <a:rPr lang="en-GB" dirty="0"/>
              <a:t>?</a:t>
            </a:r>
            <a:endParaRPr lang="nl-B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B278BCFD-FF08-0FAE-C6E7-1C3F25E658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Parametervergelijking </a:t>
                </a:r>
                <a:r>
                  <a:rPr lang="en-GB" dirty="0">
                    <a:sym typeface="Wingdings" panose="05000000000000000000" pitchFamily="2" charset="2"/>
                  </a:rPr>
                  <a:t> </a:t>
                </a:r>
                <a:r>
                  <a:rPr lang="en-GB" dirty="0" err="1">
                    <a:sym typeface="Wingdings" panose="05000000000000000000" pitchFamily="2" charset="2"/>
                  </a:rPr>
                  <a:t>Impliciet</a:t>
                </a:r>
                <a:endParaRPr lang="nl-BE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nl-BE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nl-B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nl-BE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nl-BE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nl-BE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i="1">
                            <a:latin typeface="Cambria Math" panose="02040503050406030204" pitchFamily="18" charset="0"/>
                          </a:rPr>
                          <m:t>−1,1</m:t>
                        </m:r>
                      </m:e>
                    </m:d>
                  </m:oMath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:r>
                  <a:rPr lang="en-GB" dirty="0" err="1"/>
                  <a:t>Elimineer</a:t>
                </a:r>
                <a:r>
                  <a:rPr lang="en-GB" dirty="0"/>
                  <a:t> </a:t>
                </a:r>
                <a:r>
                  <a:rPr lang="en-GB" dirty="0" err="1"/>
                  <a:t>een</a:t>
                </a:r>
                <a:r>
                  <a:rPr lang="en-GB" dirty="0"/>
                  <a:t> parameter</a:t>
                </a:r>
                <a:endParaRPr lang="en-GB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nl-BE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nl-BE" i="1" dirty="0">
                  <a:latin typeface="Cambria Math" panose="02040503050406030204" pitchFamily="18" charset="0"/>
                </a:endParaRPr>
              </a:p>
              <a:p>
                <a:endParaRPr lang="nl-BE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nl-BE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nl-BE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nl-BE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nl-BE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nl-BE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nl-BE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i="1">
                            <a:latin typeface="Cambria Math" panose="02040503050406030204" pitchFamily="18" charset="0"/>
                          </a:rPr>
                          <m:t>−1,1</m:t>
                        </m:r>
                      </m:e>
                    </m:d>
                  </m:oMath>
                </a14:m>
                <a:endParaRPr lang="en-GB" dirty="0"/>
              </a:p>
              <a:p>
                <a:endParaRPr lang="nl-BE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B278BCFD-FF08-0FAE-C6E7-1C3F25E658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D13C8A3-C83C-BDB0-2934-BF5328E8A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Oefenzittingen Analyse I - Jasper Visterin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kstvak 4">
                <a:extLst>
                  <a:ext uri="{FF2B5EF4-FFF2-40B4-BE49-F238E27FC236}">
                    <a16:creationId xmlns:a16="http://schemas.microsoft.com/office/drawing/2014/main" id="{CE02DB3A-6D95-B404-9643-5C5113608A65}"/>
                  </a:ext>
                </a:extLst>
              </p:cNvPr>
              <p:cNvSpPr txBox="1"/>
              <p:nvPr/>
            </p:nvSpPr>
            <p:spPr>
              <a:xfrm>
                <a:off x="6894576" y="3324225"/>
                <a:ext cx="4011549" cy="95410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2800" b="0" i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28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2800" b="0" i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28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GB" sz="2800" b="0" dirty="0"/>
              </a:p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2800" b="0" i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2800" b="0" i="0" smtClean="0">
                                  <a:latin typeface="Cambria Math" panose="02040503050406030204" pitchFamily="18" charset="0"/>
                                </a:rPr>
                                <m:t>cosh</m:t>
                              </m:r>
                            </m:e>
                            <m: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2800" b="0" i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2800" b="0" i="0" smtClean="0">
                                  <a:latin typeface="Cambria Math" panose="02040503050406030204" pitchFamily="18" charset="0"/>
                                </a:rPr>
                                <m:t>sinh</m:t>
                              </m:r>
                            </m:e>
                            <m: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nl-BE" sz="2800" dirty="0"/>
              </a:p>
            </p:txBody>
          </p:sp>
        </mc:Choice>
        <mc:Fallback xmlns="">
          <p:sp>
            <p:nvSpPr>
              <p:cNvPr id="5" name="Tekstvak 4">
                <a:extLst>
                  <a:ext uri="{FF2B5EF4-FFF2-40B4-BE49-F238E27FC236}">
                    <a16:creationId xmlns:a16="http://schemas.microsoft.com/office/drawing/2014/main" id="{CE02DB3A-6D95-B404-9643-5C5113608A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4576" y="3324225"/>
                <a:ext cx="4011549" cy="9541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9046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7D47EE-BEF5-4933-F667-C919F1CE6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Polaire</a:t>
            </a:r>
            <a:r>
              <a:rPr lang="en-GB" dirty="0"/>
              <a:t> </a:t>
            </a:r>
            <a:r>
              <a:rPr lang="en-GB" dirty="0" err="1"/>
              <a:t>coördinaten</a:t>
            </a:r>
            <a:endParaRPr lang="en-GB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B1142F8-DA32-9D30-8179-3F05B71236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2ED8077C-C6BB-014A-6FB6-0FD4BA499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Oefenzittingen Analyse I - Jasper Visterin</a:t>
            </a:r>
          </a:p>
        </p:txBody>
      </p:sp>
    </p:spTree>
    <p:extLst>
      <p:ext uri="{BB962C8B-B14F-4D97-AF65-F5344CB8AC3E}">
        <p14:creationId xmlns:p14="http://schemas.microsoft.com/office/powerpoint/2010/main" val="2391917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A7FB2-77B2-3A67-7C72-2218AD6AE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el 5">
                <a:extLst>
                  <a:ext uri="{FF2B5EF4-FFF2-40B4-BE49-F238E27FC236}">
                    <a16:creationId xmlns:a16="http://schemas.microsoft.com/office/drawing/2014/main" id="{A7E0FB0F-10C8-8561-42C9-EBDE8DA34C1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GB" dirty="0"/>
                  <a:t>Krommen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nl-BE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nl-BE" dirty="0"/>
              </a:p>
            </p:txBody>
          </p:sp>
        </mc:Choice>
        <mc:Fallback xmlns="">
          <p:sp>
            <p:nvSpPr>
              <p:cNvPr id="6" name="Titel 5">
                <a:extLst>
                  <a:ext uri="{FF2B5EF4-FFF2-40B4-BE49-F238E27FC236}">
                    <a16:creationId xmlns:a16="http://schemas.microsoft.com/office/drawing/2014/main" id="{A7E0FB0F-10C8-8561-42C9-EBDE8DA34C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51AC9BD4-B70E-9B62-15A6-2D22B1667D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562725" cy="4351338"/>
              </a:xfrm>
            </p:spPr>
            <p:txBody>
              <a:bodyPr>
                <a:normAutofit/>
              </a:bodyPr>
              <a:lstStyle/>
              <a:p>
                <a:r>
                  <a:rPr lang="en-GB" dirty="0" err="1"/>
                  <a:t>Impliciet</a:t>
                </a:r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nl-BE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nl-BE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nl-BE" dirty="0"/>
              </a:p>
              <a:p>
                <a14:m>
                  <m:oMath xmlns:m="http://schemas.openxmlformats.org/officeDocument/2006/math">
                    <m:r>
                      <a:rPr lang="nl-BE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nl-BE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nl-BE" dirty="0"/>
              </a:p>
              <a:p>
                <a:endParaRPr lang="en-GB" dirty="0"/>
              </a:p>
              <a:p>
                <a:r>
                  <a:rPr lang="en-GB" dirty="0" err="1"/>
                  <a:t>Snijlijn</a:t>
                </a:r>
                <a:r>
                  <a:rPr lang="en-GB" dirty="0"/>
                  <a:t> </a:t>
                </a:r>
                <a:r>
                  <a:rPr lang="en-GB" dirty="0" err="1"/>
                  <a:t>tussen</a:t>
                </a:r>
                <a:r>
                  <a:rPr lang="en-GB" dirty="0"/>
                  <a:t> twee </a:t>
                </a:r>
                <a:r>
                  <a:rPr lang="en-GB" dirty="0" err="1"/>
                  <a:t>oppervlakken</a:t>
                </a:r>
                <a:r>
                  <a:rPr lang="en-GB" dirty="0"/>
                  <a:t> in 3D</a:t>
                </a:r>
              </a:p>
              <a:p>
                <a14:m>
                  <m:oMath xmlns:m="http://schemas.openxmlformats.org/officeDocument/2006/math">
                    <m:r>
                      <a:rPr lang="nl-BE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nl-BE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nl-BE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nl-BE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nl-BE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nl-BE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nl-BE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nl-BE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51AC9BD4-B70E-9B62-15A6-2D22B1667D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562725" cy="4351338"/>
              </a:xfrm>
              <a:blipFill>
                <a:blip r:embed="rId3"/>
                <a:stretch>
                  <a:fillRect l="-1673" t="-2381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41B44DAA-2401-5997-DE88-2700B5901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Oefenzittingen Analyse I - Jasper Visterin</a:t>
            </a: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A4280B20-6EE7-83DD-6690-45A59CE59F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3047" y="0"/>
            <a:ext cx="4828953" cy="4140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900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684E3-5F56-8739-DB73-49403AA4F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el 5">
                <a:extLst>
                  <a:ext uri="{FF2B5EF4-FFF2-40B4-BE49-F238E27FC236}">
                    <a16:creationId xmlns:a16="http://schemas.microsoft.com/office/drawing/2014/main" id="{35C6BCDC-BCF7-830B-3304-A30F1D027B6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GB" dirty="0"/>
                  <a:t>Krommen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nl-BE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nl-BE" dirty="0"/>
              </a:p>
            </p:txBody>
          </p:sp>
        </mc:Choice>
        <mc:Fallback xmlns="">
          <p:sp>
            <p:nvSpPr>
              <p:cNvPr id="6" name="Titel 5">
                <a:extLst>
                  <a:ext uri="{FF2B5EF4-FFF2-40B4-BE49-F238E27FC236}">
                    <a16:creationId xmlns:a16="http://schemas.microsoft.com/office/drawing/2014/main" id="{35C6BCDC-BCF7-830B-3304-A30F1D027B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C33D09C6-87CF-4220-BE2C-838485F24A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8150" y="1690688"/>
                <a:ext cx="6562725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  <a:defRPr/>
                </a:pPr>
                <a:r>
                  <a:rPr lang="en-GB" dirty="0" err="1"/>
                  <a:t>Parametervorm</a:t>
                </a:r>
                <a:endParaRPr lang="nl-BE" i="1" dirty="0">
                  <a:latin typeface="Cambria Math" panose="02040503050406030204" pitchFamily="18" charset="0"/>
                </a:endParaRPr>
              </a:p>
              <a:p>
                <a:pPr marL="0" lvl="0" indent="0">
                  <a:lnSpc>
                    <a:spcPct val="100000"/>
                  </a:lnSpc>
                  <a:spcBef>
                    <a:spcPts val="0"/>
                  </a:spcBef>
                  <a:buNone/>
                  <a:defRPr/>
                </a:pPr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nl-BE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d>
                            <m:d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nl-BE" i="1" dirty="0">
                  <a:latin typeface="Cambria Math" panose="02040503050406030204" pitchFamily="18" charset="0"/>
                </a:endParaRPr>
              </a:p>
              <a:p>
                <a:pPr marL="0" lvl="0" indent="0">
                  <a:lnSpc>
                    <a:spcPct val="100000"/>
                  </a:lnSpc>
                  <a:spcBef>
                    <a:spcPts val="0"/>
                  </a:spcBef>
                  <a:buNone/>
                  <a:defRPr/>
                </a:pPr>
                <a14:m>
                  <m:oMathPara xmlns:m="http://schemas.openxmlformats.org/officeDocument/2006/math">
                    <m:oMath>
                      <m:r>
                        <a:rPr lang="nl-BE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nl-BE" i="1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Helix: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nl-BE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nl-BE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BE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nl-B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nl-BE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func>
                        <m:r>
                          <a:rPr lang="nl-BE" i="1">
                            <a:latin typeface="Cambria Math" panose="02040503050406030204" pitchFamily="18" charset="0"/>
                          </a:rPr>
                          <m:t>,</m:t>
                        </m:r>
                        <m:func>
                          <m:funcPr>
                            <m:ctrlPr>
                              <a:rPr lang="nl-BE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BE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nl-B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nl-BE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func>
                        <m:r>
                          <a:rPr lang="nl-BE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l-B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nl-BE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nl-BE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nl-BE" i="1">
                        <a:latin typeface="Cambria Math" panose="02040503050406030204" pitchFamily="18" charset="0"/>
                      </a:rPr>
                      <m:t>∈[0,8</m:t>
                    </m:r>
                    <m:r>
                      <a:rPr lang="nl-BE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nl-BE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C33D09C6-87CF-4220-BE2C-838485F24A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8150" y="1690688"/>
                <a:ext cx="6562725" cy="4351338"/>
              </a:xfrm>
              <a:blipFill>
                <a:blip r:embed="rId3"/>
                <a:stretch>
                  <a:fillRect l="-1952" t="-1401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23817F9D-6D9E-7B4A-7B30-55EF76339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Oefenzittingen Analyse I - Jasper Visterin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247FD3AF-1680-1676-7BD6-9DFC386D24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3766" y="917575"/>
            <a:ext cx="5240109" cy="439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29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5EBF6822-CA8B-FD77-55BB-240A9CEE54B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GB" dirty="0"/>
                  <a:t>Krommen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nl-BE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nl-BE" dirty="0"/>
              </a:p>
            </p:txBody>
          </p:sp>
        </mc:Choice>
        <mc:Fallback xmlns="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5EBF6822-CA8B-FD77-55BB-240A9CEE54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858116FF-5BBD-70AE-E625-A1A3F27E64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nl-BE" dirty="0" err="1"/>
                  <a:t>Parametrisatie</a:t>
                </a:r>
                <a:r>
                  <a:rPr lang="nl-BE" dirty="0"/>
                  <a:t> voor </a:t>
                </a:r>
              </a:p>
              <a:p>
                <a14:m>
                  <m:oMath xmlns:m="http://schemas.openxmlformats.org/officeDocument/2006/math">
                    <m:r>
                      <a:rPr lang="nl-BE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nl-BE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nl-BE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nl-BE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nl-BE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nl-BE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nl-BE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nl-BE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nl-BE" dirty="0"/>
              </a:p>
              <a:p>
                <a:r>
                  <a:rPr lang="nl-BE" dirty="0"/>
                  <a:t>https://www.geogebra.org/3d/damh7snq</a:t>
                </a:r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858116FF-5BBD-70AE-E625-A1A3F27E64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720570AB-9652-957C-9580-99C063459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Oefenzittingen Analyse I - Jasper Visterin</a:t>
            </a: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E90A4C6C-1BAC-7B75-FD31-20C893700C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3047" y="2215595"/>
            <a:ext cx="4828953" cy="4140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0481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C22211-4665-9258-F385-AFD7F4C1E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Cöordinatenstelsels</a:t>
            </a:r>
            <a:endParaRPr lang="en-GB" dirty="0"/>
          </a:p>
        </p:txBody>
      </p:sp>
      <p:sp>
        <p:nvSpPr>
          <p:cNvPr id="15" name="Tijdelijke aanduiding voor inhoud 14">
            <a:extLst>
              <a:ext uri="{FF2B5EF4-FFF2-40B4-BE49-F238E27FC236}">
                <a16:creationId xmlns:a16="http://schemas.microsoft.com/office/drawing/2014/main" id="{9E4F3BCF-2E40-CA06-69B3-39CC40ADE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4A35746-9E5E-4432-868E-46A1F45FE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Oefenzittingen Analyse I - Jasper Visterin</a:t>
            </a:r>
          </a:p>
        </p:txBody>
      </p:sp>
    </p:spTree>
    <p:extLst>
      <p:ext uri="{BB962C8B-B14F-4D97-AF65-F5344CB8AC3E}">
        <p14:creationId xmlns:p14="http://schemas.microsoft.com/office/powerpoint/2010/main" val="38712416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9AFE1-404E-77EE-D644-2BAA755D0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292A6F-CD23-41BD-934B-AC623BA6B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Oppervlakken</a:t>
            </a:r>
            <a:endParaRPr lang="nl-BE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248B9396-2A1C-16D6-AB60-90229FCAA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Oefenzittingen Analyse I - Jasper Visterin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ijdelijke aanduiding voor inhoud 3">
                <a:extLst>
                  <a:ext uri="{FF2B5EF4-FFF2-40B4-BE49-F238E27FC236}">
                    <a16:creationId xmlns:a16="http://schemas.microsoft.com/office/drawing/2014/main" id="{4DD96718-231E-4A1B-02BB-6989CAF7B770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550151461"/>
                  </p:ext>
                </p:extLst>
              </p:nvPr>
            </p:nvGraphicFramePr>
            <p:xfrm>
              <a:off x="215899" y="1532215"/>
              <a:ext cx="11760202" cy="155107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79868">
                      <a:extLst>
                        <a:ext uri="{9D8B030D-6E8A-4147-A177-3AD203B41FA5}">
                          <a16:colId xmlns:a16="http://schemas.microsoft.com/office/drawing/2014/main" val="1428409758"/>
                        </a:ext>
                      </a:extLst>
                    </a:gridCol>
                    <a:gridCol w="3100333">
                      <a:extLst>
                        <a:ext uri="{9D8B030D-6E8A-4147-A177-3AD203B41FA5}">
                          <a16:colId xmlns:a16="http://schemas.microsoft.com/office/drawing/2014/main" val="4203753842"/>
                        </a:ext>
                      </a:extLst>
                    </a:gridCol>
                    <a:gridCol w="5080001">
                      <a:extLst>
                        <a:ext uri="{9D8B030D-6E8A-4147-A177-3AD203B41FA5}">
                          <a16:colId xmlns:a16="http://schemas.microsoft.com/office/drawing/2014/main" val="2062659668"/>
                        </a:ext>
                      </a:extLst>
                    </a:gridCol>
                  </a:tblGrid>
                  <a:tr h="447846">
                    <a:tc>
                      <a:txBody>
                        <a:bodyPr/>
                        <a:lstStyle/>
                        <a:p>
                          <a:r>
                            <a:rPr lang="en-GB" sz="2400" dirty="0" err="1"/>
                            <a:t>Expliciet</a:t>
                          </a:r>
                          <a:endParaRPr lang="en-GB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 err="1"/>
                            <a:t>Impliciet</a:t>
                          </a:r>
                          <a:endParaRPr lang="en-GB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 err="1"/>
                            <a:t>Parametervorm</a:t>
                          </a:r>
                          <a:endParaRPr lang="en-GB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5120533"/>
                      </a:ext>
                    </a:extLst>
                  </a:tr>
                  <a:tr h="109387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nl-BE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d>
                                  <m:dPr>
                                    <m:ctrlP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d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nl-BE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d>
                                <m:r>
                                  <a:rPr lang="nl-BE" sz="2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GB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2400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nl-BE" sz="24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GB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GB" sz="2400" b="0" i="1" smtClean="0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  <m:r>
                                          <a:rPr lang="en-GB" sz="2400" b="0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GB" sz="2400" b="0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d>
                                    <m:r>
                                      <a:rPr lang="nl-BE" sz="2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d>
                                      <m:dPr>
                                        <m:ctrlPr>
                                          <a:rPr lang="en-GB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GB" sz="2400" b="0" i="1" smtClean="0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  <m:r>
                                          <a:rPr lang="en-GB" sz="2400" b="0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GB" sz="2400" b="0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d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ℎ</m:t>
                                    </m:r>
                                    <m:d>
                                      <m:dPr>
                                        <m:ctrlPr>
                                          <a:rPr lang="en-GB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GB" sz="2400" b="0" i="1" smtClean="0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  <m:r>
                                          <a:rPr lang="en-GB" sz="2400" b="0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GB" sz="2400" b="0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n-GB" sz="2400" dirty="0"/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</m:d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⊂</m:t>
                                </m:r>
                                <m:sSup>
                                  <m:sSupPr>
                                    <m:ctrlPr>
                                      <a:rPr lang="en-GB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ℝ</m:t>
                                    </m:r>
                                  </m:e>
                                  <m:sup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0904709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ijdelijke aanduiding voor inhoud 3">
                <a:extLst>
                  <a:ext uri="{FF2B5EF4-FFF2-40B4-BE49-F238E27FC236}">
                    <a16:creationId xmlns:a16="http://schemas.microsoft.com/office/drawing/2014/main" id="{4DD96718-231E-4A1B-02BB-6989CAF7B770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550151461"/>
                  </p:ext>
                </p:extLst>
              </p:nvPr>
            </p:nvGraphicFramePr>
            <p:xfrm>
              <a:off x="215899" y="1532215"/>
              <a:ext cx="11760202" cy="155107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79868">
                      <a:extLst>
                        <a:ext uri="{9D8B030D-6E8A-4147-A177-3AD203B41FA5}">
                          <a16:colId xmlns:a16="http://schemas.microsoft.com/office/drawing/2014/main" val="1428409758"/>
                        </a:ext>
                      </a:extLst>
                    </a:gridCol>
                    <a:gridCol w="3100333">
                      <a:extLst>
                        <a:ext uri="{9D8B030D-6E8A-4147-A177-3AD203B41FA5}">
                          <a16:colId xmlns:a16="http://schemas.microsoft.com/office/drawing/2014/main" val="4203753842"/>
                        </a:ext>
                      </a:extLst>
                    </a:gridCol>
                    <a:gridCol w="5080001">
                      <a:extLst>
                        <a:ext uri="{9D8B030D-6E8A-4147-A177-3AD203B41FA5}">
                          <a16:colId xmlns:a16="http://schemas.microsoft.com/office/drawing/2014/main" val="206265966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GB" sz="2400" dirty="0" err="1"/>
                            <a:t>Expliciet</a:t>
                          </a:r>
                          <a:endParaRPr lang="en-GB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 err="1"/>
                            <a:t>Impliciet</a:t>
                          </a:r>
                          <a:endParaRPr lang="en-GB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 err="1"/>
                            <a:t>Parametervorm</a:t>
                          </a:r>
                          <a:endParaRPr lang="en-GB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5120533"/>
                      </a:ext>
                    </a:extLst>
                  </a:tr>
                  <a:tr h="1093879"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>
                        <a:blipFill>
                          <a:blip r:embed="rId2"/>
                          <a:stretch>
                            <a:fillRect l="-170" t="-46111" r="-228912" b="-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>
                        <a:blipFill>
                          <a:blip r:embed="rId2"/>
                          <a:stretch>
                            <a:fillRect l="-115945" t="-46111" r="-164961" b="-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BE"/>
                        </a:p>
                      </a:txBody>
                      <a:tcPr>
                        <a:blipFill>
                          <a:blip r:embed="rId2"/>
                          <a:stretch>
                            <a:fillRect l="-131535" t="-46111" r="-480" b="-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904709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itel 1">
            <a:extLst>
              <a:ext uri="{FF2B5EF4-FFF2-40B4-BE49-F238E27FC236}">
                <a16:creationId xmlns:a16="http://schemas.microsoft.com/office/drawing/2014/main" id="{56474C90-2800-B4D9-3F64-B0C34DA70233}"/>
              </a:ext>
            </a:extLst>
          </p:cNvPr>
          <p:cNvSpPr txBox="1">
            <a:spLocks/>
          </p:cNvSpPr>
          <p:nvPr/>
        </p:nvSpPr>
        <p:spPr>
          <a:xfrm>
            <a:off x="7767320" y="-29405"/>
            <a:ext cx="10515600" cy="1009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24671C8A-9C47-2F5B-F87D-A2D889632A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899" y="3284660"/>
            <a:ext cx="3453526" cy="22114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kstvak 9">
                <a:extLst>
                  <a:ext uri="{FF2B5EF4-FFF2-40B4-BE49-F238E27FC236}">
                    <a16:creationId xmlns:a16="http://schemas.microsoft.com/office/drawing/2014/main" id="{624FB8EE-C91A-1359-410C-4E241804549A}"/>
                  </a:ext>
                </a:extLst>
              </p:cNvPr>
              <p:cNvSpPr txBox="1"/>
              <p:nvPr/>
            </p:nvSpPr>
            <p:spPr>
              <a:xfrm>
                <a:off x="1326852" y="5697494"/>
                <a:ext cx="12316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nl-BE" dirty="0"/>
              </a:p>
            </p:txBody>
          </p:sp>
        </mc:Choice>
        <mc:Fallback xmlns="">
          <p:sp>
            <p:nvSpPr>
              <p:cNvPr id="10" name="Tekstvak 9">
                <a:extLst>
                  <a:ext uri="{FF2B5EF4-FFF2-40B4-BE49-F238E27FC236}">
                    <a16:creationId xmlns:a16="http://schemas.microsoft.com/office/drawing/2014/main" id="{624FB8EE-C91A-1359-410C-4E24180454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6852" y="5697494"/>
                <a:ext cx="1231619" cy="276999"/>
              </a:xfrm>
              <a:prstGeom prst="rect">
                <a:avLst/>
              </a:prstGeom>
              <a:blipFill>
                <a:blip r:embed="rId4"/>
                <a:stretch>
                  <a:fillRect l="-2475" t="-2222" r="-1485" b="-26667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Afbeelding 11">
            <a:extLst>
              <a:ext uri="{FF2B5EF4-FFF2-40B4-BE49-F238E27FC236}">
                <a16:creationId xmlns:a16="http://schemas.microsoft.com/office/drawing/2014/main" id="{4D9DFBD4-9777-E104-8568-DDC37628171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6681"/>
          <a:stretch>
            <a:fillRect/>
          </a:stretch>
        </p:blipFill>
        <p:spPr>
          <a:xfrm>
            <a:off x="3780510" y="3291649"/>
            <a:ext cx="3028852" cy="21371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kstvak 13">
                <a:extLst>
                  <a:ext uri="{FF2B5EF4-FFF2-40B4-BE49-F238E27FC236}">
                    <a16:creationId xmlns:a16="http://schemas.microsoft.com/office/drawing/2014/main" id="{18D6CCA1-78CE-CB01-A693-C0F06B1B234B}"/>
                  </a:ext>
                </a:extLst>
              </p:cNvPr>
              <p:cNvSpPr txBox="1"/>
              <p:nvPr/>
            </p:nvSpPr>
            <p:spPr>
              <a:xfrm>
                <a:off x="4271090" y="5697493"/>
                <a:ext cx="21541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−1=0</m:t>
                      </m:r>
                    </m:oMath>
                  </m:oMathPara>
                </a14:m>
                <a:endParaRPr lang="nl-BE" dirty="0"/>
              </a:p>
            </p:txBody>
          </p:sp>
        </mc:Choice>
        <mc:Fallback xmlns="">
          <p:sp>
            <p:nvSpPr>
              <p:cNvPr id="14" name="Tekstvak 13">
                <a:extLst>
                  <a:ext uri="{FF2B5EF4-FFF2-40B4-BE49-F238E27FC236}">
                    <a16:creationId xmlns:a16="http://schemas.microsoft.com/office/drawing/2014/main" id="{18D6CCA1-78CE-CB01-A693-C0F06B1B23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1090" y="5697493"/>
                <a:ext cx="2154179" cy="276999"/>
              </a:xfrm>
              <a:prstGeom prst="rect">
                <a:avLst/>
              </a:prstGeom>
              <a:blipFill>
                <a:blip r:embed="rId6"/>
                <a:stretch>
                  <a:fillRect l="-1416" t="-2222" r="-2266" b="-26667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Afbeelding 15">
            <a:extLst>
              <a:ext uri="{FF2B5EF4-FFF2-40B4-BE49-F238E27FC236}">
                <a16:creationId xmlns:a16="http://schemas.microsoft.com/office/drawing/2014/main" id="{4BC049A0-5961-D3A7-4683-3446311C27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6495" y="3083294"/>
            <a:ext cx="3453526" cy="22114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kstvak 17">
                <a:extLst>
                  <a:ext uri="{FF2B5EF4-FFF2-40B4-BE49-F238E27FC236}">
                    <a16:creationId xmlns:a16="http://schemas.microsoft.com/office/drawing/2014/main" id="{D57CEE16-2E09-0862-CEF1-B03D1F230F50}"/>
                  </a:ext>
                </a:extLst>
              </p:cNvPr>
              <p:cNvSpPr txBox="1"/>
              <p:nvPr/>
            </p:nvSpPr>
            <p:spPr>
              <a:xfrm>
                <a:off x="8019935" y="5428489"/>
                <a:ext cx="1931461" cy="8272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eqArr>
                        </m:e>
                      </m:d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func>
                                <m:funcPr>
                                  <m:ctrl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func>
                                <m:funcPr>
                                  <m:ctrl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  <m:e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eqArr>
                        </m:e>
                      </m:d>
                    </m:oMath>
                  </m:oMathPara>
                </a14:m>
                <a:endParaRPr lang="en-GB" b="0" dirty="0"/>
              </a:p>
            </p:txBody>
          </p:sp>
        </mc:Choice>
        <mc:Fallback xmlns="">
          <p:sp>
            <p:nvSpPr>
              <p:cNvPr id="18" name="Tekstvak 17">
                <a:extLst>
                  <a:ext uri="{FF2B5EF4-FFF2-40B4-BE49-F238E27FC236}">
                    <a16:creationId xmlns:a16="http://schemas.microsoft.com/office/drawing/2014/main" id="{D57CEE16-2E09-0862-CEF1-B03D1F230F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9935" y="5428489"/>
                <a:ext cx="1931461" cy="82721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kstvak 19">
                <a:extLst>
                  <a:ext uri="{FF2B5EF4-FFF2-40B4-BE49-F238E27FC236}">
                    <a16:creationId xmlns:a16="http://schemas.microsoft.com/office/drawing/2014/main" id="{308FDBDD-95F8-5842-37F2-94479C082720}"/>
                  </a:ext>
                </a:extLst>
              </p:cNvPr>
              <p:cNvSpPr txBox="1"/>
              <p:nvPr/>
            </p:nvSpPr>
            <p:spPr>
              <a:xfrm>
                <a:off x="9869084" y="5496128"/>
                <a:ext cx="1484716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en-GB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0,2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nl-BE" dirty="0"/>
              </a:p>
              <a:p>
                <a:endParaRPr lang="nl-BE" dirty="0"/>
              </a:p>
            </p:txBody>
          </p:sp>
        </mc:Choice>
        <mc:Fallback xmlns="">
          <p:sp>
            <p:nvSpPr>
              <p:cNvPr id="20" name="Tekstvak 19">
                <a:extLst>
                  <a:ext uri="{FF2B5EF4-FFF2-40B4-BE49-F238E27FC236}">
                    <a16:creationId xmlns:a16="http://schemas.microsoft.com/office/drawing/2014/main" id="{308FDBDD-95F8-5842-37F2-94479C0827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9084" y="5496128"/>
                <a:ext cx="1484716" cy="92333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96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18" grpId="0"/>
      <p:bldP spid="2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E577F550-F6C4-DFBC-11F1-D72FDCF40D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97000"/>
                <a:ext cx="10515600" cy="4351338"/>
              </a:xfrm>
            </p:spPr>
            <p:txBody>
              <a:bodyPr/>
              <a:lstStyle/>
              <a:p>
                <a:r>
                  <a:rPr lang="nl-BE" dirty="0"/>
                  <a:t>Lijn tussen twee punten: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r>
                  <a:rPr lang="nl-BE" dirty="0"/>
                  <a:t> 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</m:oMath>
                </a14:m>
                <a:endParaRPr lang="nl-BE" dirty="0"/>
              </a:p>
              <a:p>
                <a:r>
                  <a:rPr lang="nl-BE" dirty="0"/>
                  <a:t>Goede parametervorm?</a:t>
                </a:r>
              </a:p>
              <a:p>
                <a:endParaRPr lang="nl-BE" b="0" i="1" dirty="0">
                  <a:latin typeface="Cambria Math" panose="02040503050406030204" pitchFamily="18" charset="0"/>
                </a:endParaRPr>
              </a:p>
              <a:p>
                <a:endParaRPr lang="nl-BE" i="1" dirty="0">
                  <a:latin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</a:endParaRPr>
              </a:p>
              <a:p>
                <a:endParaRPr lang="en-GB" i="1" dirty="0">
                  <a:latin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n-GB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</m:acc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acc>
                        <m:accPr>
                          <m:chr m:val="⃗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nl-BE" dirty="0"/>
              </a:p>
              <a:p>
                <a:endParaRPr lang="nl-BE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E577F550-F6C4-DFBC-11F1-D72FDCF40D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97000"/>
                <a:ext cx="10515600" cy="4351338"/>
              </a:xfrm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154DA54-9B7B-79D6-9B95-66DABBFA3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Oefenzittingen Analyse I - Jasper Visterin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2C264BC1-EAFD-F655-29F1-386F7510DD76}"/>
              </a:ext>
            </a:extLst>
          </p:cNvPr>
          <p:cNvSpPr txBox="1">
            <a:spLocks/>
          </p:cNvSpPr>
          <p:nvPr/>
        </p:nvSpPr>
        <p:spPr>
          <a:xfrm>
            <a:off x="838200" y="138780"/>
            <a:ext cx="10515600" cy="1091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BE"/>
              <a:t>Regeloppervlak</a:t>
            </a:r>
            <a:endParaRPr lang="nl-BE" dirty="0"/>
          </a:p>
        </p:txBody>
      </p:sp>
      <p:pic>
        <p:nvPicPr>
          <p:cNvPr id="7" name="Afbeelding 6" descr="Cartesian coordinates - Math Insight">
            <a:extLst>
              <a:ext uri="{FF2B5EF4-FFF2-40B4-BE49-F238E27FC236}">
                <a16:creationId xmlns:a16="http://schemas.microsoft.com/office/drawing/2014/main" id="{BBF237BF-1F23-712D-551C-598EDBF206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098" t="2229" r="4290" b="16079"/>
          <a:stretch>
            <a:fillRect/>
          </a:stretch>
        </p:blipFill>
        <p:spPr>
          <a:xfrm>
            <a:off x="7991475" y="529883"/>
            <a:ext cx="3581400" cy="3584917"/>
          </a:xfrm>
          <a:prstGeom prst="rect">
            <a:avLst/>
          </a:prstGeom>
        </p:spPr>
      </p:pic>
      <p:cxnSp>
        <p:nvCxnSpPr>
          <p:cNvPr id="9" name="Rechte verbindingslijn met pijl 8">
            <a:extLst>
              <a:ext uri="{FF2B5EF4-FFF2-40B4-BE49-F238E27FC236}">
                <a16:creationId xmlns:a16="http://schemas.microsoft.com/office/drawing/2014/main" id="{1AA65DEF-16D1-5226-8A24-E22E732D9A11}"/>
              </a:ext>
            </a:extLst>
          </p:cNvPr>
          <p:cNvCxnSpPr>
            <a:cxnSpLocks/>
          </p:cNvCxnSpPr>
          <p:nvPr/>
        </p:nvCxnSpPr>
        <p:spPr>
          <a:xfrm flipH="1" flipV="1">
            <a:off x="7991475" y="1473823"/>
            <a:ext cx="1571625" cy="11525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met pijl 9">
            <a:extLst>
              <a:ext uri="{FF2B5EF4-FFF2-40B4-BE49-F238E27FC236}">
                <a16:creationId xmlns:a16="http://schemas.microsoft.com/office/drawing/2014/main" id="{1CC18DF8-22C5-369E-A97C-41BB2F85C0BD}"/>
              </a:ext>
            </a:extLst>
          </p:cNvPr>
          <p:cNvCxnSpPr>
            <a:cxnSpLocks/>
          </p:cNvCxnSpPr>
          <p:nvPr/>
        </p:nvCxnSpPr>
        <p:spPr>
          <a:xfrm flipV="1">
            <a:off x="9563100" y="2178673"/>
            <a:ext cx="1190625" cy="4476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kstvak 13">
                <a:extLst>
                  <a:ext uri="{FF2B5EF4-FFF2-40B4-BE49-F238E27FC236}">
                    <a16:creationId xmlns:a16="http://schemas.microsoft.com/office/drawing/2014/main" id="{D847650A-777C-2D50-B240-7B2F71C44AD5}"/>
                  </a:ext>
                </a:extLst>
              </p:cNvPr>
              <p:cNvSpPr txBox="1"/>
              <p:nvPr/>
            </p:nvSpPr>
            <p:spPr>
              <a:xfrm>
                <a:off x="7419975" y="857577"/>
                <a:ext cx="74295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nl-BE" dirty="0"/>
              </a:p>
            </p:txBody>
          </p:sp>
        </mc:Choice>
        <mc:Fallback xmlns="">
          <p:sp>
            <p:nvSpPr>
              <p:cNvPr id="14" name="Tekstvak 13">
                <a:extLst>
                  <a:ext uri="{FF2B5EF4-FFF2-40B4-BE49-F238E27FC236}">
                    <a16:creationId xmlns:a16="http://schemas.microsoft.com/office/drawing/2014/main" id="{D847650A-777C-2D50-B240-7B2F71C44A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9975" y="857577"/>
                <a:ext cx="74295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kstvak 15">
                <a:extLst>
                  <a:ext uri="{FF2B5EF4-FFF2-40B4-BE49-F238E27FC236}">
                    <a16:creationId xmlns:a16="http://schemas.microsoft.com/office/drawing/2014/main" id="{9E460FEC-E874-A7CB-4B71-149AB12A6BFB}"/>
                  </a:ext>
                </a:extLst>
              </p:cNvPr>
              <p:cNvSpPr txBox="1"/>
              <p:nvPr/>
            </p:nvSpPr>
            <p:spPr>
              <a:xfrm>
                <a:off x="10753725" y="1799121"/>
                <a:ext cx="74295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nl-BE" dirty="0"/>
              </a:p>
            </p:txBody>
          </p:sp>
        </mc:Choice>
        <mc:Fallback xmlns="">
          <p:sp>
            <p:nvSpPr>
              <p:cNvPr id="16" name="Tekstvak 15">
                <a:extLst>
                  <a:ext uri="{FF2B5EF4-FFF2-40B4-BE49-F238E27FC236}">
                    <a16:creationId xmlns:a16="http://schemas.microsoft.com/office/drawing/2014/main" id="{9E460FEC-E874-A7CB-4B71-149AB12A6B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3725" y="1799121"/>
                <a:ext cx="74295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Rechte verbindingslijn 19">
            <a:extLst>
              <a:ext uri="{FF2B5EF4-FFF2-40B4-BE49-F238E27FC236}">
                <a16:creationId xmlns:a16="http://schemas.microsoft.com/office/drawing/2014/main" id="{71E581D6-D6D2-8309-71AB-9F6845392541}"/>
              </a:ext>
            </a:extLst>
          </p:cNvPr>
          <p:cNvCxnSpPr>
            <a:cxnSpLocks/>
          </p:cNvCxnSpPr>
          <p:nvPr/>
        </p:nvCxnSpPr>
        <p:spPr>
          <a:xfrm>
            <a:off x="7991475" y="1473823"/>
            <a:ext cx="2762250" cy="7048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kstvak 21">
                <a:extLst>
                  <a:ext uri="{FF2B5EF4-FFF2-40B4-BE49-F238E27FC236}">
                    <a16:creationId xmlns:a16="http://schemas.microsoft.com/office/drawing/2014/main" id="{8A212845-769E-CF74-4B5B-1BF2724A5738}"/>
                  </a:ext>
                </a:extLst>
              </p:cNvPr>
              <p:cNvSpPr txBox="1"/>
              <p:nvPr/>
            </p:nvSpPr>
            <p:spPr>
              <a:xfrm>
                <a:off x="7456469" y="1508997"/>
                <a:ext cx="5731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nl-BE" dirty="0"/>
              </a:p>
            </p:txBody>
          </p:sp>
        </mc:Choice>
        <mc:Fallback xmlns="">
          <p:sp>
            <p:nvSpPr>
              <p:cNvPr id="22" name="Tekstvak 21">
                <a:extLst>
                  <a:ext uri="{FF2B5EF4-FFF2-40B4-BE49-F238E27FC236}">
                    <a16:creationId xmlns:a16="http://schemas.microsoft.com/office/drawing/2014/main" id="{8A212845-769E-CF74-4B5B-1BF2724A57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6469" y="1508997"/>
                <a:ext cx="573106" cy="276999"/>
              </a:xfrm>
              <a:prstGeom prst="rect">
                <a:avLst/>
              </a:prstGeom>
              <a:blipFill>
                <a:blip r:embed="rId6"/>
                <a:stretch>
                  <a:fillRect l="-8511" r="-10638" b="-6667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kstvak 23">
                <a:extLst>
                  <a:ext uri="{FF2B5EF4-FFF2-40B4-BE49-F238E27FC236}">
                    <a16:creationId xmlns:a16="http://schemas.microsoft.com/office/drawing/2014/main" id="{02A1262B-4A95-E81C-EABE-CCF8C5CCCA61}"/>
                  </a:ext>
                </a:extLst>
              </p:cNvPr>
              <p:cNvSpPr txBox="1"/>
              <p:nvPr/>
            </p:nvSpPr>
            <p:spPr>
              <a:xfrm>
                <a:off x="10552094" y="2335845"/>
                <a:ext cx="5731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nl-BE" dirty="0"/>
              </a:p>
            </p:txBody>
          </p:sp>
        </mc:Choice>
        <mc:Fallback xmlns="">
          <p:sp>
            <p:nvSpPr>
              <p:cNvPr id="24" name="Tekstvak 23">
                <a:extLst>
                  <a:ext uri="{FF2B5EF4-FFF2-40B4-BE49-F238E27FC236}">
                    <a16:creationId xmlns:a16="http://schemas.microsoft.com/office/drawing/2014/main" id="{02A1262B-4A95-E81C-EABE-CCF8C5CCCA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2094" y="2335845"/>
                <a:ext cx="573106" cy="276999"/>
              </a:xfrm>
              <a:prstGeom prst="rect">
                <a:avLst/>
              </a:prstGeom>
              <a:blipFill>
                <a:blip r:embed="rId7"/>
                <a:stretch>
                  <a:fillRect l="-9574" r="-9574" b="-6522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8529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4" grpId="0"/>
      <p:bldP spid="16" grpId="0"/>
      <p:bldP spid="22" grpId="0"/>
      <p:bldP spid="2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9B1DE5-A5A6-3FAD-3022-FD50992AE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8780"/>
            <a:ext cx="10515600" cy="1091248"/>
          </a:xfrm>
        </p:spPr>
        <p:txBody>
          <a:bodyPr/>
          <a:lstStyle/>
          <a:p>
            <a:r>
              <a:rPr lang="nl-BE" dirty="0"/>
              <a:t>Regeloppervlak</a:t>
            </a:r>
          </a:p>
        </p:txBody>
      </p:sp>
      <p:pic>
        <p:nvPicPr>
          <p:cNvPr id="4" name="2025-10-20 22-13-06">
            <a:hlinkClick r:id="" action="ppaction://media"/>
            <a:extLst>
              <a:ext uri="{FF2B5EF4-FFF2-40B4-BE49-F238E27FC236}">
                <a16:creationId xmlns:a16="http://schemas.microsoft.com/office/drawing/2014/main" id="{98DBD27D-D516-1585-0AE2-972958B3DA57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68400" y="1097948"/>
            <a:ext cx="9591039" cy="5394837"/>
          </a:xfrm>
        </p:spPr>
      </p:pic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776F808C-B019-2624-B9C7-120601BDB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Oefenzittingen Analyse I - Jasper Visterin</a:t>
            </a:r>
          </a:p>
        </p:txBody>
      </p:sp>
    </p:spTree>
    <p:extLst>
      <p:ext uri="{BB962C8B-B14F-4D97-AF65-F5344CB8AC3E}">
        <p14:creationId xmlns:p14="http://schemas.microsoft.com/office/powerpoint/2010/main" val="3559119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488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3E7EC3-14B0-07A7-84EC-3E2346C7A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De basis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7A56AD5-F29C-1F73-E1EF-F406CF0A87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Krommen </a:t>
            </a:r>
            <a:r>
              <a:rPr lang="nl-BE" dirty="0">
                <a:sym typeface="Wingdings" panose="05000000000000000000" pitchFamily="2" charset="2"/>
              </a:rPr>
              <a:t> </a:t>
            </a:r>
            <a:r>
              <a:rPr lang="nl-BE" dirty="0"/>
              <a:t>1 vrijheidsgraad </a:t>
            </a:r>
          </a:p>
          <a:p>
            <a:r>
              <a:rPr lang="nl-BE" dirty="0"/>
              <a:t>Oppervlakken </a:t>
            </a:r>
            <a:r>
              <a:rPr lang="nl-BE" dirty="0">
                <a:sym typeface="Wingdings" panose="05000000000000000000" pitchFamily="2" charset="2"/>
              </a:rPr>
              <a:t> 2 vrijheidsgraden</a:t>
            </a:r>
          </a:p>
          <a:p>
            <a:r>
              <a:rPr lang="nl-BE" dirty="0">
                <a:sym typeface="Wingdings" panose="05000000000000000000" pitchFamily="2" charset="2"/>
              </a:rPr>
              <a:t>Volume  3 vrijheidsgraden</a:t>
            </a:r>
          </a:p>
          <a:p>
            <a:endParaRPr lang="nl-BE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869BE0D1-64C1-60C0-D4F4-02FE94A89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Oefenzittingen Analyse I - Jasper Visterin</a:t>
            </a: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BE1BF821-1BE2-BB27-0668-01223B6A3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3791" y="0"/>
            <a:ext cx="3621404" cy="3035281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7CF102FB-B567-9BBC-976A-475A359307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681"/>
          <a:stretch>
            <a:fillRect/>
          </a:stretch>
        </p:blipFill>
        <p:spPr>
          <a:xfrm>
            <a:off x="6991352" y="3226465"/>
            <a:ext cx="4372890" cy="3085435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84B4B652-5C1D-E56E-7CE8-7DFA1A9076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998" y="3420533"/>
            <a:ext cx="4584701" cy="2935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313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DED595-CD68-02DC-8D5A-A5245F249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Oefeningen</a:t>
            </a:r>
            <a:endParaRPr lang="en-GB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BF421DA-3B48-9A9D-4D26-D31B14968E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2.2 </a:t>
            </a:r>
            <a:r>
              <a:rPr lang="en-GB" dirty="0" err="1"/>
              <a:t>c,f</a:t>
            </a:r>
            <a:endParaRPr lang="en-GB" dirty="0"/>
          </a:p>
          <a:p>
            <a:r>
              <a:rPr lang="en-GB" dirty="0"/>
              <a:t>2.3</a:t>
            </a:r>
          </a:p>
          <a:p>
            <a:r>
              <a:rPr lang="en-GB" dirty="0"/>
              <a:t>2.9</a:t>
            </a:r>
          </a:p>
          <a:p>
            <a:r>
              <a:rPr lang="en-GB" dirty="0"/>
              <a:t>2.11a </a:t>
            </a:r>
            <a:r>
              <a:rPr lang="en-GB" dirty="0">
                <a:sym typeface="Wingdings" panose="05000000000000000000" pitchFamily="2" charset="2"/>
              </a:rPr>
              <a:t> </a:t>
            </a:r>
            <a:r>
              <a:rPr lang="en-GB" dirty="0" err="1">
                <a:sym typeface="Wingdings" panose="05000000000000000000" pitchFamily="2" charset="2"/>
              </a:rPr>
              <a:t>zie</a:t>
            </a:r>
            <a:r>
              <a:rPr lang="en-GB" dirty="0">
                <a:sym typeface="Wingdings" panose="05000000000000000000" pitchFamily="2" charset="2"/>
              </a:rPr>
              <a:t> challenge in begin</a:t>
            </a:r>
            <a:endParaRPr lang="en-GB" dirty="0"/>
          </a:p>
          <a:p>
            <a:r>
              <a:rPr lang="en-GB" dirty="0"/>
              <a:t>2.15 </a:t>
            </a:r>
          </a:p>
          <a:p>
            <a:r>
              <a:rPr lang="en-GB" dirty="0"/>
              <a:t>2.21</a:t>
            </a:r>
          </a:p>
          <a:p>
            <a:r>
              <a:rPr lang="en-GB" dirty="0"/>
              <a:t>2.30a </a:t>
            </a:r>
            <a:r>
              <a:rPr lang="en-GB" dirty="0">
                <a:sym typeface="Wingdings" panose="05000000000000000000" pitchFamily="2" charset="2"/>
              </a:rPr>
              <a:t> </a:t>
            </a:r>
            <a:r>
              <a:rPr lang="en-GB" dirty="0" err="1">
                <a:sym typeface="Wingdings" panose="05000000000000000000" pitchFamily="2" charset="2"/>
              </a:rPr>
              <a:t>zie</a:t>
            </a:r>
            <a:r>
              <a:rPr lang="en-GB" dirty="0">
                <a:sym typeface="Wingdings" panose="05000000000000000000" pitchFamily="2" charset="2"/>
              </a:rPr>
              <a:t> challenge in begin</a:t>
            </a:r>
            <a:endParaRPr lang="en-GB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FA753165-55F4-E5DB-E490-E50C359BB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Oefenzittingen Analyse I - Jasper Visterin</a:t>
            </a:r>
          </a:p>
        </p:txBody>
      </p:sp>
    </p:spTree>
    <p:extLst>
      <p:ext uri="{BB962C8B-B14F-4D97-AF65-F5344CB8AC3E}">
        <p14:creationId xmlns:p14="http://schemas.microsoft.com/office/powerpoint/2010/main" val="35885420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05468B-E692-9467-4F41-48146E1FA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Zoek </a:t>
            </a:r>
            <a:r>
              <a:rPr lang="en-GB" dirty="0" err="1"/>
              <a:t>vergelijking</a:t>
            </a:r>
            <a:r>
              <a:rPr lang="en-GB" dirty="0"/>
              <a:t> in </a:t>
            </a:r>
            <a:r>
              <a:rPr lang="en-GB" dirty="0" err="1"/>
              <a:t>poolcoordinaten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83E4BBD8-D246-2585-A9B5-06A2EEC8E4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16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</a:rPr>
                      <m:t>+9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</a:rPr>
                      <m:t>=25</m:t>
                    </m:r>
                  </m:oMath>
                </a14:m>
                <a:endParaRPr lang="nl-BE" b="0" dirty="0"/>
              </a:p>
              <a:p>
                <a:r>
                  <a:rPr lang="en-GB" dirty="0"/>
                  <a:t>Hoe </a:t>
                </a:r>
                <a:r>
                  <a:rPr lang="en-GB" dirty="0" err="1"/>
                  <a:t>moeten</a:t>
                </a:r>
                <a:r>
                  <a:rPr lang="en-GB" dirty="0"/>
                  <a:t> we </a:t>
                </a:r>
                <a:r>
                  <a:rPr lang="en-GB" dirty="0" err="1"/>
                  <a:t>verder</a:t>
                </a:r>
                <a:r>
                  <a:rPr lang="en-GB" dirty="0"/>
                  <a:t>?</a:t>
                </a:r>
              </a:p>
              <a:p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16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</a:rPr>
                      <m:t>+9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</a:rPr>
                      <m:t>=25</m:t>
                    </m:r>
                  </m:oMath>
                </a14:m>
                <a:endParaRPr lang="nl-BE" b="0" dirty="0"/>
              </a:p>
              <a:p>
                <a:r>
                  <a:rPr lang="nl-BE" dirty="0"/>
                  <a:t>Dit is een getransformeerde cirkel! </a:t>
                </a:r>
                <a:endParaRPr lang="nl-BE" b="0" dirty="0"/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̂"/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  <m:r>
                      <a:rPr lang="nl-BE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func>
                          <m:funcPr>
                            <m:ctrlPr>
                              <a:rPr lang="nl-BE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BE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func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,5</m:t>
                        </m:r>
                        <m:func>
                          <m:funcPr>
                            <m:ctrlPr>
                              <a:rPr lang="nl-BE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BE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func>
                      </m:e>
                    </m:d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0,2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,3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nl-BE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̂"/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  <m:r>
                      <a:rPr lang="nl-BE" b="0" i="1" smtClean="0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nl-BE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func>
                          <m:funcPr>
                            <m:ctrlPr>
                              <a:rPr lang="nl-BE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BE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func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func>
                          <m:funcPr>
                            <m:ctrlPr>
                              <a:rPr lang="nl-BE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BE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m:rPr>
                        <m:nor/>
                      </m:rPr>
                      <a:rPr lang="en-GB" i="0" dirty="0"/>
                      <m:t>, 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0,2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endParaRPr lang="en-GB" dirty="0"/>
              </a:p>
              <a:p>
                <a:r>
                  <a:rPr lang="en-GB" dirty="0"/>
                  <a:t>Dit is </a:t>
                </a:r>
                <a:r>
                  <a:rPr lang="en-GB" dirty="0" err="1"/>
                  <a:t>een</a:t>
                </a:r>
                <a:r>
                  <a:rPr lang="en-GB" dirty="0"/>
                  <a:t> </a:t>
                </a:r>
                <a:r>
                  <a:rPr lang="en-GB" dirty="0" err="1"/>
                  <a:t>ellips</a:t>
                </a:r>
                <a:r>
                  <a:rPr lang="en-GB" dirty="0"/>
                  <a:t> met </a:t>
                </a:r>
                <a:r>
                  <a:rPr lang="en-GB" dirty="0" err="1"/>
                  <a:t>middelpunt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0,0</m:t>
                        </m:r>
                      </m:e>
                    </m:d>
                  </m:oMath>
                </a14:m>
                <a:r>
                  <a:rPr lang="en-GB" dirty="0"/>
                  <a:t>. </a:t>
                </a:r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83E4BBD8-D246-2585-A9B5-06A2EEC8E4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A05EDBBD-7730-8FF8-9840-884A5FE08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Oefenzittingen Analyse I - Jasper Visterin</a:t>
            </a:r>
          </a:p>
        </p:txBody>
      </p:sp>
    </p:spTree>
    <p:extLst>
      <p:ext uri="{BB962C8B-B14F-4D97-AF65-F5344CB8AC3E}">
        <p14:creationId xmlns:p14="http://schemas.microsoft.com/office/powerpoint/2010/main" val="2464961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87D2FA-A152-0BFB-F2D2-121A54542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2.2c: Zoek </a:t>
            </a:r>
            <a:r>
              <a:rPr lang="en-GB" dirty="0" err="1"/>
              <a:t>vergelijking</a:t>
            </a:r>
            <a:r>
              <a:rPr lang="en-GB" dirty="0"/>
              <a:t> in </a:t>
            </a:r>
            <a:r>
              <a:rPr lang="en-GB" dirty="0" err="1"/>
              <a:t>poolcoordinaten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0F917BD2-0DB2-1453-8DDF-95DEBAE03E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GB" dirty="0"/>
              </a:p>
              <a:p>
                <a:r>
                  <a:rPr lang="en-GB" dirty="0"/>
                  <a:t>Hoe </a:t>
                </a:r>
                <a:r>
                  <a:rPr lang="en-GB" dirty="0" err="1"/>
                  <a:t>gaan</a:t>
                </a:r>
                <a:r>
                  <a:rPr lang="en-GB" dirty="0"/>
                  <a:t> we </a:t>
                </a:r>
                <a:r>
                  <a:rPr lang="en-GB" dirty="0" err="1"/>
                  <a:t>verder</a:t>
                </a:r>
                <a:r>
                  <a:rPr lang="en-GB" dirty="0"/>
                  <a:t>?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𝑟</m:t>
                    </m:r>
                    <m:func>
                      <m:funcPr>
                        <m:ctrlPr>
                          <a:rPr lang="nl-BE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nl-BE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</m:oMath>
                </a14:m>
                <a:endParaRPr lang="nl-BE" b="0" dirty="0"/>
              </a:p>
              <a:p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=2</m:t>
                    </m:r>
                    <m:func>
                      <m:funcPr>
                        <m:ctrlPr>
                          <a:rPr lang="nl-BE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nl-BE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</m:oMath>
                </a14:m>
                <a:endParaRPr lang="en-GB" dirty="0"/>
              </a:p>
              <a:p>
                <a:r>
                  <a:rPr lang="en-GB" dirty="0"/>
                  <a:t>Wat </a:t>
                </a:r>
                <a:r>
                  <a:rPr lang="en-GB" dirty="0" err="1"/>
                  <a:t>zijn</a:t>
                </a:r>
                <a:r>
                  <a:rPr lang="en-GB" dirty="0"/>
                  <a:t> de </a:t>
                </a:r>
                <a:r>
                  <a:rPr lang="en-GB" dirty="0" err="1"/>
                  <a:t>waarden</a:t>
                </a:r>
                <a:r>
                  <a:rPr lang="en-GB" dirty="0"/>
                  <a:t> </a:t>
                </a:r>
                <a:r>
                  <a:rPr lang="en-GB" dirty="0" err="1"/>
                  <a:t>voor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dirty="0"/>
                  <a:t>? </a:t>
                </a:r>
              </a:p>
              <a:p>
                <a:r>
                  <a:rPr lang="en-GB" dirty="0" err="1"/>
                  <a:t>Normaal</a:t>
                </a:r>
                <a:r>
                  <a:rPr lang="en-GB" dirty="0"/>
                  <a:t> </a:t>
                </a:r>
                <a:r>
                  <a:rPr lang="en-GB" dirty="0" err="1"/>
                  <a:t>kiezen</a:t>
                </a:r>
                <a:r>
                  <a:rPr lang="en-GB" dirty="0"/>
                  <a:t> we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GB" dirty="0"/>
                  <a:t> zodat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GB" dirty="0"/>
                  <a:t>  </a:t>
                </a:r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0F917BD2-0DB2-1453-8DDF-95DEBAE03E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31B9577D-BF23-86F2-BC01-4928853A0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Oefenzittingen Analyse I - Jasper Visterin</a:t>
            </a:r>
          </a:p>
        </p:txBody>
      </p:sp>
    </p:spTree>
    <p:extLst>
      <p:ext uri="{BB962C8B-B14F-4D97-AF65-F5344CB8AC3E}">
        <p14:creationId xmlns:p14="http://schemas.microsoft.com/office/powerpoint/2010/main" val="1498777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DE6840-FDD2-2961-76A8-EFECDADEA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2.2c: Kant </a:t>
            </a:r>
            <a:r>
              <a:rPr lang="en-GB" dirty="0" err="1"/>
              <a:t>tekening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6C0EF0B3-CEA6-819C-C85A-8D37B75474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nl-BE" b="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nl-BE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nl-BE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nl-BE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GB" dirty="0"/>
              </a:p>
              <a:p>
                <a:r>
                  <a:rPr lang="en-GB" dirty="0"/>
                  <a:t>Dit is </a:t>
                </a:r>
                <a:r>
                  <a:rPr lang="en-GB" dirty="0" err="1"/>
                  <a:t>een</a:t>
                </a:r>
                <a:r>
                  <a:rPr lang="en-GB" dirty="0"/>
                  <a:t> </a:t>
                </a:r>
                <a:r>
                  <a:rPr lang="en-GB" dirty="0" err="1"/>
                  <a:t>cirkel</a:t>
                </a:r>
                <a:r>
                  <a:rPr lang="en-GB" dirty="0"/>
                  <a:t> met </a:t>
                </a:r>
                <a:r>
                  <a:rPr lang="en-GB" dirty="0" err="1"/>
                  <a:t>middelpunt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1,0</m:t>
                        </m:r>
                      </m:e>
                    </m:d>
                  </m:oMath>
                </a14:m>
                <a:r>
                  <a:rPr lang="en-GB" dirty="0"/>
                  <a:t> </a:t>
                </a:r>
                <a:r>
                  <a:rPr lang="en-GB" dirty="0" err="1"/>
                  <a:t>en</a:t>
                </a:r>
                <a:r>
                  <a:rPr lang="en-GB" dirty="0"/>
                  <a:t> </a:t>
                </a:r>
                <a:r>
                  <a:rPr lang="en-GB" dirty="0" err="1"/>
                  <a:t>straal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GB" dirty="0"/>
                  <a:t>. </a:t>
                </a: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nl-BE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func>
                          <m:funcPr>
                            <m:ctrlPr>
                              <a:rPr lang="nl-BE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BE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func>
                        <m:func>
                          <m:funcPr>
                            <m:ctrlPr>
                              <a:rPr lang="nl-BE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BE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func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,2</m:t>
                        </m:r>
                        <m:func>
                          <m:funcPr>
                            <m:ctrlPr>
                              <a:rPr lang="nl-BE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BE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func>
                        <m:func>
                          <m:func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</m:fName>
                          <m:e>
                            <m:d>
                              <m:d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nl-BE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lang="en-GB" dirty="0"/>
              </a:p>
              <a:p>
                <a:r>
                  <a:rPr lang="en-GB" dirty="0"/>
                  <a:t>Een </a:t>
                </a:r>
                <a:r>
                  <a:rPr lang="en-GB" dirty="0" err="1"/>
                  <a:t>andere</a:t>
                </a:r>
                <a:r>
                  <a:rPr lang="en-GB" dirty="0"/>
                  <a:t> </a:t>
                </a:r>
                <a:r>
                  <a:rPr lang="en-GB" dirty="0" err="1"/>
                  <a:t>parametrisatie</a:t>
                </a:r>
                <a:r>
                  <a:rPr lang="en-GB" dirty="0"/>
                  <a:t> </a:t>
                </a:r>
                <a:r>
                  <a:rPr lang="en-GB" dirty="0" err="1"/>
                  <a:t>kan</a:t>
                </a:r>
                <a:r>
                  <a:rPr lang="en-GB" dirty="0"/>
                  <a:t> de </a:t>
                </a:r>
                <a:r>
                  <a:rPr lang="en-GB" dirty="0" err="1"/>
                  <a:t>volgende</a:t>
                </a:r>
                <a:r>
                  <a:rPr lang="en-GB" dirty="0"/>
                  <a:t> </a:t>
                </a:r>
                <a:r>
                  <a:rPr lang="en-GB" dirty="0" err="1"/>
                  <a:t>zijn</a:t>
                </a:r>
                <a:r>
                  <a:rPr lang="en-GB" dirty="0"/>
                  <a:t>:</a:t>
                </a: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nl-BE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func>
                          <m:funcPr>
                            <m:ctrlPr>
                              <a:rPr lang="nl-BE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BE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func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unc>
                          <m:funcPr>
                            <m:ctrlPr>
                              <a:rPr lang="nl-BE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BE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nl-BE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0,2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6C0EF0B3-CEA6-819C-C85A-8D37B75474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Afbeelding 4">
            <a:extLst>
              <a:ext uri="{FF2B5EF4-FFF2-40B4-BE49-F238E27FC236}">
                <a16:creationId xmlns:a16="http://schemas.microsoft.com/office/drawing/2014/main" id="{950ADB7C-B4D0-D783-3743-848CB12D94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6080" y="257473"/>
            <a:ext cx="4055937" cy="3312566"/>
          </a:xfrm>
          <a:prstGeom prst="rect">
            <a:avLst/>
          </a:prstGeom>
        </p:spPr>
      </p:pic>
      <p:cxnSp>
        <p:nvCxnSpPr>
          <p:cNvPr id="7" name="Rechte verbindingslijn met pijl 6">
            <a:extLst>
              <a:ext uri="{FF2B5EF4-FFF2-40B4-BE49-F238E27FC236}">
                <a16:creationId xmlns:a16="http://schemas.microsoft.com/office/drawing/2014/main" id="{09C64D79-A255-0156-AD77-D68BE4C37B40}"/>
              </a:ext>
            </a:extLst>
          </p:cNvPr>
          <p:cNvCxnSpPr/>
          <p:nvPr/>
        </p:nvCxnSpPr>
        <p:spPr>
          <a:xfrm flipV="1">
            <a:off x="7701280" y="1198880"/>
            <a:ext cx="2580640" cy="701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kstvak 7">
                <a:extLst>
                  <a:ext uri="{FF2B5EF4-FFF2-40B4-BE49-F238E27FC236}">
                    <a16:creationId xmlns:a16="http://schemas.microsoft.com/office/drawing/2014/main" id="{889533A7-C29F-27E7-1942-6883743DB34A}"/>
                  </a:ext>
                </a:extLst>
              </p:cNvPr>
              <p:cNvSpPr txBox="1"/>
              <p:nvPr/>
            </p:nvSpPr>
            <p:spPr>
              <a:xfrm>
                <a:off x="8580986" y="1619657"/>
                <a:ext cx="18306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kstvak 7">
                <a:extLst>
                  <a:ext uri="{FF2B5EF4-FFF2-40B4-BE49-F238E27FC236}">
                    <a16:creationId xmlns:a16="http://schemas.microsoft.com/office/drawing/2014/main" id="{889533A7-C29F-27E7-1942-6883743DB3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0986" y="1619657"/>
                <a:ext cx="183062" cy="276999"/>
              </a:xfrm>
              <a:prstGeom prst="rect">
                <a:avLst/>
              </a:prstGeom>
              <a:blipFill>
                <a:blip r:embed="rId4"/>
                <a:stretch>
                  <a:fillRect l="-33333" r="-26667"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Vrije vorm: vorm 8">
            <a:extLst>
              <a:ext uri="{FF2B5EF4-FFF2-40B4-BE49-F238E27FC236}">
                <a16:creationId xmlns:a16="http://schemas.microsoft.com/office/drawing/2014/main" id="{C94E5E45-F476-5931-7F03-3D93E33EEE28}"/>
              </a:ext>
            </a:extLst>
          </p:cNvPr>
          <p:cNvSpPr/>
          <p:nvPr/>
        </p:nvSpPr>
        <p:spPr>
          <a:xfrm>
            <a:off x="8392159" y="1706880"/>
            <a:ext cx="45719" cy="189776"/>
          </a:xfrm>
          <a:custGeom>
            <a:avLst/>
            <a:gdLst>
              <a:gd name="connsiteX0" fmla="*/ 0 w 30480"/>
              <a:gd name="connsiteY0" fmla="*/ 0 h 182880"/>
              <a:gd name="connsiteX1" fmla="*/ 30480 w 30480"/>
              <a:gd name="connsiteY1" fmla="*/ 182880 h 182880"/>
              <a:gd name="connsiteX2" fmla="*/ 0 w 30480"/>
              <a:gd name="connsiteY2" fmla="*/ 0 h 182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480" h="182880">
                <a:moveTo>
                  <a:pt x="0" y="0"/>
                </a:moveTo>
                <a:lnTo>
                  <a:pt x="30480" y="18288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4D845FF9-270A-331D-CBA4-F0F30F963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Oefenzittingen Analyse I - Jasper Visterin</a:t>
            </a:r>
          </a:p>
        </p:txBody>
      </p:sp>
    </p:spTree>
    <p:extLst>
      <p:ext uri="{BB962C8B-B14F-4D97-AF65-F5344CB8AC3E}">
        <p14:creationId xmlns:p14="http://schemas.microsoft.com/office/powerpoint/2010/main" val="2450864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E24F98-C340-96E9-0330-D0238AA03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2.2f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C57BB4E-5948-C5BF-4249-4AC5EDF623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https://www.geogebra.org/classic/u8qcgbxt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91CC32C7-0F95-3057-E40E-FA8699F0E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Oefenzittingen Analyse I - Jasper Visterin</a:t>
            </a:r>
          </a:p>
        </p:txBody>
      </p:sp>
    </p:spTree>
    <p:extLst>
      <p:ext uri="{BB962C8B-B14F-4D97-AF65-F5344CB8AC3E}">
        <p14:creationId xmlns:p14="http://schemas.microsoft.com/office/powerpoint/2010/main" val="9489376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BDF862-862A-E493-309E-13B76270C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2.3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3EC2670-7E9F-EE6E-1BE0-A2AE65A69E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https://www.geogebra.org/3d/emazcj78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E286DE1-BCA6-3EB6-C7C7-7C048A4C5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Oefenzittingen Analyse I - Jasper Visterin</a:t>
            </a:r>
          </a:p>
        </p:txBody>
      </p:sp>
    </p:spTree>
    <p:extLst>
      <p:ext uri="{BB962C8B-B14F-4D97-AF65-F5344CB8AC3E}">
        <p14:creationId xmlns:p14="http://schemas.microsoft.com/office/powerpoint/2010/main" val="29335504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5465F5-1289-2DE5-95B6-5B90A2FF5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2.9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F4F7E58-933F-A591-FD5A-48CC9BEA7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https://www.geogebra.org/3d/e2qmw3fy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AEA30BB-8503-39E9-93EC-0DF9B4D4C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Oefenzittingen Analyse I - Jasper Visterin</a:t>
            </a:r>
          </a:p>
        </p:txBody>
      </p:sp>
    </p:spTree>
    <p:extLst>
      <p:ext uri="{BB962C8B-B14F-4D97-AF65-F5344CB8AC3E}">
        <p14:creationId xmlns:p14="http://schemas.microsoft.com/office/powerpoint/2010/main" val="14952184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80468E-BD57-6F53-0370-8878E2394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2.15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46935E5-4273-B652-EE98-A8AA4239E9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https://www.geogebra.org/3d/neqsbeuj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1CCC1575-43CE-DD8D-09C3-7CBC56FE0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Oefenzittingen Analyse I - Jasper Visterin</a:t>
            </a:r>
          </a:p>
        </p:txBody>
      </p:sp>
    </p:spTree>
    <p:extLst>
      <p:ext uri="{BB962C8B-B14F-4D97-AF65-F5344CB8AC3E}">
        <p14:creationId xmlns:p14="http://schemas.microsoft.com/office/powerpoint/2010/main" val="35489630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F1DE96-7700-E2EC-97B1-8AB69D3B6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2.21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0548483-7C58-6332-09FB-B5D34C0411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https://www.geogebra.org/3d/jvcffpmv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81A50EB2-CE87-891F-5AE2-3C2A2B489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Oefenzittingen Analyse I - Jasper Visterin</a:t>
            </a:r>
          </a:p>
        </p:txBody>
      </p:sp>
    </p:spTree>
    <p:extLst>
      <p:ext uri="{BB962C8B-B14F-4D97-AF65-F5344CB8AC3E}">
        <p14:creationId xmlns:p14="http://schemas.microsoft.com/office/powerpoint/2010/main" val="2502878244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</TotalTime>
  <Words>804</Words>
  <Application>Microsoft Office PowerPoint</Application>
  <PresentationFormat>Breedbeeld</PresentationFormat>
  <Paragraphs>190</Paragraphs>
  <Slides>25</Slides>
  <Notes>0</Notes>
  <HiddenSlides>0</HiddenSlides>
  <MMClips>1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25</vt:i4>
      </vt:variant>
    </vt:vector>
  </HeadingPairs>
  <TitlesOfParts>
    <vt:vector size="31" baseType="lpstr">
      <vt:lpstr>Aptos</vt:lpstr>
      <vt:lpstr>Aptos Display</vt:lpstr>
      <vt:lpstr>Arial</vt:lpstr>
      <vt:lpstr>Cambria Math</vt:lpstr>
      <vt:lpstr>Wingdings</vt:lpstr>
      <vt:lpstr>Kantoorthema</vt:lpstr>
      <vt:lpstr>Analyse I, Oefenzitting 2</vt:lpstr>
      <vt:lpstr>Krommen in R^2</vt:lpstr>
      <vt:lpstr>Krommen in R^2</vt:lpstr>
      <vt:lpstr>Krommen in R^2</vt:lpstr>
      <vt:lpstr>PowerPoint-presentatie</vt:lpstr>
      <vt:lpstr>Hoe van de ene voorstelling naar de andere?</vt:lpstr>
      <vt:lpstr>Hoe van de ene voorstelling naar de andere?</vt:lpstr>
      <vt:lpstr>Polaire coördinaten</vt:lpstr>
      <vt:lpstr>Krommen in R^3</vt:lpstr>
      <vt:lpstr>Krommen in R^3</vt:lpstr>
      <vt:lpstr>Krommen in R^3</vt:lpstr>
      <vt:lpstr>Cöordinatenstelsels</vt:lpstr>
      <vt:lpstr>Oppervlakken</vt:lpstr>
      <vt:lpstr>PowerPoint-presentatie</vt:lpstr>
      <vt:lpstr>Regeloppervlak</vt:lpstr>
      <vt:lpstr>De basis</vt:lpstr>
      <vt:lpstr>Oefeningen</vt:lpstr>
      <vt:lpstr>Zoek vergelijking in poolcoordinaten</vt:lpstr>
      <vt:lpstr>2.2c: Zoek vergelijking in poolcoordinaten</vt:lpstr>
      <vt:lpstr>2.2c: Kant tekening</vt:lpstr>
      <vt:lpstr>2.2f</vt:lpstr>
      <vt:lpstr>2.3</vt:lpstr>
      <vt:lpstr>2.9</vt:lpstr>
      <vt:lpstr>2.15</vt:lpstr>
      <vt:lpstr>2.21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Visterin</dc:creator>
  <cp:lastModifiedBy>Jasper Visterin</cp:lastModifiedBy>
  <cp:revision>229</cp:revision>
  <dcterms:created xsi:type="dcterms:W3CDTF">2025-10-14T07:44:10Z</dcterms:created>
  <dcterms:modified xsi:type="dcterms:W3CDTF">2026-10-16T20:01:55Z</dcterms:modified>
</cp:coreProperties>
</file>